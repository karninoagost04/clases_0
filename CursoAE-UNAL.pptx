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omments/modernComment_12C_35CCB423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ink/ink2.xml" ContentType="application/inkml+xml"/>
  <Override PartName="/ppt/notesSlides/notesSlide12.xml" ContentType="application/vnd.openxmlformats-officedocument.presentationml.notesSlide+xml"/>
  <Override PartName="/ppt/ink/ink3.xml" ContentType="application/inkml+xml"/>
  <Override PartName="/ppt/notesSlides/notesSlide13.xml" ContentType="application/vnd.openxmlformats-officedocument.presentationml.notesSlide+xml"/>
  <Override PartName="/ppt/ink/ink4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03" r:id="rId3"/>
    <p:sldId id="263" r:id="rId4"/>
    <p:sldId id="300" r:id="rId5"/>
    <p:sldId id="299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6" r:id="rId17"/>
    <p:sldId id="295" r:id="rId18"/>
    <p:sldId id="297" r:id="rId19"/>
    <p:sldId id="298" r:id="rId20"/>
    <p:sldId id="301" r:id="rId21"/>
    <p:sldId id="302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C2EA18-EF1A-A66A-1B6B-0CB48333A4BE}" name="Dario Jose Delgado Quintero" initials="" userId="S::dario.delgado@unad.edu.co::85f4d37a-fe93-4540-83e8-917b9bd9fc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50"/>
    <p:restoredTop sz="94718"/>
  </p:normalViewPr>
  <p:slideViewPr>
    <p:cSldViewPr snapToGrid="0">
      <p:cViewPr varScale="1">
        <p:scale>
          <a:sx n="44" d="100"/>
          <a:sy n="44" d="100"/>
        </p:scale>
        <p:origin x="68" y="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omments/modernComment_12C_35CCB4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27B473D-BC38-9F43-9252-96633114FEE7}" authorId="{6FC2EA18-EF1A-A66A-1B6B-0CB48333A4BE}" created="2024-10-02T15:28:01.6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02607907" sldId="300"/>
      <ac:spMk id="3" creationId="{0AB234E2-A1AE-DB05-1CB5-E80D12546912}"/>
      <ac:txMk cp="49" len="24">
        <ac:context len="245" hash="1160189755"/>
      </ac:txMk>
    </ac:txMkLst>
    <p188:pos x="2694213" y="866614"/>
    <p188:txBody>
      <a:bodyPr/>
      <a:lstStyle/>
      <a:p>
        <a:r>
          <a:rPr lang="es-CO"/>
          <a:t>Es una medida financiera que evalúa la eficiencia de una inversión o compara la eficiencia de varias inversiones. Se calcula como la ganancia neta dividida por el costo de la inversión, expresado en porcentaje.</a:t>
        </a:r>
      </a:p>
    </p188:txBody>
  </p188:cm>
  <p188:cm id="{3E7CDF04-D367-2E4E-A569-2D0A0A219720}" authorId="{6FC2EA18-EF1A-A66A-1B6B-0CB48333A4BE}" created="2024-10-02T15:29:16.3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02607907" sldId="300"/>
      <ac:spMk id="3" creationId="{0AB234E2-A1AE-DB05-1CB5-E80D12546912}"/>
      <ac:txMk cp="182" len="15">
        <ac:context len="245" hash="1160189755"/>
      </ac:txMk>
    </ac:txMkLst>
    <p188:pos x="3715293" y="1415254"/>
    <p188:txBody>
      <a:bodyPr/>
      <a:lstStyle/>
      <a:p>
        <a:r>
          <a:rPr lang="es-CO"/>
          <a:t>Es el costo que tiene una empresa para obtener fondos, ya sea mediante deuda (préstamos) o capital propio (acciones). Un costo de capital típico es alrededor del 10%.</a:t>
        </a:r>
      </a:p>
    </p188:txBody>
  </p188:cm>
  <p188:cm id="{71B2A940-6D37-414D-AB40-96B2FC253F62}" authorId="{6FC2EA18-EF1A-A66A-1B6B-0CB48333A4BE}" created="2024-10-02T15:32:03.25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02607907" sldId="300"/>
      <ac:spMk id="3" creationId="{0AB234E2-A1AE-DB05-1CB5-E80D12546912}"/>
      <ac:txMk cp="22" len="13">
        <ac:context len="245" hash="1160189755"/>
      </ac:txMk>
    </ac:txMkLst>
    <p188:pos x="4050573" y="592294"/>
    <p188:txBody>
      <a:bodyPr/>
      <a:lstStyle/>
      <a:p>
        <a:r>
          <a:rPr lang="es-CO"/>
          <a:t>Estas empresas líderes obtienen un ROI del 13% en sus proyectos de Inteligencia Artificial (IA). Esto significa que por cada unidad monetaria invertida, ganan un 13% adicional sobre su inversión.</a:t>
        </a:r>
      </a:p>
    </p188:txBody>
  </p188:cm>
  <p188:cm id="{E936BDA3-42E7-2B40-81F8-7639F29CA8BD}" authorId="{6FC2EA18-EF1A-A66A-1B6B-0CB48333A4BE}" created="2024-10-02T15:34:28.2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02607907" sldId="300"/>
      <ac:spMk id="3" creationId="{0AB234E2-A1AE-DB05-1CB5-E80D12546912}"/>
      <ac:txMk cp="157" len="6">
        <ac:context len="245" hash="1160189755"/>
      </ac:txMk>
    </ac:txMkLst>
    <p188:pos x="5894613" y="1140934"/>
    <p188:txBody>
      <a:bodyPr/>
      <a:lstStyle/>
      <a:p>
        <a:r>
          <a:rPr lang="es-CO"/>
          <a:t>El ROI promedio de 5.9% está por debajo del costo de capital típico del 10%. Esto implica que, en promedio, las inversiones en IA no están generando suficientes retornos para cubrir el costo de financiar esas inversiones.</a:t>
        </a:r>
      </a:p>
    </p188:txBody>
  </p188:cm>
  <p188:cm id="{5B8D9CE6-310C-AE40-A54C-3AF0FDF5FCA8}" authorId="{6FC2EA18-EF1A-A66A-1B6B-0CB48333A4BE}" created="2024-10-02T15:37:51.89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02607907" sldId="300"/>
      <ac:spMk id="269" creationId="{00000000-0000-0000-0000-000000000000}"/>
      <ac:txMk cp="0" len="41">
        <ac:context len="42" hash="3150326974"/>
      </ac:txMk>
    </ac:txMkLst>
    <p188:pos x="5909853" y="790311"/>
    <p188:txBody>
      <a:bodyPr/>
      <a:lstStyle/>
      <a:p>
        <a:r>
          <a:rPr lang="es-CO"/>
          <a:t>Supuestos Comunes :
Inversión Inicial en IA: $1,000,000 (financiado mediante un préstamo).
Costo de Capital (Tasa de Interés del Préstamo): 10% anual.
Período de la Inversión: 1 año.
Retorno de la Inversión (ROI):
Empresa Líder: 13%.
Empresa Promedio: 5.9%.
1. Empresa Líder (Best-in-class):
a. Inversión y Financiamiento:
Monto del Préstamo: $1,000,000.
Intereses a Pagar (Costo de Capital): $100,000 (10% de $1,000,000).
b. Retorno de la Inversión:
Ganancia Bruta por el Proyecto: $130,000 (13% de $1,000,000).
Ingresos Totales al Final del Año: $1,130,000 (Inversión inicial + Ganancia Bruta).
c. Cálculo de la Ganancia Neta:
Pago Total al Banco (Capital + Intereses): $1,100,000 ($1,000,000 + $100,000).
Ganancia Neta Después de Pagar el Préstamo:
Ingresos Totales
−
Pago Total al Banco
=
$
1
,
130
,
000
−
$
1
,
100
,
000
=
$
30
,
000
Ingresos Totales−Pago Total al Banco=$1,130,000−$1,100,000=$30,000
d. Análisis:
ROI Neto (después del costo de capital):
$
30
,
000
$
1
,
000
,
000
×
100
=
3
%
$1,000,000
$30,000
​
 ×100=3%
La empresa obtiene una ganancia neta de $30,000 después de cubrir el costo de capital.
El ROI neto del 3% es positivo, indicando que la inversión agrega valor a la empresa.
2. Empresa Promedio:
a. Inversión y Financiamiento:
Monto del Préstamo: $1,000,000.
Intereses a Pagar (Costo de Capital): $100,000 (10% de $1,000,000).
b. Retorno de la Inversión:
Ganancia Bruta por el Proyecto: $59,000 (5.9% de $1,000,000).
Ingresos Totales al Final del Año: $1,059,000 (Inversión inicial + Ganancia Bruta).
c. Cálculo de la Ganancia Neta:
Pago Total al Banco (Capital + Intereses): $1,100,000 ($1,000,000 + $100,000).
Ganancia Neta Después de Pagar el Préstamo:
Ingresos Totales
−
Pago Total al Banco
=
$
1
,
059
,
000
−
$
1
,
100
,
000
=
−
$
41
,
000
Ingresos Totales−Pago Total al Banco=$1,059,000−$1,100,000=−$41,000
d. Análisis:
ROI Neto (después del costo de capital):
−
$
41
,
000
$
1
,
000
,
000
×
100
=
−
4.1
%
$1,000,000
−$41,000
​
 ×100=−4.1%
La empresa tiene una pérdida neta de $41,000 después de cubrir el costo de capital.
El ROI neto es negativo, indicando que la inversión disminuye el valor de la empresa.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2:09:11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2977 6146 24575,'-60'1'0,"0"1"0,0 0 0,0 0 0,0-1 0,0 1 0,0 0 0,0-1 0,0 1 0,0 0 0,0-1 0,12 0 0,-12 1 0,11-1 0,-12 1 0,-8 0 0,-5 0 0,-1 0 0,2 1 0,5-2 0,10 1 0,13-1 0,16 0 0,6-1 0,1 3 0,-2 2 0,-1 1 0,-3 3 0,0-2 0,1-2 0,-3 3 0,-1 1 0,-4 4 0,-1 5 0,2 6 0,5 5 0,5 5 0,3 1 0,5 2 0,0 3 0,1 6 0,-1 13 0,7-24 0,-1 2 0,0 6 0,-1 1 0,-1 4 0,-1 1 0,-1-1 0,1 1 0,0 2 0,0 1 0,2-1 0,1 0 0,1 1 0,2 1 0,1 1 0,1 1 0,1-2 0,0-1 0,1-2 0,0 0 0,2-1 0,-1 1 0,1 3 0,0 1 0,1 7 0,0 3-355,0-14 1,0 2 0,1 0 354,0 3 0,1 0 0,-1 1 0,1 1 0,0 0 0,1 0 0,0 0 0,0 1 0,0-1 0,1-2 0,0 0 0,-1 1 0,1 2 0,0 0 0,1 0 0,0 0 0,1 1 0,1 0 0,0-3 0,1 0 0,-1 0 0,2 3 0,0 0 0,0 0 0,0 1 0,1 0 0,-1 0 0,0 2 0,1 1 0,0-1 0,0 2 0,1 1 0,1-3 0,-1-4 0,1-2 0,1-1-122,-1-4 0,1-2 1,0-2 121,4 11 0,1-5 0,-3-11 0,1-3 0,-1-7 0,2-2 0,2-3 0,4-1 0,7 2 0,4-1 0,8 2 0,2-2 0,3-2 0,3-2 0,0-5 0,3-4 0,4-4 0,5-4-380,-6-4 1,4-1-1,3-2 380,-6-1 0,2 0 0,3-1 0,2 0-527,-5 0 1,3 0-1,1-1 1,1 0-1,0 0 527,-7 0 0,1-1 0,0 1 0,0-1 0,1 0 0,-1-1 0,-2 0 0,0 0 0,0 0 0,0-1 0,0 0 0,0 0 0,-1 0 0,0 0 0,0-1 0,0 0 0,1 0 0,-1 0 0,3-1 0,1 0 0,0-1 0,-1 1 0,1-1 0,0 1 0,1 1 0,0-1 0,-1 1 0,1 0 0,0 0 0,-1 0 0,1 1 0,-1 0 0,1 1 0,-1 0 0,0 0 0,-1 0 0,-1 1 0,0 0 0,0 1 0,-1 0 0,-2 0 0,0 0 0,15-1 0,-2 1 0,-2 0 0,-1 0-163,-7-1 0,0 1 1,-2-1-1,-1 0 163,9-1 0,-1 0 0,-2 1 0,-6-1 0,-1 1 0,-2 0 0,-2 1 0,-1 1 0,1 0 0,-1-1 0,0 1 0,1-1 0,0-1 0,1 1 0,-1-2 0,-1 0 0,1-1 0,-1 0 0,1-1 0,-1-1 0,0 1 0,-3 0 0,0 1 0,-1 1 0,17-2 0,-1 2 0,-6 2 0,-1 2 890,-7 2 1,-2 0-891,-8-1 0,-1 2 3197,27-1-3197,-3 0 436,-26 0 1,1 0-437,4 0 0,0 0 0,1 0 0,-1 0 0,2-2 0,-1 1 0,-2-2 0,3 0 0,8 0 0,5 1 0,-2-1 0,8 0 0,0 0 0,-1 1 0,2 1 0,-3 0 0,3 0 0,-4 0 0,-7-1 0,-2-1 0,-4 0 0,-2 0 0,-4 0 0,-2 0 0,30-1 0,0 2 0,-4 2 0,-6 0 0,-13 0 0,-13 0 0,-12-1 0,-8-2 0,0 0 0,36-2 0,11 0 0,14-2 0,-16 2 0,7-1 0,5-1 0,6 0-358,-19 2 0,5 0 0,4-1 0,2 0 1,2 0-1,2-1 0,-1 1 0,1-1 0,-2 1 358,-4 0 0,0 0 0,1-1 0,-1 1 0,1-1 0,1 1 0,0-1 0,1 0 0,1 0 0,1 1 0,-6-1 0,0 1 0,3 0 0,0-1 0,1 0 0,0 1 0,1-1 0,-1 0 0,-1 0 0,0 1 0,-2-1 0,-2 1 0,-1 0 0,9-1 0,-2-1 0,-2 2 0,-1-1 0,-1 0 0,0 0 0,-1 0 0,1 0 0,0 0 0,1-1 0,0 1 0,1-1 0,0 0 0,-1 0 0,-1 0 0,-2 0 0,-3 2 0,-4 0 0,11-1 0,-5 1 0,-3 1 0,0 0 0,3 0 0,-4 0 0,1 0 0,0 0 0,2 0 0,-1 1 0,0 0 0,1 2 0,1 1 0,0 0 0,0 0 0,-2 0 0,-1 0-530,12-1 0,-4 0 0,1-1 1,1 1 529,-4-1 0,2 1 0,0-1 0,-2 0 0,-5 0-305,7-3 0,-4 0 0,-2-1 305,-5 2 0,-2-1 0,1 1-195,-4 2 0,0-1 1,1 1 194,1 1 0,0-1 0,0 0 0,-4 1 0,0-1 0,-1-1 0,20-4 0,-1-3 0,-2-4 0,-1-3 0,-7-3 0,-1-1 0,5-3 0,1-2 0,2-1 0,-1 1 0,1 0 0,0 1 1272,-3 1 1,-1-3-1273,-15 4 0,-1-4 0,-5-1 1133,1-11 0,-6-1-1133,3-1 0,-8 1 593,-19 6 0,-7 3-593,-10-8 842,-15-10-842,3 14 0,-3-3 0,-6-7 0,-1-2 0,9 11 0,-1-2 0,1 0 0,-1-1 0,0 0 0,-2-3 0,0-1 0,-3-3 0,-1 0 0,3 3 0,-1 0 0,1 2 0,-2-2-163,1 2 1,-2-4 0,-1 2-1,3 3 163,-10-13 0,1 3 0,1-1 0,0 1 0,4 2 0,0 1 0,4 5 0,2 0 0,3 6 0,3 1 0,1 3 0,1 1 0,0-1 0,1 0 0,-1-4 0,-1-2 0,-5-10 0,-1-3 0,7 12 0,-1-1 0,-3-3 0,-6-6 0,-4-4 0,-2 0 0,-1 3 0,-1 4 0,-1 3 0,-2 1 0,0-1-475,-3-3 0,0 0 0,-2 1 0,-2 6 475,-3 6 0,-2 5 0,-2 2 0,-2 4 0,0 4 0,-1 3 0,-4 3 0,-11 0 0,22 5 0,-7 1 0,-4 1 0,-3 0 0,-3 0 0,-2 1 0,-1 0 0,0 0 0,1 1 0,2-1 0,2 1-594,1-1 0,1 1 0,1 0 0,1 0 0,-1 1 0,0-1 0,0 1 0,-3 0 0,-1-1 1,-3 1 593,10 1 0,-2 0 0,-1-1 0,-2 1 0,-2 0 0,0 0 0,-1 0 0,0 0 0,0 1 0,0-1 0,1 0 0,1 1 0,1 0 0,2 0 0,2 0-362,-8-1 1,2 2 0,1-1 0,1 1 0,0-1 0,2 1 0,-1 0 0,1 0 0,0 0 0,-1 0 0,-1-1 361,-1 1 0,0 0 0,1 0 0,-1-1 0,0 1 0,0 0 0,0 0 0,0 0 0,0 0 0,-1 1 0,0-1-222,4 1 1,0 0 0,-1 0-1,1 0 1,-1 0 0,0 0-1,0 1 1,0-1 0,0 1-1,0 0 1,0 0 0,0 0 221,1 0 0,-1 1 0,1 0 0,-1-1 0,1 1 0,-1 1 0,1-1 0,0 0 0,0 1 0,0 0 0,1 0 0,0 0-12,-8 1 0,1 0 1,1 0-1,0 1 1,0 0-1,0 0 0,1 0 1,-1 0-1,0 0 1,0 1 11,4-1 0,0 0 0,0 1 0,-1 0 0,1 0 0,0 0 0,0 0 0,1 0 0,1-1 0,1 0 0,2 0 0,-7 0 0,1 0 0,2-1 0,0 0 0,2 0 0,-1 0 0,1-1 0,-1 0 0,-7 1 0,-1-1 0,0 0 0,1 0 0,1-1 0,2 0 0,3-2 0,-8 0 0,2-2 0,3 0 0,2-1 0,3 0 0,6 1 0,2-1 0,3 0 0,-1 1 761,-13-1 1,2 1-1,1 0-761,8 2 0,1 0 0,0 1 0,-7 1 0,0 1 0,-2 0 0,-5 1 0,0 0 0,-3 0 639,10-1 1,-2 0 0,0-1-1,-1 1-639,-2-2 0,0 1 0,-1-1 0,1-1 0,1-1 0,1-1 0,0 0 0,1-1 1044,3 0 0,1 0 0,0 0 1,1-1-1045,-13 0 0,2 1 0,1-2 0,1 1 0,0-1 0,1 1 0,4 0 0,0 0 0,2-1 0,2-1 0,1-1 0,2-1 987,-16-5 0,4-2-987,9-1 0,4 0 339,10 2 0,4 0-339,-19-6 1965,17 7-1965,6 4 1087,6 1-1087,2 2 510,2 0-510,1 0 0,2-6 0,1-11 0,0-7 0,4-2 0,2 6 0,5 12 0,3 12 0,2 8 0,2-1 0,1 0 0</inkml:trace>
  <inkml:trace contextRef="#ctx0" brushRef="#br0" timeOffset="31126">21401 4264 24575,'0'30'0,"0"4"0,0 11 0,0 8 0,0 12 0,0-28 0,0 2 0,-2 4 0,1 1 0,-2 4 0,0 2 0,-2 3 0,0 1 0,1 1 0,-1-1 0,2-5 0,0-2 0,2-8 0,-1-3 0,2 11 0,0-22 0,-3-13 0,-3-7 0,-1-4 0,0-1 0,1 0 0,2-1 0,0 0 0,0-2 0,0-3 0,-1-4 0,0-9 0,-6-8 0,-5-9 0,-9-6 0,-10-3 0,-6-1 0,-4 1 0,4 5 0,7 8 0,9 8 0,10 10 0,7 9 0,4 6 0,2 9 0,4 6 0,4 5 0,5 2 0,5-2 0,2-4 0,-2-2 0,-2-3 0,-2 1 0,1-1 0,-2-1 0,-1-2 0,-1-2 0,-3 0 0,2 0 0,1 6 0,6 8 0,4 4 0,0 3 0,-2-1 0,-5-8 0,-5-2 0,-3-3 0,-3-4 0,2-2 0,-1-2 0,0-2 0,1-1 0,-1 0 0,2-1 0,0 2 0,2-1 0,0 1 0,1 2 0,0-1 0,-1 1 0,3 2 0,-3-4 0,3 4 0,-3-4 0,0-2 0,0 0 0,1-2 0,-2 0 0,1-2 0,0-4 0,0-8 0,6-20 0,-2 2 0,7-15 0,5-4 0,-4 22 0,1 0 0,15-26 0,5 6 0,-17 23 0,-4 8 0,-2 5 0,1 5 0,-2-1 0,0 1 0,-2 0 0,-2 2 0,-2 2 0,-2 2 0,-2 2 0,-1-1 0,1 0 0,0-1 0,-2 2 0,0 0 0,-1 1 0</inkml:trace>
  <inkml:trace contextRef="#ctx0" brushRef="#br0" timeOffset="47334">20173 9983 24575,'21'-1'0,"4"-2"0,3-6 0,1-8 0,-1-10 0,-4-8 0,1-10 0,1-8 0,0-6 0,-12 28 0,1-1 0,-2 1 0,-1-1 0,9-28 0,-5 3 0,-6 10 0,-5 11 0,-4 10 0,-1 8 0,0 6 0,0-1 0,0-1 0,0-1 0,0-2 0,0 3 0,0 4 0,-1 2 0,-1 4 0,-2 3 0,-1 1 0,0 0 0,-2 3 0,-2 4 0,-8 3 0,-6 3 0,-6 0 0,-2-1 0,1-1 0,2-2 0,4 0 0,3 0 0,0 5 0,10-4 0,1 3 0,8-4 0,2-2 0,2-2 0,7-3 0,5-2 0,6 0 0,3-2 0,1-4 0,1-8 0,2-10 0,1-4 0,0-1 0,-2 3 0,3 0 0,7-4 0,12-8 0,-21 17 0,1-1 0,20-18 0,-12 10 0,-19 18 0,-12 21 0,-8 16 0,-5 11 0,-1 2 0,2-3 0,4-2 0,1-4 0,2-1 0,0-2 0,0-4 0,-1-2 0,-1-2 0,0 0 0,1 4 0,1 7 0,0 2 0,0-1 0,-1-7 0,-3-8 0,-4-6 0,-9-7 0,-10-13 0,-11-12 0,-6-11 0,1-6 0,4 4 0,6 8 0,5 9 0,2 9 0,1 4 0,3 3 0,3 2 0,3-2 0,4 0 0,2-2 0,4-1 0,-1 0 0,2 2 0,-1 1 0,2 3 0,1 0 0,1 1 0</inkml:trace>
  <inkml:trace contextRef="#ctx0" brushRef="#br0" timeOffset="55757">19993 10625 24575,'11'0'0,"5"0"0,11 0 0,16 0 0,17 0 0,-22 0 0,2 0 0,4 0 0,0 0 0,-1 0 0,-2 0 0,-5 0 0,-3 0 0,18 0 0,-19-6 0,-15-14 0,-8-16 0,-5-14 0,-4-4 0,0 8 0,0 9 0,0 9 0,-3 10 0,-4 7 0,-2 6 0,1 5 0,2 2 0,4 3 0,2 2 0,-1 3 0,1 6 0,0-3 0,0 1 0,0-6 0,0-2 0,-2 1 0,-4-1 0,-5-3 0,-3-1 0,-13-2 0,-26 9 0,14-3 0,-13 7 0,33-7 0,5-2 0,6-1 0,12-1 0,10-1 0,9 0 0,5-1 0,1 0 0,2 0 0,4-3 0,1-7 0,-2-7 0,-1-7 0,-5-2 0,-5 3 0,1 3 0,-8 9 0,0 4 0,-5 6 0,-2 1 0,-1 0 0,-2 2 0,-2 2 0,-2 7 0,-1 5 0,-1 3 0,0 4 0,0 0 0,-2 16 0,-12-2 0,-2 0 0,-13-11 0,4-13 0,-1-2 0,0-2 0,0-4 0,-1-1 0,-21-3 0,8-1 0,-13-3 0,18-3 0,8 0 0,9 1 0,5 2 0,6 0 0,3 0 0,7-10 0,-2 8 0,5-7 0</inkml:trace>
  <inkml:trace contextRef="#ctx0" brushRef="#br0" timeOffset="80953">25302 4992 24575,'0'49'0,"0"-5"0,0 7 0,0-3 0,0 4 0,0 2-714,0-5 1,0 3 0,0 0 0,0 0 713,0 1 0,0 0 0,0 0 0,0-1 0,0 14 0,0-1 0,0-2 164,0-8 0,0-3 1,0-2-165,0 8 0,0-5 281,0-13 1,0-5-282,0 9 0,0-15 0,0 0 1455,0 11-1455,0 15 342,0 5-342,0-5 0,0-16 0,0-14 0,0-6 0,0-6 0,0 2 0,0-2 0,-2-1 0,1-1 0,-1 0 0,-1 0 0,1 0 0,-3 2 0,-2-3 0,-3-3 0,-8-9 0,-7-18 0,-4-18 0,0-12 0,5 1 0,6 9 0,4 10 0,1 8 0,-1 4 0,1 4 0,2 5 0,4 3 0,3 1 0,3 4 0,6 17 0,4 7 0,6 16 0,4-1 0,-1-7 0,-2-6 0,-3-7 0,-3-4 0,-2-1 0,0-1 0,0 1 0,0 0 0,-1-2 0,-2-1 0,-1-1 0,-1-2 0,0-1 0,1 0 0,-1-1 0,1 2 0,0 1 0,1 1 0,3 2 0,1 2 0,2 1 0,0 2 0,-2-1 0,-2-4 0,1-4 0,-1-4 0,0-2 0,0-1 0,-2-2 0,1-5 0,3-8 0,2-9 0,6-7 0,5-2 0,2 2 0,1 3 0,-1 5 0,0 1 0,4 0 0,7-2 0,2-3 0,-3 1 0,-10 5 0,-14 7 0,-12 7 0,-10 4 0,-15 5 0,-15 5 0,-18 3 0,24-4 0,-2-1 0,-1-1 0,-1 0 0,2-3 0,1-1 0,-24-4 0,14-5 0,15-2 0,12 2 0,6 4 0,5 4 0,3 1 0,-6 0 0,5 0 0,-6-1 0,9-3 0,5 1 0,1-1 0,2 2 0</inkml:trace>
  <inkml:trace contextRef="#ctx0" brushRef="#br0" timeOffset="95337">25661 11409 24575,'2'35'0,"0"1"0,1 4 0,1 3 0,0 7 0,1 2 0,0 4 0,-1 1 0,-1-1 0,-1 1 0,0-1 0,-2-2 0,0-3 0,0-1 0,-1-5 0,0-2 0,-1-4 0,-1-1 0,1 4 0,0-3 0,-2 14 0,1 7 0,1-25 0,0 3 0,-3 22 0,3-17 0,-4 19 0,2-5 0,2-17 0,0 4 0,1 10 0,0 3 0,0 7 0,1 1 0,-1-1 0,0-2 0,0-10 0,-1-3 0,1-10 0,-2-4 0,-3 12 0,3-25 0,-1-4 0,4-10 0,0 0 0,-1-1 0,-1-2 0,-3-2 0,-12-2 0,-19 1 0,-7 1 0,2 2 0,-3 0 0,-2 0 0,-3 0 0,1 1 0,-14 3 0,2 1 0,-2-2 0,1-1 0,5-1 0,2-1 0,5-1 0,1-2 0,4-1 0,2 0 0,2-1 0,0 0 0,0 0 0,-1 0 0,-2 0 0,-1 0 0,-4 0 0,-1 0 0,-5 1 0,-1 0 0,-6 1 0,-3 1 0,18-1 0,-1 1 0,-1 1 0,-4 0 0,-1 1 0,-5 0 0,4-1 0,-5 1 0,-3-1 0,1 1 0,1-1-1010,-6 0 0,3 1 0,-2-2 0,-4 1 1010,10-1 0,-3 0 0,-3 0 0,1-1 0,0 1 0,3-1 0,-1-1 0,3 0 0,1-1 0,-2 1 0,-4-1 0,2 1 0,-3-1 0,-2 0 0,-1 0 0,-1 1 0,2-1 0,2 1 0,-3 1 0,3 0 0,0 1 0,0 0 0,-2 0 0,-2 0-529,6 0 1,-3 0 0,-1 1-1,-1-1 1,0 1 0,0 0-1,1 1 1,2 0 528,6 0 0,0 1 0,1 0 0,1 0 0,0 0 0,-1 0 0,0 1 0,-1-1 0,-3 1 0,-1-1 0,0 1 0,0 0 0,-1-1 0,0 1 0,1-1 0,0 0 0,2-1 0,0 1 0,1-1 0,-1 0 0,1 0 0,-1-1 0,1 1 0,-1-1 0,0-1 0,-1 1 0,0-1 0,1 0 0,-1-1 0,1 1 0,1-1 0,0 0-153,-3 0 0,2-1 0,1 0 1,-1-1-1,0 1 0,-1-1 1,-1 1 152,-1-1 0,-2 0 0,-2 0 0,0 0 0,0 0 0,2 0 0,2 0 0,3 0 0,-1 0 0,3 0 0,2 0 0,1 0 0,0 0 0,-2 0 0,-5 0 0,-4 0 0,0 1 0,2-1 0,5 1 0,8 1 0,0 0 0,7 1 0,4 0 0,-6 2 0,7 2 0,-7 5 2738,-9-4-2738,11-1 0,-8 1 0,-4 0 0,-8 1 0,-5 1 245,15-2 1,-2 0 0,-3 1-1,-2 0 1,-2-1-246,10-1 0,-1 0 0,-2 0 0,-1 0 0,0 0 0,-1-1 0,-1 0-511,-3 0 0,-2 0 0,-1-1 0,0 0 0,0 0 1,-1-1-1,2 0 511,-1 0 0,0-1 0,0 0 0,0 0 0,0 0 0,1-1 0,2 0 0,3-1 0,2 0 0,-1 0 0,2 0 0,0 0 0,1-1 0,2 0-94,-10 1 1,1-1 0,2 0 0,1-1 0,3 1 93,-4 0 0,3 1 0,1-1 0,4-1 0,-2 0 0,3 0 0,3-1 0,-9-1 0,4-2 0,14-1 0,3-1 0,-19-7 2620,13 5-2620,6 3 5965,3 2-5965,2 3 827,2-1-827,1 2 0,1-3 0,1-5 0,1-7 0,-6-20 0,11 8 0,-1-6 0,-6-11 0,-2-8 0,7 5 0,-2-6 0,1-2 0,1 2 0,0-7 0,2 0 0,0-2-337,1 3 1,0-4-1,2 0 1,3 5 336,3 1 0,3 3 0,0-1 0,-2-7 0,0-1 0,0 4 0,0 1 0,-1 4 0,-3-8 0,1 9 0,0 18 0,4 17 0,4 9 0,2 4 0,0 0 1346,-3-1-1346,0 1 0,-5 1 0,-3 3 0,-3 1 0,-2 0 0,0 0 0,-12 0 0,2 0 0,-15 0 0,6-1 0,-2-3 0,7-3 0,0-5 0,11 4 0,0 2 0,10 4 0,1 2 0,3 0 0,1 0 0,1 0 0,0 0 0,-2 0 0,-4 0 0,3 0 0,-2 2 0,7 1 0,1 11 0,1 14 0,-4 14 0,-7 9 0,-7-3 0,-6-6 0,3-6 0,6 11 0,21 0 0,5-4 0,9-29 0,-11-31 0,-12-24 0,-8-12 0,4 15 0,0 0 0,-4-17 0,6 21 0,3 2 0,-1 1 0,4 8 0,1 4 0,4-16 0,4 4 0,5-16 0,6 15 0,3 1 0,18-17 0,-11 17 0,3 3 0,19 1 0,-8 15 0,-9 11 0,-13 8 0,-10 4 0,-6-3 0,-4 0 0</inkml:trace>
  <inkml:trace contextRef="#ctx0" brushRef="#br0" timeOffset="98144">5734 13508 24575,'0'-32'0,"-4"-33"0,0 18 0,-3-5 0,-3-3 0,-1-6 0,-1 4 0,-2-1 0,-1 2 0,2 6 0,-1 0 0,0 14 0,-4 22 0,9 39 0,9 12 0,3 8 0,3 12 0,1 2 0,0 2 0,-1 2 0,-1 1 0,-1 1 0,-2-1 0,0 0 0,-2-5 0,-2-2 0,0-5 0,-1-1 0,-1-8 0,-1-4 0,-5 22 0,2-6 0,4-17 0,3 3 0,1-15 0,0-4 0,0-7 0,0-3 0,0-4 0,2-1 0,0-1 0,1-2 0,-1-8 0,-9-31 0,-4 0 0,-6-23 0,2 13 0,4 2 0,3 5 0,3 6 0,2 9 0,2 6 0,1 5 0,0 2 0,0-2 0,0-2 0,0-7 0,0-6 0,0-9 0,-3-10 0,-3 1 0,-3-1 0,3 13 0,-1 0 0,-3-12 0,1 3 0,0 2 0,4 14 0,3 13 0,0 12 0,0 14 0,0 12 0,0 2 0,0-1 0,1-13 0,1-6 0</inkml:trace>
  <inkml:trace contextRef="#ctx0" brushRef="#br0" timeOffset="100654">5801 11617 24575,'0'-18'0,"0"-22"0,-1-11 0,2-13 0,1 14 0,0-4 0,2-4 0,1-3-1341,0 7 1,1-2 0,1-3 0,1-2 0,0 0 0,0-1 1340,1 3 0,-1 0 0,2-1 0,-1 0 0,1-2 0,1-1 0,1-1 0,-1 4 0,1-1 0,1-3 0,0 0 0,1 0 0,0 1 0,-1 1 0,0 2 0,0 4-80,0-8 0,1 4 1,-1 2-1,0 1 1,0 1-1,1-2 80,0-3 0,0-3 0,1 1 0,-1 2 0,-1 7 0,-2 7 860,4-10 1,-4 11-861,-2-9 0,-14 35 0,-6 14 3875,-7 5-3875,-5 2 2923,-42 2-2923,11-2 0,11 0 0,3-1 0,8-5 0,8-1 0,29 0 0,26 3 0,9 3 0,15-1 0,-13-3 0,7-2 0,-7-1 0,20-14 0,-26 4 0,-4-2 0,-8-10 0,-8 12 0,-7 19 0,-4 25 0,-3 21 0,-2 15 0,0 3 0,0-4 0,-3-6 0,-10-9 0,-15-12 0,-18-13 0,-12-18 0,-4-18 0,31 0 0,2-3 0,-21-23 0,12 1 0,8 1 0,16 18 0,3 0 0,10 14 0,-1 2 0,0-3 0,0-1 0,1-2 0,1 3 0,0 3 0</inkml:trace>
  <inkml:trace contextRef="#ctx0" brushRef="#br0" timeOffset="101851">7981 6428 24575,'7'-24'0,"10"-20"0,7-14 0,-4 4 0,3-7 0,2-5 0,0-2-1530,-5 11 0,2-3 1,-1-2-1,1-1 0,0-1 1,0 0 1529,-2 6 0,1-2 0,-1-1 0,1 0 0,-1 0 0,0 1 0,-1 1 0,1-5 0,1 0 0,-2 1 0,1 1 0,-2 2 0,-1 3 619,3-9 0,-2 3 0,0 3 0,-2 6-619,-2 4 0,0 4 0,-3 6 1436,7-21-1436,-16 49 0,-3 16 0,1 3 0,0-3 0,0 1 0</inkml:trace>
  <inkml:trace contextRef="#ctx0" brushRef="#br0" timeOffset="103304">8262 4700 24575,'9'-3'0,"9"-3"0,14-13 0,10-20 0,-17 11 0,0-4 0,1-3 0,0 0 0,-4 4 0,-1 2 0,13-11 0,-14 20 0,-11 15 0,-3 5 0,-2 1 0,1 7 0,-1 15 0,1 17 0,-1 13 0,0 2 0,2-8 0,4-2 0,15 9 0,-6-19 0,2 0 0,5 7 0,2 1 0,2-2 0,0-1 0,-5-6 0,-2-4 0,8 13 0,-18-22 0,-24-12 0,-23-6 0,-23-3 0,22-1 0,-2-2 0,-3-1 0,-1-1 0,-2-3 0,-1-3 0,-3-2 0,-1-2 0,-2-1 0,0-2 0,0 0 0,1 0 0,5 2 0,2 1 0,7 3 0,3 1 0,-9-3 0,21 6 0,15 3 0,4 2 0,3 0 0</inkml:trace>
  <inkml:trace contextRef="#ctx0" brushRef="#br0" timeOffset="105071">9809 3553 24575,'0'11'0,"0"8"0,0 19 0,0 23 0,0-21 0,0 2 0,0 4 0,0 2 0,0-1 0,0-1 0,0-3 0,0-1 0,0-2 0,0-2 0,0-2 0,0-1 0,0 30 0,0-6 0,0-16 0,0-21 0,0-28 0,-2-23 0,0-15 0,-2-5 0,-2 6 0,-2 3 0,-5-12 0,5 15 0,0-4 0,-2-14 0,1-6-285,2 11 0,1-3 0,0-1 285,0-7 0,1-1 0,1-1-342,1 12 0,1-1 0,0 1 0,0-1 342,1 1 0,0 0 0,0 0 0,1 2 0,1-12 0,0 1 0,2 3 0,0 7 0,1 2 0,5 2 0,11-15 0,5 8 0,-6 23 0,2 5 0,7 0 0,1 8 796,12 14-796,5 5 1427,7 3-1427,10 3 0,2 4 0,-30-4 0,0 2 0,2 5 0,-1 3 0,3 8 0,0 5 0,1 5 0,0 2 0,-2 4 0,0 2 0,2 6 0,-4-1 0,-13-15 0,-3 0 0,2 7 0,-7 2 0,-21 23 0,-5-24 0,-5 2 0,-6 6 0,-5 0 0,-7 0 0,-4-2 0,-2-3 0,-2-5 0,-1-6 0,-3-6 0,1-6 0,-1-5 0,1-5 0,-1-4 0,1-4 0,1-3 0,4-4 0,2-3 0,5-3 0,2-2 0,-14-14 0,16 1 0,16 7 0,12 8 0,1 5 0,5 3 0</inkml:trace>
  <inkml:trace contextRef="#ctx0" brushRef="#br0" timeOffset="165055">28489 6220 24575,'-11'0'0,"0"0"0,-1 0 0,-3 0 0,-8 5 0,-10 4 0,-11 8 0,-8 8 0,6 3 0,10 4 0,13-2 0,11 0 0,5 1 0,4 2 0,1 32 0,1-32 0,1 2 0,0 19 0,0 5 0,-1 5 0,-1 2 0,0-17 0,-1 2 0,-1-1-221,-1 4 1,-1 0-1,-2-1 221,0-1 0,-1-1 0,-1-1 0,0-4 0,0-2 0,0 0-123,-3 18 0,1-2 123,3-4 0,2-1 0,3-1 0,1 3 0,2-8 0,0 4 0,1-3 0,0 7 0,0-1 0,0-7 0,0 1 0,0-4 0,0 4 0,0-1 0,1 4 0,2 0 0,1 2 0,1 0 0,2-1 0,0-1 0,1-4 0,-2-1 0,-1-6 0,-1-2 0,-1-6 0,-2 0 653,-1 27-653,0-8 255,1-4-255,2-6 0,-1-8 0,-1-9 0,-1-9 0,1-7 0,4-5 0,-3-1 0,-10 9 0,-15 12 0,-21 14 0,18-15 0,0-1 0,-24 21 0,12-10 0,9-9 0,13-10 0,4-4 0,7-4 0,1 0 0,0 0 0,-1-1 0,0-2 0,0-1 0,1-1 0,0 1 0,5 0 0,14-2 0,8 1 0,11-4 0,0 0 0,-7 0 0,-1 1 0,6 1 0,-8 0 0,0 1 0,-13 3 0,-8 3 0,1 4 0,4 5 0,10 13 0,7 11 0,4 9 0,-2 2 0,-6-5 0,-6-5 0,-4-3 0,0 23 0,-3-8 0,-4-15 0,0 1 0,0 27 0,-2-32 0,0 2 0,2 17 0,0 2 0,0-11 0,0 1 0,1 14 0,0-1 0,-3-15 0,0-2 0,-1-3 0,0-1 0,-1-1 0,0 0 0,1 3 0,1 2 0,0 5 0,2 3 0,-1 0 0,2 4 0,-1-1 0,1-5 0,0-2 0,0 0 0,0 1 0,0 0 0,1-3 0,2 9 0,2-4 0,2-7 0,1 0 0,2 7 0,1 2 0,2 2 0,0 1 0,1 3 0,-1-3 0,-7-19 0,-1-2 0,8 25 0,-12-41 0,-1-4 0,0 0 0,-1-4 0,0 2 0,-1-5 0,2 3 0,-2 2 0,1 1 0,0-1 0,1-3 0,1-2 0,1-1 0,1-1 0,0 0 0,3 1 0,20 3 0,31 10 0,-16-4 0,5 3 0,1-2 0,5 1 0,-4 0 0,4 0 0,-3-1 0,9 0 0,-7-3 0,-15-7 0,-16-4 0,-5 0 0,-5-2 0,-2-1 0,-7 0 0,-1 0 0</inkml:trace>
  <inkml:trace contextRef="#ctx0" brushRef="#br0" timeOffset="178643">23199 8221 24575,'16'-36'0,"9"-8"0,6-7 0,-5 10 0,2-1 0,1-2-536,2-4 1,1 0-1,-1-1 536,1 2 0,-1 0 0,-3 5-1507,-3 6 1,-4 6 0,3-3 0,-15 20 0</inkml:trace>
  <inkml:trace contextRef="#ctx0" brushRef="#br0" timeOffset="180067">23100 7926 24575,'16'22'0,"0"-1"0,4 0 0,-2-4 0,-3-2 0,-3-2 0,-4-1 0,-2-1 0,-1-1 0,-2-2 0,0-3 0,-2-1 0,0 2 0,-1 2 0,0 1 0,0 1 0,1-2 0,0-5 0,0-1 0,0-4 0</inkml:trace>
  <inkml:trace contextRef="#ctx0" brushRef="#br0" timeOffset="181566">22914 9952 24575,'17'0'0,"0"0"0,-1 0 0,0 2 0,2 19 0,9 27 0,3 13 0,-10-20 0,1 1 0,-1 1 0,1 4 0,0 0 0,-1-4 0,3 6 0,-6-15 0,-12-30 0,-6-23 0,-1-9 0,1-6 0,1-4 0,0-15 0,0 14 0,1-4 0,4-18 0,2-5 0,-1 15 0,2-3 0,1-4 0,2-1 0,1-6 0,2 0 0,-1 4 0,0 2 0,1 4 0,0-1 0,2-9 0,0-1 0,-1 12 0,7-8 0,0 24 0,-10 24 0,4 4 0,-9 11 0,-3 0 0,-2 0 0</inkml:trace>
  <inkml:trace contextRef="#ctx0" brushRef="#br0" timeOffset="-106542.73">28566 3792 24575,'42'0'0,"-4"0"0,6 1 0,0 0 0,4 2 0,3 2-976,0 0 1,2 2-1,2 1 1,1 1 975,-5 1 0,1 1 0,1 1 0,1 1 0,-1 1-444,4 2 1,0 2-1,0 1 1,0 1-1,0 1 444,-1 2 0,1 1 0,-1 2 0,0 1 0,-3 2 0,-3-1 0,0 1 0,-3 2 0,0 0 0,-2 2 75,5 5 0,-1 2 0,-3 1 0,-3 0-75,-5-2 0,-3 0 0,-2 1 0,-2-1 0,2 8 0,-4-1 0,-3 0-67,-6-4 1,-2-1 0,-2 1 66,3 19 0,-5 2 0,-6-15 0,-3 1 0,0 3 124,-2-4 0,-1 1 0,0 2 0,0 1-124,-1 5 0,1 2 0,-1 0 0,0 0 0,0 2 0,0 1 0,1-1 0,-1-1 0,1-6 0,0 0 0,0-2 0,0-3 868,1 1 1,0-3-1,-1-4-868,2 2 0,-1-7 1237,-1 1-1237,-2-24 259,0-4-259,0-2 1422,0 3-1422,0 6 0,-3 0 0,-7-2 0,-8-7 0,-9-18 0,-7-23 0,15 5 0,-1-3 0,-4-8 0,0-2 0,-2-2 0,-2 0 0,-3 3 0,-1 1 0,-2 3 0,0 2 0,-1 3 0,-1 1 0,1 1 0,0 0 0,3 1 0,0 1 0,5 2 0,2 2 0,-10-9 0,17 26 0,19 23 0,14 19 0,15 19 0,-10-22 0,2 2 0,4 7 0,1 2 0,1 3 0,4 3 0,-2-7 0,3 3 0,-1-5 0,4 0 0,2-3 0,-5-6 0,3 2 0,3-6 0,3-10 0,3-4 0,-3-2 0,4 4 0,0-2 0,14 4 0,-5-4 0,-11-5 0,-22-5 0,-10-2 0,-7 3 0,-3 3 0,1 2 0,1 2 0,3 0 0,11 5 0,14 9 0,14 6 0,4 2 0,-4-6 0,-13-12 0,-13-18 0,-10-25 0,-12-24 0,-7 1 0,-2-2 0,5 13 0,0 0 0,-5-12 0,3 1 0,11-17 0,3 28 0,2-2 0,2-3 0,2-1 0,1-1 0,0 0 0,-2 1 0,-2 2 0,-2 5 0,-2 2 0,-5-21 0,-25 15 0,-32 15 0,10 17 0,-7 4-364,7 1 1,-3 2-1,-3 1 364,-8 0 0,-2 1 0,0 0 0,13 0 0,-1 0 0,0 0 0,1 0 0,-15 0 0,0 0 0,2 0 0,7 1 0,1-1 0,3 1 0,-11 0 0,5 1 0,13-1 0,5 0 0,-11 1 0,29-2 0,12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2:17:48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17673 5037 24575,'-31'27'0,"8"-2"0,-3 3 0,-9 10 0,-2 5 0,7-8 0,0 2 0,-1 1-872,-2 5 1,-1 1 0,2 2 871,-1 3 0,1 1 0,1 1 0,1 3 0,1 1 0,3 0 0,1-2 0,2 1 0,3-1 0,2-2 0,2 0 0,2 0 207,3-4 1,0 1 0,3-1-208,0 0 0,2 0 0,2 1 0,0-2 0,1 0 0,1 1 0,0 3 0,1 0 0,1 1-131,-1 2 1,1 1 0,1 1 130,2 2 0,0 1 0,2 1 0,2 4 0,1 1 0,0 0 0,2-2 0,0 0 0,0-2 0,1 0 0,1-1 0,-2-1 0,-1-4 0,-1-1 0,0-2 0,-2-4 0,-1-1 0,0-1-59,1 0 1,-1 1-1,0-1 59,-1 0 0,1 1 0,-1 1 0,1 0 0,0 1 0,0 1 210,-1 3 1,1 2 0,-1-1-211,-1-1 0,1 0 0,-1-1 0,-1-3 0,1-1 0,-1 0 78,-1 15 1,1-2-79,-1-11 0,0-2 450,-1-8 0,0-1-450,0 25 192,0-12-192,0-15 677,-2-13-677,-3-13 0,-16-7 0,-18-2 0,-16-1 0,21 0 0,0 0 0,-31 0 0,11 2 0,19 4 0,22 4 0,19 1 0,36 10 0,-5-8 0,17 8 0,-22-5 0,-7 13 0,-1 9 0,-3-1 0,-1 5 0,-2-1 0,0 5 0,-1 0 0,-4-3 0,-2 0 0,-2 2 0,0 14 0,-2 2 0,-1 0 0,-2-10 0,-1-1 0,0 4-446,0-2 0,-1 3 1,0 1-1,2-1 446,0-1 0,1 1 0,0-1 0,1 1 0,1 4 0,1 1 0,0 0 0,0-1 0,1 1 0,0 0 0,1-2 0,-1-1 0,2 10 0,0-3 0,-1-3 0,0 5 0,-1-5 0,-3-16 0,-2-5 0,1 14 0,0 0 0,-1-21 0,1 2 0,0 4 0,1 1 891,0-1 1,1 0-892,5 22 0,-3-23 0,6-15 0,11-7 0,23 1 0,-17-7 0,3-1 0,3 0 0,1-2 0,-1-1 0,0-1 0,24-2 0,-9-3 0,-15 0 0,-11-2 0,-14 1 0,-7 0 0</inkml:trace>
  <inkml:trace contextRef="#ctx0" brushRef="#br0" timeOffset="3257">17940 5946 24575,'54'0'0,"0"0"0,-7 4 0,8 3 0,4 2 0,0 0 0,-4 1 0,3 1 0,-3 1 0,0 2 0,4 1 0,-6-3 0,3 2 0,2 0 0,0 2 0,-2 1 0,-3 3 0,-1 5 0,-1 3 0,-2 2 0,-4 1 0,-1-2 0,8 6 0,-5 1 0,1 3 0,-1 3 0,1 4 0,-1 0 0,-7-5 0,4 5 0,-4-2 0,-7-9 0,1 1 0,-4-5 0,-2-5 0,-4-4 0,15 12 0,-16-9 0,-10-5 0,-5 1 0,-4-7 0,-3 1 0,-1-7 0,-2-4 0,-9-1 0,-18-3 0,-29-8 0,18 1 0,-4-1 0,-6-3 0,-2-3 0,-1-1 0,0-1 0,2-2 0,1-1 0,4 0 0,2-1 0,6 3 0,4 0 0,-10-9 0,28 12 0,30 12 0,24 12 0,23 8 0,-19-4 0,2-1 0,6 1 0,3 0 0,5-1 0,0 0 0,3 0 0,-1-2 0,-4 0 0,-1 0 0,-9-2 0,-2-1 0,21 5 0,-26-7 0,-16-4 0,-6-2 0,-6-7 0,-3-5 0,-3-5 0,-5-6 0,-6-1 0,-3-3 0,-4 1 0,-3 3 0,-1 5 0,-3 6 0,-5 6 0,-8 5 0,-6 2 0,-7 5 0,-7 4 0,-4 4 0,0 0 0,5-2 0,5-3 0,7 2 0,2 2 0,4 3 0,2 2 0,4-2 0,13-7 0,6-4 0</inkml:trace>
  <inkml:trace contextRef="#ctx0" brushRef="#br0" timeOffset="49880">19822 9630 24575,'32'0'0,"22"0"0,-20 0 0,3 0 0,1 0 0,0 0 0,27 0 0,-21 0 0,-18 2 0,-11 6 0,-10 7 0,-4 11 0,-1 15 0,-1 7 0,0 13 0,0-2 0,0-11 0,0-1 0,0 4-278,0 4 1,0 6-1,0-1 1,0-4 277,0-2 0,0-3 0,1-4 0,-1 9 0,2-6 0,-1-12 0,0-6 0,0 4 0,-1-18 0,-1 3 0,0 15 0,-1 16 1110,-2 12-1110,-1-4 0,-1-12 0,0-15 0,0-11 0,-2-3 0,-20 3 0,-7-9 0,4-5 0,-5-1 0,-5-2 0,-3 0 0,-6 4 0,-1 1 0,-5 4 0,1 1 0,3 1 0,1 2 0,9-2 0,3 0 0,6-3 0,3-1 0,-6 2 0,19-9 0,11-4 0,6-2 0</inkml:trace>
  <inkml:trace contextRef="#ctx0" brushRef="#br0" timeOffset="59949">16256 4867 24575,'-11'27'0,"-6"8"0,-3 8 0,-1 5 0,-2 7 0,-1 5-1353,5-12 1,0 4 0,-1 1 0,1 3 0,-1 1 1352,1 1 0,0 2 0,1 1 0,-1 2 0,1 1 0,1 0 0,1-5 0,1 0 0,1 1 0,0 1 0,0 0 0,1 1 0,0 1-416,2-5 0,0 2 0,1 0 0,0 0 0,1 1 1,0 0-1,0 0 0,1 0 416,0 2 0,1 0 0,0 0 0,0 0 0,1 1 0,1-1 0,1 1 0,2-1 0,0 0 0,1 1 0,1-1 0,1 0 0,1 0 0,1 0 0,2 0 0,0-1-126,2-2 1,1 0-1,1 0 1,1-1-1,2 0 1,1-1-1,2-1 1,1 0 125,4 3 0,1-1 0,3 0 0,1-2 0,2-1 0,2-1 0,1-1-242,1-4 1,2-1 0,2-1 0,1-1 0,1-1 0,1-3 0,1-1 241,3 2 0,2-2 0,2-2 0,-1-2 0,2-2 0,-1-2 120,5 1 1,1-1 0,1-3-1,-1-4 1,0-2-121,4-1 0,0-4 0,0-4 0,-2-4 889,9-2 1,-2-7-1,-3-2-889,-7-4 0,-3-3 0,-1-2 1709,10-4 1,-4-4-1710,-14 1 0,-4-1 3154,10-6-3154,-24 8 2334,-13 6-2334,-5 3 602,-2 1-602,1-1 0,2 0 0,0-1 0,5-8 0,5-2 0,10-12 0,1 1 0,8-10 0,-16 15 0,0-2 0,-15 17 0,-2 1 0,0-3 0,3-8 0,6-11 0,4-7 0,4-4 0,-3 4 0,-6 11 0,-6 10 0,-5 10 0,-3 6 0,0 3 0,-1 0 0,1 0 0,-2 0 0,-1-1 0,-2 1 0,-4 1 0,-3 1 0,-4 1 0,-8 6 0,5 1 0,-6 9 0,9-3 0,3-1 0,5-5 0,5-8 0,12-10 0,16-18 0,23-21 0,-13 13 0,2-1 0,1 0 0,-1-1 0,-4 5 0,-2 1 0,9-7 0,-17 23 0,-11 13 0,-3 18 0,-3 29 0,3-4 0,4 16 0,2-21 0,2-10 0,-1-5 0,0 2 0,3 8 0,0 5 0,-4 4 0,-12-20 0,-6-7 0,-11-16 0,2-6 0,1-3 0,3-4 0,-3-3 0,-3-2 0,-6 0 0,-4-1 0,0 3 0,2 3 0,6 3 0,6 2 0,4 2 0,5 0 0,-5 1 0,2-2 0,-9 0 0,2 1 0,2-1 0,6 2 0,4 1 0</inkml:trace>
  <inkml:trace contextRef="#ctx0" brushRef="#br0" timeOffset="70631">20849 9580 24575,'29'0'0,"14"0"0,11 0 0,-1 0 0,6 0 0,4 0-1131,-4 0 0,5 0 1,1 0-1,1 0 1131,-11 0 0,1 0 0,0 0 0,0 0 0,-1 0 0,9 0 0,-1 0 0,-1 0 0,-2 0 164,-7 0 0,-1 0 1,-2 0-1,-2 0-164,1 0 0,-3 0 0,-3 1 446,7-1 0,-5 1-446,6 1 0,-29 0 0,-13-1 0</inkml:trace>
  <inkml:trace contextRef="#ctx0" brushRef="#br0" timeOffset="71981">20901 9593 24575,'25'-11'0,"31"-23"0,-14 8 0,4-2 0,6-5 0,1-1 0,-5 4 0,-2 2 0,-13 8 0,-3 4 0,5-1 0,-25 20 0,-16 5 0,0 2 0,-5-5 0</inkml:trace>
  <inkml:trace contextRef="#ctx0" brushRef="#br0" timeOffset="73162">20919 9623 24575,'29'7'0,"18"18"0,-16-5 0,2 4 0,7 6 0,1 2 0,-1 1 0,-1 0 0,-4-5 0,-2-2 0,18 15 0,-18-14 0,-14-13 0,-10-6 0,-6-6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2:20:43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27621 2601 24575,'30'0'0,"34"0"0,-14 3 0,3 4 0,10 6 0,1 9 0,-20 0 0,-1 4 0,-3 5-787,-1 9 0,-4 5 0,-3 4 787,0 7 0,-5 5 0,-2 2 0,-7-11 0,-2 1 0,-1 2 0,-2 0 0,0 4 0,-2 1 0,-1 1 0,-1 1-592,-1 1 1,0 1 0,-2 1-1,0-1 592,-2-10 0,0-1 0,-1 1 0,1 0 0,-2-1 0,2 11 0,-2 0 0,1 0 0,-2-2-35,1-4 0,-1 0 0,0-2 0,0-1 35,0 9 0,0-1 0,-1-4 0,1-12 0,-1-2 0,-1-3 0,2 4 0,-2-5 986,1 0-986,-3-30 2410,-2-16-2410,-3-6 1471,0-1-1471,-2-4 0,2-2 0,-3-4 0,-1-2 0,-4-3 0,-11-12 0,-8-3 0,-4-5 0,8 8 0,-1-1 0,3 4 0,-3-2 0,3 2 0,2 1 0,3 3 0,2-1 0,2 6 0,-2 8 0,9 15 0,12 39 0,5 6 0,9 19 0,1-15 0,3 4 0,-3-9 0,2 3 0,1 0-294,2 7 1,1 1 0,0 1 293,-1-2 0,1-1 0,-1-2 0,6 11 0,-1-5 0,-6-13 0,0-6 0,7 1 0,-6-22 0,-4-9 0,-1-5 0,-1-2 880,2-4-880,5-10 0,11-20 0,-12 10 0,2-2 0,4-7 0,0-2 0,2-2 0,0 1 0,-2 4 0,-1 3 0,17-17 0,-10 22 0,-10 15 0,-4 9 0,0 1 0,2-1 0,-1-4 0,-2-2 0,-7-3 0,-6-1 0,-3-2 0,-14 2 0,-26 4 0,4 5 0,-6 2 0,-16 2 0,-4 1 0,17 0 0,-1 1 0,-1 0 0,0 0 0,0 1 0,1-1 0,-16 2 0,4-1 0,12 0 0,5-1 0,-18-1 0,30-3 0,18 2 0,8-2 0</inkml:trace>
  <inkml:trace contextRef="#ctx0" brushRef="#br0" timeOffset="11606">17354 2309 24575,'44'0'0,"0"0"0,8 0 0,11 0 0,4 0 0,-1 0 0,-3 2 0,0 0 0,2 1 0,4 3-981,-8-1 1,5 1-1,1 2 1,1 0-1,-2 3 1,-4 1 980,-1 2 0,-3 2 0,-1 2 0,-2 3 0,-1 1 0,-3 3 0,0 2 0,-2 1 0,-2 3 0,-3 2-28,6 8 0,-4 2 0,-3 3 1,-2 1 27,-5-3 0,-4 2 0,-1 1 0,-2 0 0,-3-1 0,-2 0 0,-1 1 0,-2-1 269,2 9 0,-2-1 0,-2-1-269,-4-7 0,-1-2 0,-1-2 0,3 8 0,-1-4 0,3 18 2821,-7-22-2821,-6-12 1714,-3-4-1714,1 6 652,2 20-652,0-15 0,1 3 0,1 9 0,1 2 0,1 3 0,0-1 0,-1-5 0,0-4 0,-2-8 0,0-4 0,2 8 0,-5-17 0,-3-12 0,-4-5 0,-6-7 0,-4-7 0,-3-6 0,-7-12 0,-16-14 0,10 10 0,-3-3 0,-6-6 0,-1-3 0,-5-4 0,0-2 0,1-1 0,2 1 0,4 6 0,2 2 0,6 6 0,1 3 0,-12-9 0,18 21 0,12 13 0,7 11 0,8 8 0,6 8 0,17 18 0,-4-7 0,3 3 0,6 8 0,2 2 0,5 7 0,1 0 0,0-3 0,-1-1 0,-6-9 0,0-3 0,-5-7 0,-1-4 0,19 10 0,-6-10 0,0-5 0,-5-2 0,-6-6 0,-5-3 0,-5-4 0,-2-4 0,-1 1 0,-2-2 0,1 0 0,-1 0 0,-3 0 0,-2 0 0,-2-2 0,-2-4 0,-2-8 0,-1-8 0,1-43 0,1 28 0,0-4 0,2-21 0,3-7 0,0 21 0,3-5 0,1 0 0,-1 3 0,1 0 0,-1 3 0,1-3 0,2-1 0,2-5 0,0 3 0,-2 10 0,-2 6 0,-1 6 0,9-27 0,-27 51 0,-18 12 0,-27 14 0,12-3 0,-6 3 0,-7 0 0,-8 2 0,3 0 0,9-5 0,2 0 0,-2-1 0,-12 3 0,-3 0 0,5-2 0,1-3 0,6-2 0,8-1 0,4-2 0,-17 5 0,22-3 0,17 0 0,10-3 0,4-1 0,4-4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2T22:21:48.0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807 9197 24575,'-7'16'0,"-8"23"0,2 3 0,1 9 0,2-2 0,1 5 0,2 4-535,0-4 1,2 3-1,0 3 1,2 4 534,1-10 0,1 4 0,1 3 0,0 1 0,1 0 0,-1-2 0,1-4 0,1 4 0,0-4 0,0 0 0,1 0 0,-1 3 0,1 5 0,-1 4 0,1 2 0,0-1 0,0-6 0,0-8 0,1-1 0,0-8 0,-1 1 0,0 5 0,-2 1 0,1-4 343,-2 1 0,0-3-343,0 3 0,0 3 176,0 13 1,0-3-177,0-22 0,0-3 0,0 6 0,0-6 0,0-19 1099,0-7-1099,-2-3 0,-1 1 0,-4 2 0,-17 9 0,-2-2 0,-16 9 0,7-3 0,1 2 0,5 0 0,6 2 0,-1 7 0,-2 9 0,-2 8 0,1-1 0,3-7 0,7-10 0,5-7 0,5 2 0,4 4 0,1 6 0,2 1 0,0-6 0,1-3 0,10-1 0,14 3 0,12 1 0,7-3 0,-4-11 0,-9-9 0,-9-7 0,-6-3 0,-2-2 0,1 0 0,-1 0 0,1 0 0,-5 0 0,-2 1 0,-3 2 0,-2 0 0,0 1 0,-2 0 0,1-2 0,-2 0 0</inkml:trace>
  <inkml:trace contextRef="#ctx0" brushRef="#br0" timeOffset="4353">1007 14419 24575,'-33'20'0,"-10"18"0,12-6 0,2 6 0,-3 12 0,5 5 0,11-12 0,4 2 0,1 2-671,1 8 1,2 1 0,3 2 670,1 1 0,2 1 0,1 1 0,0 0 0,2 1 0,0-2 0,0-2 0,1-2 0,2-1 0,1-3 0,1-2 0,3 1 0,1-3 0,2 0 0,1 0 0,2 0 0,1 0 0,0 1 0,2 7 0,1 0 0,-2 3-490,-3-7 0,-1 1 0,-1 1 0,0 2 490,0 5 0,0 1 0,-2 1 0,1 0 0,-2 1 0,0-1 0,0 1 0,-1-2-57,-1-4 1,-1 0 0,1-1 0,-2-2 56,2 5 0,-2-2 0,0-3 0,0 10 0,-1-6 0,-1-16 0,-1-4 864,0 6-864,-2-19 1993,0-13-1993,-1-4 1339,-4-5-1339,-9-3 0,-17-1 0,-5 4 0,-2 1 0,-22 5 0,20-2 0,5 2 0,5 8 0,16 2 0,8 4 0,5 2 0,1-2 0,3-4 0,4-5 0,3-6 0,3-4 0,-1-2 0,2-3 0,4 0 0,4 0 0,3 0 0,0 0 0,-5 1 0,-4 2 0,-4 2 0,-1 3 0,-3 1 0,-3-1 0,-2-3 0,-2-2 0</inkml:trace>
  <inkml:trace contextRef="#ctx0" brushRef="#br0" timeOffset="10580">15495 4553 24575,'62'-2'0,"-11"-1"0,7-2 0,-10 2 0,3-1 0,1 1-403,5 0 0,2 0 0,-1 0 403,-4 0 0,0 1 0,-3 1 0,10 1 0,-5 2 197,-13 1 1,-3 3-198,12 17 0,-15 30 0,-18 2 0,-4 13-825,-6-16 1,0 5 0,-2 5-1,1 1 825,-2-12 0,0 3 0,0 1 0,-1 2 0,1 0 0,-1 1 0,0-1 0,0 1 0,0 1 0,0 0 0,-1 1 0,1-1 0,-1 0 0,0-1 0,0-1 0,0 1 0,0 0 0,0-1 0,0-1 0,0-1 0,-1 3 0,1 0 0,-1-2 0,1 0 0,-1-2 0,-1 0-132,2 15 0,-1-1 1,0-3-1,-1-3 132,0 3 0,-1-5 0,0-1 0,-1-8 0,0-3 0,0-1 0,-1 11 0,-1-2 244,0-6 1,-2-1-245,0-4 0,-2-1 0,0-4 0,0-1 0,-1-4 0,1-1 0,-3 20 3490,2-13-3490,2-12 660,2-12-660,0-6 0,-1-6 0,-1-2 0,-5 0 0,-3 2 0,-11 3 0,-16 4 0,-19 6 0,23-8 0,-3 0 0,-4 0 0,0 0 0,-1 0 0,2 0 0,3-2 0,3 0 0,-21 3 0,21-4 0,19-4 0,10-2 0,5 0 0</inkml:trace>
  <inkml:trace contextRef="#ctx0" brushRef="#br0" timeOffset="13281">15080 9651 24575,'58'0'0,"0"0"0,1 0 0,-1 0 0,0 0 0,-2 0 0,0 0 0,0 0 0,-2 0 0,-2 0 0,5 0 0,-3 0 0,-1 0 0,-2 0-286,9 0 1,-2 0 0,-3 0 285,8 0 0,-8 0 281,10 0-281,-39 4 142,-19 5-142,-5 4 0,-2 13 0,-2 28 0,2-9 0,-1 15 0,1 7 0,-1 2 0,1-3 0,-1-7 0,1 0 0,-1 0 0,1 3 0,-1 4-547,1-7 1,-1 3 0,1 3-1,0 2 1,-1 0 0,1 1 0,0-2-1,1-3 547,-1 2 0,1-2 0,0-1 0,0 0 0,0 0 0,1 0 0,0 1 0,0 1 0,0 0 0,1 1 0,0 0 0,1 0 0,0 0 0,1 0 0,-1-6 0,1 1 0,1-1 0,0 1 0,0-1 0,1 1 0,0-1 0,1 1 0,0-1 0,1 0 0,0 0 0,1 0 0,1 0 0,-1-1 0,1 0 0,0 0 0,1 4 0,0 0 0,1 0 0,0-1 0,1 0 0,-1-2 0,1-1-349,0 3 1,1-1 0,0-1 0,0-1 0,0-2 0,-1-1 348,5 13 0,-1-2 0,-1-2 0,-2-5 0,0 1 0,-1-4 0,-2-5 0,0 2 0,-3-9 0,-5-4 0,-11-27 4163,-7-14-4163,-3-5 2730,1-5-2730,-4-9 0,4 4 0,-10-8 0,-17 0 0,5 7 0,-8 0 0,1 1 0,-5 0 0,-2-1-676,-10-1 0,-1-1 0,-2 0 676,13 3 0,-1 1 0,0 0 0,1 0 0,-13-4 0,0 1 0,4 0 0,12 2 0,3 1 0,3 0 0,-8-3 0,7 1 0,-4-5 0,28 10 0,13 9 0,7 4 0,0 0 0,1 1 0</inkml:trace>
  <inkml:trace contextRef="#ctx0" brushRef="#br0" timeOffset="29045">15378 14397 24575,'41'0'0,"17"0"0,-20 0 0,1 0 0,5 0 0,1 0 0,-1 0 0,-1 0 0,-4 0 0,-1 0 0,-2 0 0,-2 1 0,24 5 0,-12 7 0,-15 6 0,-15 10 0,-6 20 0,-6-6 0,-1 8 0,1-2 0,1 5 0,0 3-845,2-2 1,-1 3-1,2 2 1,0 2 844,0-6 0,0 2 0,0 1 0,1 0 0,-1 1 0,2 4 0,0 1 0,0 1 0,0-1 0,-1 1 0,0-11 0,-1 0 0,0 1 0,0-1 0,0 0 0,-1 0 0,2 8 0,-1 0 0,0 0 0,0 0 0,-1-2 0,0-2 0,-1-1 0,1-1 0,-1 0 0,0-2-412,1 8 1,-1-2 0,1-1 0,-1-2 411,0-5 0,0 0 0,0-2 0,0-1-205,0 9 1,1-2-1,-1-2 205,0-7 0,-1-1 0,0-3 0,0 12 0,0-4 0,-1-11 0,-1-3 1466,1-4 0,0-1-1466,3 5 0,0 2 0,3 7 0,1 3 0,2 7 0,-1 1 0,-1-1 0,0-1 0,-4-8 0,-1-4 1891,0 20-1891,-8-29 814,-7-19-814,-5-11 0,-9-3 0,-11-2 0,-24 4 0,15 2 0,-5 1 0,-7 1 0,-4 2 0,16-3 0,-2 1 0,1-1 0,-20 3 0,1-2 0,8-3 0,3-1 0,10-1 0,4-1 0,-8-2 0,23 1 0,15 1 0,6 0 0,2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CD5FC2-92F3-1E44-8A17-4717FF39441C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4BE2C-39F5-2647-992E-7B9626E504E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848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41106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75009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3423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93654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83665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82882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67637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60173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59256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103364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21407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69408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3673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F09F3-A92D-095C-8A11-583035E75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6CD559-DB4B-20C8-6833-E3FF226DC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F7D925-CDE1-212D-721E-3BE9235E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67F1C-E107-6FD1-F214-5601AE4E0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BF3704-D2F2-181B-90B0-98A6D92C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857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1817B-BA28-7076-38E9-2CD2391B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09B8BF-9A76-B638-B363-68FD6FA50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C62B4B-1789-2F93-4DA8-B5BC7C62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C411E3-F3B1-C8E6-7952-C5C5EDA1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137193-0893-C734-3C9E-9CCC0BA9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189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DD2FD-4BD4-398C-430B-972BB4E59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B7BA28-E2D6-9625-DB29-14CEFA135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850A8-4808-AC2E-C8F1-3FC23148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CA701D-5ADD-EAFB-B057-D7B5BE65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2C7A17-EED2-DD00-4FE5-63C4C85C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465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C6E0E-37F2-082C-C740-005EB4C0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3476C4-1B49-AEA4-EDB3-BF749AF1F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1A1069-E526-FA1B-2E9F-44CE0AB08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269B7F-EF08-F604-6A05-9AE142F78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3C28D1-5DC6-3310-29CC-409ED850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89C433-8BA8-2F13-4C03-96EB5AA2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67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4A340-1A52-B11A-9042-4E02C911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E09555-991B-07AE-DCA2-058D4E728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B75A7E-B2E6-E51E-7DD0-A4F25B870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6EF901-510B-6DAC-9FE5-63E36776E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4D8708E-1D89-DBC5-3904-6E4757B26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48537BC-4DAC-2F27-8A16-6D8739D60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93B4C1-E058-F952-C815-0F697C6E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72DFC4-99AA-9D1D-3D1C-7C440FC2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172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1C5DE-7E89-D9CD-0553-2E0DE4CB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2EF09EF-F6AE-5667-037A-E169C8A1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EB561CF-6821-DDDD-9056-00F91CE17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554D67-1FBB-8462-DE42-1C2928B3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98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DC8BEF-AB6C-2EDE-6333-307203EC5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E05F78-E058-B712-264D-18A8A111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B34B1C2-80B6-A49A-11CB-3C1F5EC2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943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767ED-42B1-483E-F311-71B6018E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8B1E9-EDA2-6D41-D30F-F0805DA5F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4D2477-C37E-697D-FBEA-0B2211786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764886-76E5-CC31-2CC0-A5BC29AB8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F96018-FE72-B633-6BB9-58E8009A4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C8A08F-0588-07B3-68C4-F28FD02E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204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6519A-D142-E859-A9CB-62FFA297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0F7212-EB01-3F5D-A666-22CE684ECC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A71863-28F3-F1FD-E5F7-646B7A311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6A3CAA-A832-B93B-99A1-55B8A63E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EF5F7C-C418-F92C-21B5-8C96E2B1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72A079-B5AB-44A7-044A-5D49BEFE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9288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1CF7AB-28AF-76CB-F6DA-8F0A0BA3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BDF1DA-E6D6-5B16-37EA-83CBBB3F3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68317A-3BE0-977D-8C89-4F29230D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F7F03A-F0C2-DE7D-9AD0-D3B9120B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CD793A-E42B-440C-C7E7-6EBDA695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2233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BBDA06-05A9-F583-D392-4FB1BC3490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1CB076-B561-F29E-3A70-D101D86F1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42B8DA-FD99-3C68-02D6-500562CA8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5452AC-64B5-B298-1B06-9258C9052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EBA334-2157-94D2-7628-3E1E726D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703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ido con título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o del título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59595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Texto del título</a:t>
            </a:r>
          </a:p>
        </p:txBody>
      </p:sp>
      <p:sp>
        <p:nvSpPr>
          <p:cNvPr id="75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6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7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000542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o del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del título</a:t>
            </a:r>
          </a:p>
        </p:txBody>
      </p:sp>
      <p:sp>
        <p:nvSpPr>
          <p:cNvPr id="40" name="Nivel de texto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57066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9F7F46-8456-6B4F-A37F-3D8C3302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2F1BB6-6B67-B772-5674-466808B89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FF8322-59DF-82E9-047B-D528450B9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CE475-70B0-A845-A9B1-718C07FC1B67}" type="datetimeFigureOut">
              <a:rPr lang="es-CO" smtClean="0"/>
              <a:t>27/08/2026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290C31-C0D0-D5B3-4C4F-8624147169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9897FE-8FA6-A7A9-0AEF-D2B3CDF4EB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92F234-B550-6847-A17B-2464FB0AB57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425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mailto:dario.delgado@unad.edu.c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thought-leadership/institute-business-value/en-us/report/ai-capabilities" TargetMode="External"/><Relationship Id="rId2" Type="http://schemas.microsoft.com/office/2018/10/relationships/comments" Target="../comments/modernComment_12C_35CCB42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es.nttdata.com/services/artificial-intelligenc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eplearning.lipingyang.org/wp-content/uploads/2017/10/Battle-of-the-Data-Science-Venn-Diagrams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ml4devs.com/articles/mlops-machine-learning-life-cycle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loud.google.com/architecture/mlops-continuous-delivery-and-automation-pipelines-in-machine-learning?hl=es-419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kwfoundation.org/blog/2021/02/10/errores-de-implementacion-de-ia-basada-en-la-nube-y-aprendizaje-automatico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38.png"/><Relationship Id="rId7" Type="http://schemas.openxmlformats.org/officeDocument/2006/relationships/hyperlink" Target="https://cloud.google.com/vertex-ai?hl=es-419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mx-es/cloud/watson-studio" TargetMode="External"/><Relationship Id="rId5" Type="http://schemas.openxmlformats.org/officeDocument/2006/relationships/hyperlink" Target="https://azure.microsoft.com/en-us/free/machine-learning/search/?ef_id=_k_Cj0KCQjwmICoBhDxARIsABXkXlIif59t4yx7c2rHWPuhGVm2vFkxLkU9QpnN6ARgpLtgev3JwcjBYZ0aAlbHEALw_wcB_k_&amp;OCID=AIDcmm3804ythc_SEM__k_Cj0KCQjwmICoBhDxARIsABXkXlIif59t4yx7c2rHWPuhGVm2vFkxLkU9QpnN6ARgpLtgev3JwcjBYZ0aAlbHEALw_wcB_k_&amp;gclid=Cj0KCQjwmICoBhDxARIsABXkXlIif59t4yx7c2rHWPuhGVm2vFkxLkU9QpnN6ARgpLtgev3JwcjBYZ0aAlbHEALw_wcB" TargetMode="External"/><Relationship Id="rId4" Type="http://schemas.openxmlformats.org/officeDocument/2006/relationships/hyperlink" Target="https://aws.amazon.com/es/sagemaker/" TargetMode="External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swire.com/information-management/ai-vs-algorithms-whats-the-difference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customXml" Target="../ink/ink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customXml" Target="../ink/ink4.xml"/><Relationship Id="rId4" Type="http://schemas.openxmlformats.org/officeDocument/2006/relationships/hyperlink" Target="https://www.ibm.com/thought-leadership/institute-business-value/en-us/report/ai-capabilities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D4D35A-62DF-6FA6-E6A6-B3AC66A66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es-CO" sz="4000" dirty="0">
                <a:solidFill>
                  <a:schemeClr val="tx2"/>
                </a:solidFill>
              </a:rPr>
              <a:t>Habilitando el Éxito con IA: Instalando Capacidades a través de la Arquitectura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BD0F0D-3A02-1A63-DDDB-139468937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 fontScale="70000" lnSpcReduction="20000"/>
          </a:bodyPr>
          <a:lstStyle/>
          <a:p>
            <a:pPr algn="l"/>
            <a:r>
              <a:rPr lang="es-CO" sz="2000" dirty="0">
                <a:solidFill>
                  <a:schemeClr val="tx2"/>
                </a:solidFill>
              </a:rPr>
              <a:t>Darío José Delgado Q. PhD.</a:t>
            </a:r>
          </a:p>
          <a:p>
            <a:pPr algn="l"/>
            <a:r>
              <a:rPr lang="es-CO" sz="2000" dirty="0">
                <a:solidFill>
                  <a:schemeClr val="tx2"/>
                </a:solidFill>
                <a:hlinkClick r:id="rId2"/>
              </a:rPr>
              <a:t>dario.delgado@unad.edu.co</a:t>
            </a:r>
            <a:endParaRPr lang="es-CO" sz="2000" dirty="0">
              <a:solidFill>
                <a:schemeClr val="tx2"/>
              </a:solidFill>
            </a:endParaRPr>
          </a:p>
          <a:p>
            <a:pPr algn="l"/>
            <a:r>
              <a:rPr lang="es-CO" sz="1600" dirty="0"/>
              <a:t>https://</a:t>
            </a:r>
            <a:r>
              <a:rPr lang="es-CO" sz="1600" dirty="0" err="1"/>
              <a:t>aequitaslabseed.github.io</a:t>
            </a:r>
            <a:r>
              <a:rPr lang="es-CO" sz="1600" dirty="0"/>
              <a:t> </a:t>
            </a:r>
            <a:r>
              <a:rPr lang="es-CO" sz="2000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FB5DD3-E95D-D6B4-575F-DBD2BFC07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40470" y="3254582"/>
            <a:ext cx="4141760" cy="1263236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67874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A169D286-F4D7-4C8B-A6BD-D05384C7F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Freeform 6">
            <a:extLst>
              <a:ext uri="{FF2B5EF4-FFF2-40B4-BE49-F238E27FC236}">
                <a16:creationId xmlns:a16="http://schemas.microsoft.com/office/drawing/2014/main" id="{39E8235E-135E-4261-8F54-2B316E493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610728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7" name="Freeform 7">
            <a:extLst>
              <a:ext uri="{FF2B5EF4-FFF2-40B4-BE49-F238E27FC236}">
                <a16:creationId xmlns:a16="http://schemas.microsoft.com/office/drawing/2014/main" id="{D4ED8EC3-4D57-4620-93CE-4E6661F09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343079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83BCB34A-2F40-4F41-8488-A134C1C15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5" y="340424"/>
            <a:ext cx="4630139" cy="5265795"/>
          </a:xfrm>
          <a:custGeom>
            <a:avLst/>
            <a:gdLst>
              <a:gd name="connsiteX0" fmla="*/ 0 w 4630139"/>
              <a:gd name="connsiteY0" fmla="*/ 0 h 5265795"/>
              <a:gd name="connsiteX1" fmla="*/ 4630139 w 4630139"/>
              <a:gd name="connsiteY1" fmla="*/ 0 h 5265795"/>
              <a:gd name="connsiteX2" fmla="*/ 4630139 w 4630139"/>
              <a:gd name="connsiteY2" fmla="*/ 5265795 h 5265795"/>
              <a:gd name="connsiteX3" fmla="*/ 0 w 4630139"/>
              <a:gd name="connsiteY3" fmla="*/ 5265795 h 5265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0139" h="5265795">
                <a:moveTo>
                  <a:pt x="0" y="0"/>
                </a:moveTo>
                <a:lnTo>
                  <a:pt x="4630139" y="0"/>
                </a:lnTo>
                <a:lnTo>
                  <a:pt x="4630139" y="5265795"/>
                </a:lnTo>
                <a:lnTo>
                  <a:pt x="0" y="526579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FDEF70-7EC8-E75E-C95E-5A27C33C2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6649" y="983891"/>
            <a:ext cx="3104655" cy="3993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F78382DC-4207-465E-B379-1E16448AA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1780" y="1071563"/>
            <a:ext cx="7290218" cy="5242298"/>
          </a:xfrm>
          <a:custGeom>
            <a:avLst/>
            <a:gdLst>
              <a:gd name="connsiteX0" fmla="*/ 0 w 7290218"/>
              <a:gd name="connsiteY0" fmla="*/ 0 h 5242298"/>
              <a:gd name="connsiteX1" fmla="*/ 7290218 w 7290218"/>
              <a:gd name="connsiteY1" fmla="*/ 0 h 5242298"/>
              <a:gd name="connsiteX2" fmla="*/ 7290218 w 7290218"/>
              <a:gd name="connsiteY2" fmla="*/ 5242298 h 5242298"/>
              <a:gd name="connsiteX3" fmla="*/ 0 w 7290218"/>
              <a:gd name="connsiteY3" fmla="*/ 5242298 h 524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90218" h="5242298">
                <a:moveTo>
                  <a:pt x="0" y="0"/>
                </a:moveTo>
                <a:lnTo>
                  <a:pt x="7290218" y="0"/>
                </a:lnTo>
                <a:lnTo>
                  <a:pt x="7290218" y="5242298"/>
                </a:lnTo>
                <a:lnTo>
                  <a:pt x="0" y="524229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8" name="Picture 4" descr="Casas que 'levitan': 10 viviendas que desafían las leyes de la gravedad —  idealista/news">
            <a:extLst>
              <a:ext uri="{FF2B5EF4-FFF2-40B4-BE49-F238E27FC236}">
                <a16:creationId xmlns:a16="http://schemas.microsoft.com/office/drawing/2014/main" id="{5F04D223-6E8F-98DF-C6B2-33536703A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2819" y="1715030"/>
            <a:ext cx="5965580" cy="396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C6DD582-9D7F-DCCF-A817-696A7E3DCD6E}"/>
              </a:ext>
            </a:extLst>
          </p:cNvPr>
          <p:cNvSpPr txBox="1"/>
          <p:nvPr/>
        </p:nvSpPr>
        <p:spPr>
          <a:xfrm>
            <a:off x="378424" y="5713908"/>
            <a:ext cx="362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/>
              <a:t>Sin Planos / Arquitectura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B0411E-4B92-9D08-5839-8F33132CC518}"/>
              </a:ext>
            </a:extLst>
          </p:cNvPr>
          <p:cNvSpPr txBox="1"/>
          <p:nvPr/>
        </p:nvSpPr>
        <p:spPr>
          <a:xfrm>
            <a:off x="5182642" y="439844"/>
            <a:ext cx="362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dirty="0"/>
              <a:t>Con Planos / Arquitectura</a:t>
            </a:r>
          </a:p>
        </p:txBody>
      </p:sp>
    </p:spTree>
    <p:extLst>
      <p:ext uri="{BB962C8B-B14F-4D97-AF65-F5344CB8AC3E}">
        <p14:creationId xmlns:p14="http://schemas.microsoft.com/office/powerpoint/2010/main" val="355736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La Inteligencia Artificial y su potencial</a:t>
            </a:r>
            <a:endParaRPr dirty="0"/>
          </a:p>
        </p:txBody>
      </p:sp>
      <p:pic>
        <p:nvPicPr>
          <p:cNvPr id="1026" name="Picture 2" descr="Chatbot - Free communications icons">
            <a:extLst>
              <a:ext uri="{FF2B5EF4-FFF2-40B4-BE49-F238E27FC236}">
                <a16:creationId xmlns:a16="http://schemas.microsoft.com/office/drawing/2014/main" id="{D43F97E8-9A8B-A96B-5CD4-D15E21E47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47" y="1445079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BB0767A-92FD-8762-78C9-07F38BDA03FE}"/>
              </a:ext>
            </a:extLst>
          </p:cNvPr>
          <p:cNvSpPr txBox="1"/>
          <p:nvPr/>
        </p:nvSpPr>
        <p:spPr>
          <a:xfrm>
            <a:off x="228600" y="2656114"/>
            <a:ext cx="1491343" cy="8309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Automatización de la atención al cliente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6C34608-1F8E-9D91-0F5E-12EC85123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10890" y="1445079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FB96B2F-5C57-3AEC-03A4-4803A20EA044}"/>
              </a:ext>
            </a:extLst>
          </p:cNvPr>
          <p:cNvSpPr txBox="1"/>
          <p:nvPr/>
        </p:nvSpPr>
        <p:spPr>
          <a:xfrm>
            <a:off x="1948543" y="2656114"/>
            <a:ext cx="1491343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Segmentación de clientes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6359CB4-6ABD-2629-FEC7-3D29FB638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309112" y="1483461"/>
            <a:ext cx="1113064" cy="103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ADAE246-0421-7CB4-FE5D-2CEF44DA7F14}"/>
              </a:ext>
            </a:extLst>
          </p:cNvPr>
          <p:cNvSpPr txBox="1"/>
          <p:nvPr/>
        </p:nvSpPr>
        <p:spPr>
          <a:xfrm>
            <a:off x="4046765" y="2656114"/>
            <a:ext cx="1491343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Marketing digital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5163E38-C5A2-FF3C-04E0-89F5F7DE6A19}"/>
              </a:ext>
            </a:extLst>
          </p:cNvPr>
          <p:cNvCxnSpPr>
            <a:stCxn id="9" idx="3"/>
            <a:endCxn id="13" idx="1"/>
          </p:cNvCxnSpPr>
          <p:nvPr/>
        </p:nvCxnSpPr>
        <p:spPr>
          <a:xfrm>
            <a:off x="3323954" y="2001611"/>
            <a:ext cx="985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2">
            <a:extLst>
              <a:ext uri="{FF2B5EF4-FFF2-40B4-BE49-F238E27FC236}">
                <a16:creationId xmlns:a16="http://schemas.microsoft.com/office/drawing/2014/main" id="{F81A9490-C21C-9BB1-0B5C-5CA12C7E9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097362" y="1445079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6D869EE3-C02D-7C88-EB8F-FD9A71C58CA3}"/>
              </a:ext>
            </a:extLst>
          </p:cNvPr>
          <p:cNvSpPr txBox="1"/>
          <p:nvPr/>
        </p:nvSpPr>
        <p:spPr>
          <a:xfrm>
            <a:off x="5835015" y="2656114"/>
            <a:ext cx="1491343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Sistemas de recomendación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FA1A1B11-DB45-9808-B18E-82948E18B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19209" y="1483461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713C3DC5-4B74-B22D-9880-612FC9B04DA0}"/>
              </a:ext>
            </a:extLst>
          </p:cNvPr>
          <p:cNvSpPr txBox="1"/>
          <p:nvPr/>
        </p:nvSpPr>
        <p:spPr>
          <a:xfrm>
            <a:off x="7556862" y="2694496"/>
            <a:ext cx="1491343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Fijación de precios</a:t>
            </a: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FE5CD457-9D9A-1B02-1288-7D1090B78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24578" y="1483461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EEE18A4E-0470-AED9-2214-D2F98AE53C70}"/>
              </a:ext>
            </a:extLst>
          </p:cNvPr>
          <p:cNvSpPr txBox="1"/>
          <p:nvPr/>
        </p:nvSpPr>
        <p:spPr>
          <a:xfrm>
            <a:off x="9162231" y="2694496"/>
            <a:ext cx="1669055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Reconocimiento de vox</a:t>
            </a:r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23700D86-95FF-BD83-3B62-F2783B68F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5015" y="3684185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022DB0E7-706C-BE2F-A464-A234D9AA72A3}"/>
              </a:ext>
            </a:extLst>
          </p:cNvPr>
          <p:cNvSpPr txBox="1"/>
          <p:nvPr/>
        </p:nvSpPr>
        <p:spPr>
          <a:xfrm>
            <a:off x="112668" y="4895220"/>
            <a:ext cx="1607275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Reconocimiento de imágenes</a:t>
            </a:r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13E82232-3A25-B2A0-6411-486E9EC35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10890" y="3684185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384A1AC9-C935-9F60-63CC-6E2D1132DC73}"/>
              </a:ext>
            </a:extLst>
          </p:cNvPr>
          <p:cNvSpPr txBox="1"/>
          <p:nvPr/>
        </p:nvSpPr>
        <p:spPr>
          <a:xfrm>
            <a:off x="1948543" y="4895220"/>
            <a:ext cx="1607275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Evaluación de riesgo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E7561249-4F0B-4BE4-4AC6-16BCAB284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38108" y="3684185"/>
            <a:ext cx="1113064" cy="111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CuadroTexto 46">
            <a:extLst>
              <a:ext uri="{FF2B5EF4-FFF2-40B4-BE49-F238E27FC236}">
                <a16:creationId xmlns:a16="http://schemas.microsoft.com/office/drawing/2014/main" id="{B9991CA5-2983-A005-A146-05C2ACF15FCB}"/>
              </a:ext>
            </a:extLst>
          </p:cNvPr>
          <p:cNvSpPr txBox="1"/>
          <p:nvPr/>
        </p:nvSpPr>
        <p:spPr>
          <a:xfrm>
            <a:off x="5275761" y="4895220"/>
            <a:ext cx="1607275" cy="584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Los datos son el límite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CEC973D5-501E-77C3-C23F-B7E76D23C9CE}"/>
              </a:ext>
            </a:extLst>
          </p:cNvPr>
          <p:cNvSpPr txBox="1"/>
          <p:nvPr/>
        </p:nvSpPr>
        <p:spPr>
          <a:xfrm>
            <a:off x="3555818" y="4135029"/>
            <a:ext cx="1607275" cy="338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………..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La Inteligencia Artificial y su potencial</a:t>
            </a:r>
            <a:endParaRPr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AB234E2-A1AE-DB05-1CB5-E80D12546912}"/>
              </a:ext>
            </a:extLst>
          </p:cNvPr>
          <p:cNvSpPr txBox="1"/>
          <p:nvPr/>
        </p:nvSpPr>
        <p:spPr>
          <a:xfrm>
            <a:off x="490947" y="1617506"/>
            <a:ext cx="617111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dirty="0"/>
              <a:t>Las mejores empresas (</a:t>
            </a:r>
            <a:r>
              <a:rPr lang="es-CO" b="1" dirty="0" err="1"/>
              <a:t>Best</a:t>
            </a:r>
            <a:r>
              <a:rPr lang="es-CO" b="1" dirty="0"/>
              <a:t>-in-</a:t>
            </a:r>
            <a:r>
              <a:rPr lang="es-CO" b="1" dirty="0" err="1"/>
              <a:t>class</a:t>
            </a:r>
            <a:r>
              <a:rPr lang="es-CO" dirty="0"/>
              <a:t>) obtienen un </a:t>
            </a:r>
            <a:r>
              <a:rPr lang="es-CO" b="1" dirty="0"/>
              <a:t>retorno de la inversión del 13 % </a:t>
            </a:r>
            <a:r>
              <a:rPr lang="es-CO" dirty="0"/>
              <a:t>en proyectos de </a:t>
            </a:r>
            <a:r>
              <a:rPr lang="es-CO" b="1" dirty="0"/>
              <a:t>IA</a:t>
            </a:r>
            <a:r>
              <a:rPr lang="es-CO" dirty="0"/>
              <a:t>, más del doble del retorno de la inversión promedio del 5,9 % muy por debajo del costo de capital típico del 10%.</a:t>
            </a:r>
          </a:p>
          <a:p>
            <a:r>
              <a:rPr lang="es-CO" dirty="0"/>
              <a:t>(IBM, </a:t>
            </a:r>
            <a:r>
              <a:rPr lang="es-CO" dirty="0" err="1">
                <a:hlinkClick r:id="rId3"/>
              </a:rPr>
              <a:t>Generating</a:t>
            </a:r>
            <a:r>
              <a:rPr lang="es-CO" dirty="0">
                <a:hlinkClick r:id="rId3"/>
              </a:rPr>
              <a:t> ROI </a:t>
            </a:r>
            <a:r>
              <a:rPr lang="es-CO" dirty="0" err="1">
                <a:hlinkClick r:id="rId3"/>
              </a:rPr>
              <a:t>with</a:t>
            </a:r>
            <a:r>
              <a:rPr lang="es-CO" dirty="0">
                <a:hlinkClick r:id="rId3"/>
              </a:rPr>
              <a:t> AI</a:t>
            </a:r>
            <a:r>
              <a:rPr lang="es-CO" dirty="0"/>
              <a:t>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248128-BA3F-808B-14EF-E83CC71298EB}"/>
              </a:ext>
            </a:extLst>
          </p:cNvPr>
          <p:cNvSpPr txBox="1"/>
          <p:nvPr/>
        </p:nvSpPr>
        <p:spPr>
          <a:xfrm>
            <a:off x="5910943" y="2678420"/>
            <a:ext cx="6096000" cy="1754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dirty="0"/>
              <a:t>Según  un estudio de </a:t>
            </a:r>
            <a:r>
              <a:rPr lang="es-CO" dirty="0">
                <a:hlinkClick r:id="rId4"/>
              </a:rPr>
              <a:t>NTT DATA </a:t>
            </a:r>
            <a:r>
              <a:rPr lang="es-CO" dirty="0"/>
              <a:t>el 68% de las empresas que utilizan IA aseguran ser más productivas que antes de implementarla….</a:t>
            </a:r>
          </a:p>
          <a:p>
            <a:r>
              <a:rPr lang="es-CO" dirty="0"/>
              <a:t>El 74% de los responsables de datos y de analítica creen que su uso supone un impacto positivo para sus organizaciones.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26B85A-71BF-1641-0646-8BB049C0E7ED}"/>
              </a:ext>
            </a:extLst>
          </p:cNvPr>
          <p:cNvSpPr txBox="1"/>
          <p:nvPr/>
        </p:nvSpPr>
        <p:spPr>
          <a:xfrm>
            <a:off x="549728" y="4799714"/>
            <a:ext cx="10722429" cy="954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2800" b="0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¿IA como servicio/ o producto, o Desarrollo interno de IA para mi organización?</a:t>
            </a:r>
          </a:p>
        </p:txBody>
      </p:sp>
    </p:spTree>
    <p:extLst>
      <p:ext uri="{BB962C8B-B14F-4D97-AF65-F5344CB8AC3E}">
        <p14:creationId xmlns:p14="http://schemas.microsoft.com/office/powerpoint/2010/main" val="90260790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¡El futuro está aquí! ¿Está lista su arquitectura de datos? 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07B16C-40C3-1AF4-3DFF-30DB94E31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630" y="1707107"/>
            <a:ext cx="2352221" cy="2376981"/>
          </a:xfrm>
          <a:prstGeom prst="rect">
            <a:avLst/>
          </a:prstGeom>
        </p:spPr>
      </p:pic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3A2A58AE-2079-A502-C39E-2A119044B99C}"/>
              </a:ext>
            </a:extLst>
          </p:cNvPr>
          <p:cNvSpPr/>
          <p:nvPr/>
        </p:nvSpPr>
        <p:spPr>
          <a:xfrm>
            <a:off x="218798" y="1528286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Responder preguntas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63FE02CF-F7A9-C644-66A2-2641EAE0E1A0}"/>
              </a:ext>
            </a:extLst>
          </p:cNvPr>
          <p:cNvSpPr/>
          <p:nvPr/>
        </p:nvSpPr>
        <p:spPr>
          <a:xfrm>
            <a:off x="218798" y="2096891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Descubrir patrones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37DB7071-4410-58D6-672F-55280E5465D0}"/>
              </a:ext>
            </a:extLst>
          </p:cNvPr>
          <p:cNvSpPr/>
          <p:nvPr/>
        </p:nvSpPr>
        <p:spPr>
          <a:xfrm>
            <a:off x="218798" y="2675034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Automatizar procesos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F3F379ED-E748-4216-964B-48D6D58EEADE}"/>
              </a:ext>
            </a:extLst>
          </p:cNvPr>
          <p:cNvSpPr/>
          <p:nvPr/>
        </p:nvSpPr>
        <p:spPr>
          <a:xfrm>
            <a:off x="218798" y="3276148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Reemplazar roles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8F0AE690-9C4F-5873-7AEB-7439EEBEF45E}"/>
              </a:ext>
            </a:extLst>
          </p:cNvPr>
          <p:cNvSpPr/>
          <p:nvPr/>
        </p:nvSpPr>
        <p:spPr>
          <a:xfrm>
            <a:off x="218798" y="3854291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Crear nuevos roles</a:t>
            </a:r>
          </a:p>
        </p:txBody>
      </p:sp>
      <p:cxnSp>
        <p:nvCxnSpPr>
          <p:cNvPr id="10" name="Conector curvado 9">
            <a:extLst>
              <a:ext uri="{FF2B5EF4-FFF2-40B4-BE49-F238E27FC236}">
                <a16:creationId xmlns:a16="http://schemas.microsoft.com/office/drawing/2014/main" id="{DFE91190-B16E-808C-F811-89733DA2CDE6}"/>
              </a:ext>
            </a:extLst>
          </p:cNvPr>
          <p:cNvCxnSpPr>
            <a:stCxn id="3" idx="3"/>
            <a:endCxn id="2" idx="1"/>
          </p:cNvCxnSpPr>
          <p:nvPr/>
        </p:nvCxnSpPr>
        <p:spPr>
          <a:xfrm>
            <a:off x="2766055" y="1732595"/>
            <a:ext cx="705575" cy="116300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" name="Conector curvado 11">
            <a:extLst>
              <a:ext uri="{FF2B5EF4-FFF2-40B4-BE49-F238E27FC236}">
                <a16:creationId xmlns:a16="http://schemas.microsoft.com/office/drawing/2014/main" id="{77553EB3-E5F8-F9E3-C887-5B206051D684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2766055" y="2301200"/>
            <a:ext cx="705575" cy="59439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" name="Conector curvado 13">
            <a:extLst>
              <a:ext uri="{FF2B5EF4-FFF2-40B4-BE49-F238E27FC236}">
                <a16:creationId xmlns:a16="http://schemas.microsoft.com/office/drawing/2014/main" id="{2AA122F2-D2EC-D035-FFF1-376326F87FFA}"/>
              </a:ext>
            </a:extLst>
          </p:cNvPr>
          <p:cNvCxnSpPr>
            <a:stCxn id="5" idx="3"/>
            <a:endCxn id="2" idx="1"/>
          </p:cNvCxnSpPr>
          <p:nvPr/>
        </p:nvCxnSpPr>
        <p:spPr>
          <a:xfrm>
            <a:off x="2766055" y="2879343"/>
            <a:ext cx="705575" cy="1625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6" name="Conector curvado 15">
            <a:extLst>
              <a:ext uri="{FF2B5EF4-FFF2-40B4-BE49-F238E27FC236}">
                <a16:creationId xmlns:a16="http://schemas.microsoft.com/office/drawing/2014/main" id="{4F4DE5D4-FA70-0001-4873-A46716FAD82D}"/>
              </a:ext>
            </a:extLst>
          </p:cNvPr>
          <p:cNvCxnSpPr>
            <a:stCxn id="6" idx="3"/>
            <a:endCxn id="2" idx="1"/>
          </p:cNvCxnSpPr>
          <p:nvPr/>
        </p:nvCxnSpPr>
        <p:spPr>
          <a:xfrm flipV="1">
            <a:off x="2766055" y="2895598"/>
            <a:ext cx="705575" cy="58485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8" name="Conector curvado 17">
            <a:extLst>
              <a:ext uri="{FF2B5EF4-FFF2-40B4-BE49-F238E27FC236}">
                <a16:creationId xmlns:a16="http://schemas.microsoft.com/office/drawing/2014/main" id="{4193A068-1C58-7B51-5A37-52F97375CB4E}"/>
              </a:ext>
            </a:extLst>
          </p:cNvPr>
          <p:cNvCxnSpPr>
            <a:stCxn id="7" idx="3"/>
            <a:endCxn id="2" idx="1"/>
          </p:cNvCxnSpPr>
          <p:nvPr/>
        </p:nvCxnSpPr>
        <p:spPr>
          <a:xfrm flipV="1">
            <a:off x="2766055" y="2895598"/>
            <a:ext cx="705575" cy="116300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BD0B02DD-8DEC-382C-FF29-9855CF642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151" y="1707107"/>
            <a:ext cx="2352221" cy="2376981"/>
          </a:xfrm>
          <a:prstGeom prst="rect">
            <a:avLst/>
          </a:prstGeom>
        </p:spPr>
      </p:pic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08A51B7E-B795-61C8-ACFC-D5815ED718EC}"/>
              </a:ext>
            </a:extLst>
          </p:cNvPr>
          <p:cNvSpPr/>
          <p:nvPr/>
        </p:nvSpPr>
        <p:spPr>
          <a:xfrm>
            <a:off x="9425945" y="1528286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Descripción</a:t>
            </a:r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616FC75B-81B4-B26A-072F-553F2FC7C663}"/>
              </a:ext>
            </a:extLst>
          </p:cNvPr>
          <p:cNvSpPr/>
          <p:nvPr/>
        </p:nvSpPr>
        <p:spPr>
          <a:xfrm>
            <a:off x="9425945" y="2096891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Volumen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9752A9A9-74C3-26E7-2FF3-DECD75453466}"/>
              </a:ext>
            </a:extLst>
          </p:cNvPr>
          <p:cNvSpPr/>
          <p:nvPr/>
        </p:nvSpPr>
        <p:spPr>
          <a:xfrm>
            <a:off x="9425945" y="2675034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Velocidad</a:t>
            </a: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D6EA82D3-6502-FF20-162A-3924AEB77E75}"/>
              </a:ext>
            </a:extLst>
          </p:cNvPr>
          <p:cNvSpPr/>
          <p:nvPr/>
        </p:nvSpPr>
        <p:spPr>
          <a:xfrm>
            <a:off x="9425945" y="3276148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Veracidad</a:t>
            </a: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F35B3EC2-9711-F897-0064-F486A2DB4608}"/>
              </a:ext>
            </a:extLst>
          </p:cNvPr>
          <p:cNvSpPr/>
          <p:nvPr/>
        </p:nvSpPr>
        <p:spPr>
          <a:xfrm>
            <a:off x="9425945" y="3854291"/>
            <a:ext cx="2547257" cy="408618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Variedad</a:t>
            </a:r>
          </a:p>
        </p:txBody>
      </p:sp>
      <p:cxnSp>
        <p:nvCxnSpPr>
          <p:cNvPr id="29" name="Conector curvado 28">
            <a:extLst>
              <a:ext uri="{FF2B5EF4-FFF2-40B4-BE49-F238E27FC236}">
                <a16:creationId xmlns:a16="http://schemas.microsoft.com/office/drawing/2014/main" id="{0507AEC9-9157-270E-3AC7-CE96732DCBD9}"/>
              </a:ext>
            </a:extLst>
          </p:cNvPr>
          <p:cNvCxnSpPr>
            <a:stCxn id="23" idx="1"/>
            <a:endCxn id="21" idx="3"/>
          </p:cNvCxnSpPr>
          <p:nvPr/>
        </p:nvCxnSpPr>
        <p:spPr>
          <a:xfrm rot="10800000" flipV="1">
            <a:off x="8720373" y="1732594"/>
            <a:ext cx="705573" cy="116300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Conector curvado 30">
            <a:extLst>
              <a:ext uri="{FF2B5EF4-FFF2-40B4-BE49-F238E27FC236}">
                <a16:creationId xmlns:a16="http://schemas.microsoft.com/office/drawing/2014/main" id="{2266136A-A1C3-F92E-15DA-F5700F9F2171}"/>
              </a:ext>
            </a:extLst>
          </p:cNvPr>
          <p:cNvCxnSpPr>
            <a:stCxn id="24" idx="1"/>
          </p:cNvCxnSpPr>
          <p:nvPr/>
        </p:nvCxnSpPr>
        <p:spPr>
          <a:xfrm rot="10800000" flipV="1">
            <a:off x="8720373" y="2301200"/>
            <a:ext cx="705573" cy="594398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curvado 32">
            <a:extLst>
              <a:ext uri="{FF2B5EF4-FFF2-40B4-BE49-F238E27FC236}">
                <a16:creationId xmlns:a16="http://schemas.microsoft.com/office/drawing/2014/main" id="{9ACCDDCE-AE26-D30E-EEBE-04C48540B5E0}"/>
              </a:ext>
            </a:extLst>
          </p:cNvPr>
          <p:cNvCxnSpPr>
            <a:stCxn id="25" idx="1"/>
            <a:endCxn id="21" idx="3"/>
          </p:cNvCxnSpPr>
          <p:nvPr/>
        </p:nvCxnSpPr>
        <p:spPr>
          <a:xfrm rot="10800000" flipV="1">
            <a:off x="8720373" y="2879342"/>
            <a:ext cx="705573" cy="16255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onector curvado 34">
            <a:extLst>
              <a:ext uri="{FF2B5EF4-FFF2-40B4-BE49-F238E27FC236}">
                <a16:creationId xmlns:a16="http://schemas.microsoft.com/office/drawing/2014/main" id="{B3D75BCD-70DB-8416-F925-BC2A70209746}"/>
              </a:ext>
            </a:extLst>
          </p:cNvPr>
          <p:cNvCxnSpPr>
            <a:stCxn id="26" idx="1"/>
            <a:endCxn id="21" idx="3"/>
          </p:cNvCxnSpPr>
          <p:nvPr/>
        </p:nvCxnSpPr>
        <p:spPr>
          <a:xfrm rot="10800000">
            <a:off x="8720373" y="2895599"/>
            <a:ext cx="705573" cy="584859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ector curvado 36">
            <a:extLst>
              <a:ext uri="{FF2B5EF4-FFF2-40B4-BE49-F238E27FC236}">
                <a16:creationId xmlns:a16="http://schemas.microsoft.com/office/drawing/2014/main" id="{90E1CF48-719F-35D6-F8A3-21F43DC7A58F}"/>
              </a:ext>
            </a:extLst>
          </p:cNvPr>
          <p:cNvCxnSpPr>
            <a:stCxn id="27" idx="1"/>
            <a:endCxn id="21" idx="3"/>
          </p:cNvCxnSpPr>
          <p:nvPr/>
        </p:nvCxnSpPr>
        <p:spPr>
          <a:xfrm rot="10800000">
            <a:off x="8720373" y="2895598"/>
            <a:ext cx="705573" cy="1163002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DD1D59A-4384-A096-E70C-3C5445E888A6}"/>
              </a:ext>
            </a:extLst>
          </p:cNvPr>
          <p:cNvCxnSpPr>
            <a:stCxn id="2" idx="3"/>
            <a:endCxn id="21" idx="1"/>
          </p:cNvCxnSpPr>
          <p:nvPr/>
        </p:nvCxnSpPr>
        <p:spPr>
          <a:xfrm>
            <a:off x="5823851" y="2895598"/>
            <a:ext cx="544300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A4065A5-7761-CE17-EFBF-FF9D9849152D}"/>
              </a:ext>
            </a:extLst>
          </p:cNvPr>
          <p:cNvSpPr txBox="1"/>
          <p:nvPr/>
        </p:nvSpPr>
        <p:spPr>
          <a:xfrm>
            <a:off x="3471630" y="4084088"/>
            <a:ext cx="235222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Inteligencia Artificial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0781612-98C4-095C-646E-239D89C1CB72}"/>
              </a:ext>
            </a:extLst>
          </p:cNvPr>
          <p:cNvSpPr txBox="1"/>
          <p:nvPr/>
        </p:nvSpPr>
        <p:spPr>
          <a:xfrm>
            <a:off x="6368149" y="4084088"/>
            <a:ext cx="2352221" cy="369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Arquitectura de datos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B3B98C6-8DFE-A32C-5DEF-86858BFAD00C}"/>
              </a:ext>
            </a:extLst>
          </p:cNvPr>
          <p:cNvSpPr txBox="1"/>
          <p:nvPr/>
        </p:nvSpPr>
        <p:spPr>
          <a:xfrm>
            <a:off x="218798" y="4648200"/>
            <a:ext cx="11754404" cy="923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Al igual que con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BI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, el valor que la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IA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puede ofrecer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se correlaciona directamente con los datos con los que opera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, y mientras los datos sean una ocurrencia tardía, </a:t>
            </a:r>
            <a:r>
              <a:rPr kumimoji="0" lang="es-CO" sz="180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decepcionarán los resultados que pueden generar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. Si sus datos se encuentran en un estado en el que los análisis no lograron ofrecer valor, la IA también tendrá dificultades.</a:t>
            </a:r>
          </a:p>
        </p:txBody>
      </p:sp>
    </p:spTree>
    <p:extLst>
      <p:ext uri="{BB962C8B-B14F-4D97-AF65-F5344CB8AC3E}">
        <p14:creationId xmlns:p14="http://schemas.microsoft.com/office/powerpoint/2010/main" val="237677740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  <p:bldP spid="23" grpId="0" animBg="1"/>
      <p:bldP spid="24" grpId="0" animBg="1"/>
      <p:bldP spid="25" grpId="0" animBg="1"/>
      <p:bldP spid="26" grpId="0" animBg="1"/>
      <p:bldP spid="27" grpId="0" animBg="1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Resumen ejecutivo</a:t>
            </a:r>
            <a:endParaRPr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BE47C09-A45E-E3CA-4BB2-B6B994B55B52}"/>
              </a:ext>
            </a:extLst>
          </p:cNvPr>
          <p:cNvSpPr/>
          <p:nvPr/>
        </p:nvSpPr>
        <p:spPr>
          <a:xfrm>
            <a:off x="195940" y="1830545"/>
            <a:ext cx="3853543" cy="449353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b="1" dirty="0">
                <a:solidFill>
                  <a:srgbClr val="595959"/>
                </a:solidFill>
              </a:rPr>
              <a:t>Que la IA incumpla su promesa a la organización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Los proyectos de IA no están priorizados ni gobernados para evitar la sobrecarga de recursos.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>
                <a:solidFill>
                  <a:srgbClr val="FF0000"/>
                </a:solidFill>
              </a:rPr>
              <a:t>C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apacidades insuficientes de gestión de datos que permitan sistemas de IA.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>
                <a:solidFill>
                  <a:srgbClr val="595959"/>
                </a:solidFill>
              </a:rPr>
              <a:t>Falta de métricas claras para medir el progreso y el éxito de la IA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s-CO" dirty="0">
              <a:solidFill>
                <a:srgbClr val="595959"/>
              </a:solidFill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s-ES_tradnl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La IA requiere de un alto nivel de madurez en todas las capacidades de gestión de datos, y algunos de los retos que abordan los </a:t>
            </a:r>
            <a:r>
              <a:rPr kumimoji="0" lang="es-ES_tradnl" sz="14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CIO/CDO </a:t>
            </a:r>
            <a:r>
              <a:rPr kumimoji="0" lang="es-ES_tradnl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son madurar estas capacidades lo suficiente para asegurar el éxito de la 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420B8E0-BB47-28AD-4672-C827A0B83255}"/>
              </a:ext>
            </a:extLst>
          </p:cNvPr>
          <p:cNvSpPr/>
          <p:nvPr/>
        </p:nvSpPr>
        <p:spPr>
          <a:xfrm>
            <a:off x="195940" y="1461217"/>
            <a:ext cx="3853543" cy="369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El desafío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309A5F3-7BD8-186B-F27C-4C834E4C408C}"/>
              </a:ext>
            </a:extLst>
          </p:cNvPr>
          <p:cNvSpPr/>
          <p:nvPr/>
        </p:nvSpPr>
        <p:spPr>
          <a:xfrm>
            <a:off x="4180116" y="1830545"/>
            <a:ext cx="3853543" cy="45243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b="1" dirty="0">
                <a:solidFill>
                  <a:srgbClr val="595959"/>
                </a:solidFill>
              </a:rPr>
              <a:t>Falta de un mapa de ruta para la implementación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>
                <a:solidFill>
                  <a:srgbClr val="595959"/>
                </a:solidFill>
              </a:rPr>
              <a:t>Conocimiento técnico para implementar todas las nuevas tecnologías. 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>
                <a:solidFill>
                  <a:srgbClr val="595959"/>
                </a:solidFill>
              </a:rPr>
              <a:t>Los proyectos de IA se estancan debido a la baja calidad de los datos y la falta de integración de los mismos.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>
                <a:solidFill>
                  <a:srgbClr val="595959"/>
                </a:solidFill>
              </a:rPr>
              <a:t>Sin una hoja de ruta clara, la mayor parte del esfuerzo se destinará a reparar y no a ampliar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>
                <a:solidFill>
                  <a:srgbClr val="FF0000"/>
                </a:solidFill>
              </a:rPr>
              <a:t>Si sus datos no están preparados para BI y análisis, ciertamente no lo estarán para IA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s-CO" dirty="0">
              <a:solidFill>
                <a:srgbClr val="595959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ECE83B9-14D8-BBDF-D08A-B9D9361AECD1}"/>
              </a:ext>
            </a:extLst>
          </p:cNvPr>
          <p:cNvSpPr/>
          <p:nvPr/>
        </p:nvSpPr>
        <p:spPr>
          <a:xfrm>
            <a:off x="4180116" y="1466266"/>
            <a:ext cx="3853543" cy="369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Obstáculos comunes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69C5753-3732-1FAD-2C88-7D38EE4C79FA}"/>
              </a:ext>
            </a:extLst>
          </p:cNvPr>
          <p:cNvSpPr/>
          <p:nvPr/>
        </p:nvSpPr>
        <p:spPr>
          <a:xfrm>
            <a:off x="8164292" y="1830545"/>
            <a:ext cx="3853543" cy="258531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b="1" dirty="0">
                <a:solidFill>
                  <a:srgbClr val="595959"/>
                </a:solidFill>
              </a:rPr>
              <a:t>No se embarque en un proyecto de IA con una capacidad de gestión de datos inmadura</a:t>
            </a: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lang="es-CO" b="1" dirty="0">
              <a:solidFill>
                <a:srgbClr val="595959"/>
              </a:solidFill>
            </a:endParaRPr>
          </a:p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s-CO" dirty="0">
                <a:solidFill>
                  <a:srgbClr val="595959"/>
                </a:solidFill>
              </a:rPr>
              <a:t>La tasa de éxito de las iniciativas de IA está estrechamente relacionada con las capacidades de gestión de datos y una arquitectura sólida.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C4BC428-E202-370A-36C5-5CF94241206F}"/>
              </a:ext>
            </a:extLst>
          </p:cNvPr>
          <p:cNvSpPr/>
          <p:nvPr/>
        </p:nvSpPr>
        <p:spPr>
          <a:xfrm>
            <a:off x="8164292" y="1461217"/>
            <a:ext cx="3853543" cy="369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00B05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Abordaje</a:t>
            </a:r>
          </a:p>
        </p:txBody>
      </p:sp>
    </p:spTree>
    <p:extLst>
      <p:ext uri="{BB962C8B-B14F-4D97-AF65-F5344CB8AC3E}">
        <p14:creationId xmlns:p14="http://schemas.microsoft.com/office/powerpoint/2010/main" val="411867250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Inteligencia Artificial - IA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1B7527-79FE-CF84-F106-9E09AAD85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41" y="1426027"/>
            <a:ext cx="2797629" cy="27976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C2B4783-6DF1-0E2A-1337-6B48B2A06034}"/>
              </a:ext>
            </a:extLst>
          </p:cNvPr>
          <p:cNvSpPr txBox="1"/>
          <p:nvPr/>
        </p:nvSpPr>
        <p:spPr>
          <a:xfrm>
            <a:off x="239589" y="4223656"/>
            <a:ext cx="5148732" cy="21852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 rtl="0"/>
            <a:r>
              <a:rPr lang="es-CO" dirty="0">
                <a:effectLst/>
                <a:latin typeface="Arial" panose="020B0604020202020204" pitchFamily="34" charset="0"/>
              </a:rPr>
              <a:t>Alan Turing</a:t>
            </a:r>
            <a:br>
              <a:rPr lang="es-CO" dirty="0">
                <a:effectLst/>
              </a:rPr>
            </a:br>
            <a:r>
              <a:rPr lang="es-CO" dirty="0">
                <a:effectLst/>
                <a:latin typeface="Arial" panose="020B0604020202020204" pitchFamily="34" charset="0"/>
              </a:rPr>
              <a:t>1950</a:t>
            </a:r>
            <a:br>
              <a:rPr lang="es-CO" dirty="0">
                <a:effectLst/>
              </a:rPr>
            </a:br>
            <a:r>
              <a:rPr lang="es-CO" sz="1400" dirty="0">
                <a:effectLst/>
                <a:latin typeface="Courier New" panose="02070309020205020404" pitchFamily="49" charset="0"/>
              </a:rPr>
              <a:t>©</a:t>
            </a:r>
            <a:r>
              <a:rPr lang="es-CO" sz="1400" dirty="0" err="1">
                <a:effectLst/>
                <a:latin typeface="Arial" panose="020B0604020202020204" pitchFamily="34" charset="0"/>
              </a:rPr>
              <a:t>Images</a:t>
            </a:r>
            <a:r>
              <a:rPr lang="es-CO" sz="1400" dirty="0">
                <a:effectLst/>
                <a:latin typeface="Arial" panose="020B0604020202020204" pitchFamily="34" charset="0"/>
              </a:rPr>
              <a:t> </a:t>
            </a:r>
            <a:r>
              <a:rPr lang="es-CO" sz="1400" dirty="0" err="1">
                <a:effectLst/>
                <a:latin typeface="Arial" panose="020B0604020202020204" pitchFamily="34" charset="0"/>
              </a:rPr>
              <a:t>powered</a:t>
            </a:r>
            <a:r>
              <a:rPr lang="es-CO" sz="1400" dirty="0">
                <a:effectLst/>
                <a:latin typeface="Arial" panose="020B0604020202020204" pitchFamily="34" charset="0"/>
              </a:rPr>
              <a:t> </a:t>
            </a:r>
            <a:r>
              <a:rPr lang="es-CO" sz="1400" dirty="0" err="1">
                <a:effectLst/>
                <a:latin typeface="Arial" panose="020B0604020202020204" pitchFamily="34" charset="0"/>
              </a:rPr>
              <a:t>by</a:t>
            </a:r>
            <a:r>
              <a:rPr lang="es-CO" sz="1400" dirty="0">
                <a:effectLst/>
                <a:latin typeface="Arial" panose="020B0604020202020204" pitchFamily="34" charset="0"/>
              </a:rPr>
              <a:t> artificial </a:t>
            </a:r>
            <a:r>
              <a:rPr lang="es-CO" sz="1400" dirty="0" err="1">
                <a:effectLst/>
                <a:latin typeface="Arial" panose="020B0604020202020204" pitchFamily="34" charset="0"/>
              </a:rPr>
              <a:t>Intelligence</a:t>
            </a:r>
            <a:r>
              <a:rPr lang="es-CO" sz="1400" dirty="0">
                <a:effectLst/>
                <a:latin typeface="Arial" panose="020B0604020202020204" pitchFamily="34" charset="0"/>
              </a:rPr>
              <a:t> DALL E (Retrato de Alan Turing con el estilo de Salvador Dalí)</a:t>
            </a:r>
          </a:p>
          <a:p>
            <a:pPr rtl="0"/>
            <a:br>
              <a:rPr lang="es-CO" dirty="0">
                <a:effectLst/>
              </a:rPr>
            </a:br>
            <a:r>
              <a:rPr lang="es-CO" dirty="0">
                <a:effectLst/>
                <a:latin typeface="Arial" panose="020B0604020202020204" pitchFamily="34" charset="0"/>
              </a:rPr>
              <a:t>Máquinas que pueden </a:t>
            </a:r>
            <a:r>
              <a:rPr lang="es-CO" b="1" dirty="0">
                <a:effectLst/>
                <a:latin typeface="Arial" panose="020B0604020202020204" pitchFamily="34" charset="0"/>
              </a:rPr>
              <a:t>simular la inteligencia humana</a:t>
            </a:r>
            <a:r>
              <a:rPr lang="es-CO" dirty="0">
                <a:effectLst/>
                <a:latin typeface="Arial" panose="020B0604020202020204" pitchFamily="34" charset="0"/>
              </a:rPr>
              <a:t> y que incluso </a:t>
            </a:r>
            <a:r>
              <a:rPr lang="es-CO" b="1" dirty="0">
                <a:effectLst/>
                <a:latin typeface="Arial" panose="020B0604020202020204" pitchFamily="34" charset="0"/>
              </a:rPr>
              <a:t>pueden aprender</a:t>
            </a:r>
            <a:r>
              <a:rPr lang="es-CO" dirty="0">
                <a:effectLst/>
                <a:latin typeface="Arial" panose="020B0604020202020204" pitchFamily="34" charset="0"/>
              </a:rPr>
              <a:t>.</a:t>
            </a:r>
            <a:endParaRPr lang="es-CO" dirty="0">
              <a:effectLst/>
            </a:endParaRPr>
          </a:p>
          <a:p>
            <a:pPr algn="l" rtl="0"/>
            <a:endParaRPr lang="es-CO" b="0" i="0" dirty="0">
              <a:solidFill>
                <a:srgbClr val="5D6879"/>
              </a:solidFill>
              <a:effectLst/>
              <a:latin typeface="Lato" panose="020F0502020204030203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3B5450-3592-BB37-419C-3677808E7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630" y="1480656"/>
            <a:ext cx="6221573" cy="269663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B58490D-EE80-DD8C-7B16-9635EB2C85A1}"/>
              </a:ext>
            </a:extLst>
          </p:cNvPr>
          <p:cNvSpPr txBox="1"/>
          <p:nvPr/>
        </p:nvSpPr>
        <p:spPr>
          <a:xfrm>
            <a:off x="5665630" y="4299857"/>
            <a:ext cx="6221573" cy="1138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©</a:t>
            </a:r>
            <a:r>
              <a:rPr kumimoji="0" lang="es-CO" sz="12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Images</a:t>
            </a: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kumimoji="0" lang="es-CO" sz="12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powered</a:t>
            </a: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kumimoji="0" lang="es-CO" sz="12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by</a:t>
            </a: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artificial </a:t>
            </a:r>
            <a:r>
              <a:rPr kumimoji="0" lang="es-CO" sz="12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Intelligence</a:t>
            </a: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DALL E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Todas las aplicaciones actuales corresponden a Inteligencia Artificial Débil o Acotada.</a:t>
            </a:r>
          </a:p>
        </p:txBody>
      </p:sp>
    </p:spTree>
    <p:extLst>
      <p:ext uri="{BB962C8B-B14F-4D97-AF65-F5344CB8AC3E}">
        <p14:creationId xmlns:p14="http://schemas.microsoft.com/office/powerpoint/2010/main" val="85157261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Inteligencia Artificial - IA</a:t>
            </a:r>
            <a:endParaRPr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8A2F234-4090-6D17-263C-4CCC6921332A}"/>
              </a:ext>
            </a:extLst>
          </p:cNvPr>
          <p:cNvSpPr/>
          <p:nvPr/>
        </p:nvSpPr>
        <p:spPr>
          <a:xfrm>
            <a:off x="3782575" y="1328057"/>
            <a:ext cx="3189514" cy="3211286"/>
          </a:xfrm>
          <a:prstGeom prst="ellipse">
            <a:avLst/>
          </a:prstGeom>
          <a:solidFill>
            <a:srgbClr val="C59B00">
              <a:alpha val="58824"/>
            </a:srgbClr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E4BB52C-B9BC-1218-5D90-35665696EAFF}"/>
              </a:ext>
            </a:extLst>
          </p:cNvPr>
          <p:cNvSpPr/>
          <p:nvPr/>
        </p:nvSpPr>
        <p:spPr>
          <a:xfrm>
            <a:off x="2906486" y="2569028"/>
            <a:ext cx="3189514" cy="3211286"/>
          </a:xfrm>
          <a:prstGeom prst="ellipse">
            <a:avLst/>
          </a:prstGeom>
          <a:solidFill>
            <a:srgbClr val="00B0F0">
              <a:alpha val="58824"/>
            </a:srgbClr>
          </a:solidFill>
          <a:ln w="25400" cap="flat">
            <a:solidFill>
              <a:srgbClr val="00B0F0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0FE956D-3549-8C29-33A0-4A8B83887B49}"/>
              </a:ext>
            </a:extLst>
          </p:cNvPr>
          <p:cNvSpPr/>
          <p:nvPr/>
        </p:nvSpPr>
        <p:spPr>
          <a:xfrm>
            <a:off x="4501243" y="2569028"/>
            <a:ext cx="3189514" cy="3211286"/>
          </a:xfrm>
          <a:prstGeom prst="ellipse">
            <a:avLst/>
          </a:prstGeom>
          <a:solidFill>
            <a:srgbClr val="FF85FF">
              <a:alpha val="56863"/>
            </a:srgbClr>
          </a:solidFill>
          <a:ln w="25400" cap="flat">
            <a:solidFill>
              <a:srgbClr val="FF85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904D9C4-8BBB-502B-B698-E6194B8781DA}"/>
              </a:ext>
            </a:extLst>
          </p:cNvPr>
          <p:cNvSpPr txBox="1"/>
          <p:nvPr/>
        </p:nvSpPr>
        <p:spPr>
          <a:xfrm>
            <a:off x="4277874" y="1695198"/>
            <a:ext cx="2198915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s-CO" sz="1400" b="1" dirty="0">
                <a:solidFill>
                  <a:srgbClr val="002060"/>
                </a:solidFill>
              </a:rPr>
              <a:t>Matemática y Estadística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FC5B831-9551-064E-874D-28F7BF3D512E}"/>
              </a:ext>
            </a:extLst>
          </p:cNvPr>
          <p:cNvSpPr txBox="1"/>
          <p:nvPr/>
        </p:nvSpPr>
        <p:spPr>
          <a:xfrm>
            <a:off x="2906486" y="4535559"/>
            <a:ext cx="2198915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Ciencias 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 la 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computación / TI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62CE63-F431-97DF-374C-CABFBAF92F8F}"/>
              </a:ext>
            </a:extLst>
          </p:cNvPr>
          <p:cNvSpPr txBox="1"/>
          <p:nvPr/>
        </p:nvSpPr>
        <p:spPr>
          <a:xfrm>
            <a:off x="5491842" y="4535559"/>
            <a:ext cx="2198915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Dominio del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400" b="1" dirty="0">
                <a:solidFill>
                  <a:srgbClr val="002060"/>
                </a:solidFill>
              </a:rPr>
              <a:t>Negocio /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Conocimiento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3E18538-7092-4207-9B40-41104751FCE7}"/>
              </a:ext>
            </a:extLst>
          </p:cNvPr>
          <p:cNvSpPr txBox="1"/>
          <p:nvPr/>
        </p:nvSpPr>
        <p:spPr>
          <a:xfrm>
            <a:off x="4223446" y="3368485"/>
            <a:ext cx="2198915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CIENCIA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400" b="1" dirty="0">
                <a:solidFill>
                  <a:srgbClr val="002060"/>
                </a:solidFill>
              </a:rPr>
              <a:t>DE 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DATOS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E17DDD7-1EFC-CF23-6677-A77E5DCDCD76}"/>
              </a:ext>
            </a:extLst>
          </p:cNvPr>
          <p:cNvSpPr txBox="1"/>
          <p:nvPr/>
        </p:nvSpPr>
        <p:spPr>
          <a:xfrm>
            <a:off x="5317249" y="2927614"/>
            <a:ext cx="2198915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Analítica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400" b="1" dirty="0">
                <a:solidFill>
                  <a:srgbClr val="002060"/>
                </a:solidFill>
              </a:rPr>
              <a:t>de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datos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AA22B52-B884-8581-8FB9-7B4055ADA102}"/>
              </a:ext>
            </a:extLst>
          </p:cNvPr>
          <p:cNvSpPr txBox="1"/>
          <p:nvPr/>
        </p:nvSpPr>
        <p:spPr>
          <a:xfrm>
            <a:off x="3161876" y="2887094"/>
            <a:ext cx="2198915" cy="954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algn="ctr"/>
            <a:r>
              <a:rPr lang="es-CO" sz="1400" b="1" dirty="0">
                <a:solidFill>
                  <a:srgbClr val="002060"/>
                </a:solidFill>
              </a:rPr>
              <a:t>Machine</a:t>
            </a:r>
          </a:p>
          <a:p>
            <a:pPr algn="ctr"/>
            <a:r>
              <a:rPr lang="es-CO" sz="1400" b="1" dirty="0">
                <a:solidFill>
                  <a:srgbClr val="002060"/>
                </a:solidFill>
              </a:rPr>
              <a:t>Learning</a:t>
            </a:r>
          </a:p>
          <a:p>
            <a:pPr algn="ctr"/>
            <a:r>
              <a:rPr lang="es-CO" sz="1400" b="1" dirty="0">
                <a:solidFill>
                  <a:srgbClr val="002060"/>
                </a:solidFill>
              </a:rPr>
              <a:t>-</a:t>
            </a:r>
          </a:p>
          <a:p>
            <a:pPr algn="ctr"/>
            <a:r>
              <a:rPr lang="es-CO" sz="1400" b="1" dirty="0">
                <a:solidFill>
                  <a:srgbClr val="002060"/>
                </a:solidFill>
              </a:rPr>
              <a:t>IA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761AE-9C51-6B3C-182A-AB8B78817D3C}"/>
              </a:ext>
            </a:extLst>
          </p:cNvPr>
          <p:cNvSpPr txBox="1"/>
          <p:nvPr/>
        </p:nvSpPr>
        <p:spPr>
          <a:xfrm>
            <a:off x="4261334" y="4548016"/>
            <a:ext cx="2198915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1" i="0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Soluciones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400" b="1" dirty="0">
                <a:solidFill>
                  <a:srgbClr val="002060"/>
                </a:solidFill>
              </a:rPr>
              <a:t>Técnicas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1400" b="1" i="1" dirty="0">
                <a:solidFill>
                  <a:srgbClr val="002060"/>
                </a:solidFill>
              </a:rPr>
              <a:t>a</a:t>
            </a:r>
            <a:r>
              <a:rPr kumimoji="0" lang="es-CO" sz="1400" b="1" i="1" u="none" strike="noStrike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 hoc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18D2476-B16C-E324-F4A2-7C6D751B814E}"/>
              </a:ext>
            </a:extLst>
          </p:cNvPr>
          <p:cNvSpPr txBox="1"/>
          <p:nvPr/>
        </p:nvSpPr>
        <p:spPr>
          <a:xfrm>
            <a:off x="59449" y="6257484"/>
            <a:ext cx="7690757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Taylor, D. (2016).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Battle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data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science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Venn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diagrams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KDNuggets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News. 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hlinkClick r:id="rId3"/>
              </a:rPr>
              <a:t>https://deeplearning.lipingyang.org/wp-content/uploads/2017/10/Battle-of-the-Data-Science-Venn-Diagrams.pdf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endParaRPr lang="es-CO" sz="1100" dirty="0"/>
          </a:p>
        </p:txBody>
      </p:sp>
    </p:spTree>
    <p:extLst>
      <p:ext uri="{BB962C8B-B14F-4D97-AF65-F5344CB8AC3E}">
        <p14:creationId xmlns:p14="http://schemas.microsoft.com/office/powerpoint/2010/main" val="222448198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Ciclo de vida:  </a:t>
            </a:r>
            <a:r>
              <a:rPr lang="es-ES" dirty="0" err="1"/>
              <a:t>MLOps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F9AAE56-0E16-1ED6-9136-1CE2A6F55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132" y="1091352"/>
            <a:ext cx="7772400" cy="467529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86E9864-1220-C13A-B90F-BE6668D601C1}"/>
              </a:ext>
            </a:extLst>
          </p:cNvPr>
          <p:cNvSpPr txBox="1"/>
          <p:nvPr/>
        </p:nvSpPr>
        <p:spPr>
          <a:xfrm>
            <a:off x="104172" y="6019644"/>
            <a:ext cx="7697165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ML4Devs, </a:t>
            </a:r>
            <a:r>
              <a:rPr kumimoji="0" lang="es-CO" sz="14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MLOps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: Machine Learning </a:t>
            </a:r>
            <a:r>
              <a:rPr kumimoji="0" lang="es-CO" sz="14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Life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  <a:r>
              <a:rPr kumimoji="0" lang="es-CO" sz="14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Cycle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, consultado, viernes 8 de septiembre de 2023, 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  <a:hlinkClick r:id="rId4"/>
              </a:rPr>
              <a:t>https://www.ml4devs.com/articles/mlops-machine-learning-life-cycle/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0762672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Solo una pequeña fracción de los sistemas IA/ML del mundo real está compuesta por el Modelo IA/ML.</a:t>
            </a:r>
            <a:endParaRPr dirty="0"/>
          </a:p>
        </p:txBody>
      </p:sp>
      <p:pic>
        <p:nvPicPr>
          <p:cNvPr id="2" name="Picture 2" descr="Los sistemas de AA son más que un código de AA.">
            <a:extLst>
              <a:ext uri="{FF2B5EF4-FFF2-40B4-BE49-F238E27FC236}">
                <a16:creationId xmlns:a16="http://schemas.microsoft.com/office/drawing/2014/main" id="{0C11770E-4F60-27E9-19C5-65EE961F5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24" y="1448779"/>
            <a:ext cx="10903352" cy="451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EEC383C-C6D9-1230-F16D-85EC8987AD94}"/>
              </a:ext>
            </a:extLst>
          </p:cNvPr>
          <p:cNvSpPr txBox="1"/>
          <p:nvPr/>
        </p:nvSpPr>
        <p:spPr>
          <a:xfrm>
            <a:off x="0" y="5903897"/>
            <a:ext cx="7697165" cy="9541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Google Cloud, </a:t>
            </a:r>
            <a:r>
              <a:rPr kumimoji="0" lang="es-CO" sz="14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MLOps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: canalizaciones de automatización y entrega continua en el aprendizaje automático, consultado, viernes 8 de septiembre de 2023, 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  <a:hlinkClick r:id="rId4"/>
              </a:rPr>
              <a:t>https://cloud.google.com/architecture/mlops-continuous-delivery-and-automation-pipelines-in-machine-learning?hl=es-419</a:t>
            </a: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337439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Deuda técnica" (</a:t>
            </a:r>
            <a:r>
              <a:rPr lang="es-ES" i="1" dirty="0" err="1"/>
              <a:t>Technical</a:t>
            </a:r>
            <a:r>
              <a:rPr lang="es-ES" i="1" dirty="0"/>
              <a:t> </a:t>
            </a:r>
            <a:r>
              <a:rPr lang="es-ES" i="1" dirty="0" err="1"/>
              <a:t>Debt</a:t>
            </a:r>
            <a:r>
              <a:rPr lang="es-ES" dirty="0"/>
              <a:t>)</a:t>
            </a:r>
            <a:endParaRPr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AC7DD9-887A-4DEE-C013-C1FE5CE59737}"/>
              </a:ext>
            </a:extLst>
          </p:cNvPr>
          <p:cNvSpPr txBox="1"/>
          <p:nvPr/>
        </p:nvSpPr>
        <p:spPr>
          <a:xfrm rot="16200000">
            <a:off x="9351607" y="3201854"/>
            <a:ext cx="4386805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Bogner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J.,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Verdecchia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R., &amp;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Gerostathopoulos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I. (2021, May).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Characterizing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technical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debt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antipatterns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AI-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systematic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mapping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study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In </a:t>
            </a:r>
            <a:r>
              <a:rPr lang="es-CO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2021 IEEE/ACM International </a:t>
            </a:r>
            <a:r>
              <a:rPr lang="es-CO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Conference</a:t>
            </a:r>
            <a:r>
              <a:rPr lang="es-CO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</a:t>
            </a:r>
            <a:r>
              <a:rPr lang="es-CO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Technical</a:t>
            </a:r>
            <a:r>
              <a:rPr lang="es-CO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Debt</a:t>
            </a:r>
            <a:r>
              <a:rPr lang="es-CO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s-CO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TechDebt</a:t>
            </a:r>
            <a:r>
              <a:rPr lang="es-CO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es-CO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64-73). IEEE.</a:t>
            </a:r>
            <a:endParaRPr lang="es-CO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FFD91F-6A80-218B-53C7-44530A9B4507}"/>
              </a:ext>
            </a:extLst>
          </p:cNvPr>
          <p:cNvSpPr txBox="1"/>
          <p:nvPr/>
        </p:nvSpPr>
        <p:spPr>
          <a:xfrm>
            <a:off x="0" y="6257836"/>
            <a:ext cx="7759934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Liu, J., Huang, Q., Xia, X., Shihab, E., Lo, D., &amp; Li, S. (2020, June).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Is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frameworks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free?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characterizing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technical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debt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deep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learning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frameworks</a:t>
            </a:r>
            <a:r>
              <a:rPr lang="es-CO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In 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</a:t>
            </a:r>
            <a:r>
              <a:rPr lang="es-CO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es-CO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</a:t>
            </a:r>
            <a:r>
              <a:rPr lang="es-CO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ACM/IEEE 42nd International 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Conference</a:t>
            </a:r>
            <a:r>
              <a:rPr lang="es-CO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on</a:t>
            </a:r>
            <a:r>
              <a:rPr lang="es-CO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Software 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Engineering</a:t>
            </a:r>
            <a:r>
              <a:rPr lang="es-CO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Software 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Engineering</a:t>
            </a:r>
            <a:r>
              <a:rPr lang="es-CO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lang="es-CO" sz="11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Soc</a:t>
            </a:r>
            <a:endParaRPr lang="es-CO" sz="11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FA90605-C8A0-6E59-2B4A-24154F27A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47" y="1273261"/>
            <a:ext cx="1412066" cy="141206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DFD499-F498-EB34-B525-A6E851321727}"/>
              </a:ext>
            </a:extLst>
          </p:cNvPr>
          <p:cNvSpPr txBox="1"/>
          <p:nvPr/>
        </p:nvSpPr>
        <p:spPr>
          <a:xfrm>
            <a:off x="1903013" y="1812096"/>
            <a:ext cx="184718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Deuda de diseño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88FC63F-9779-D184-7540-AB83757C5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47" y="2905200"/>
            <a:ext cx="1412067" cy="141206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A716256-0615-2ACE-CE5C-0B9417B932BB}"/>
              </a:ext>
            </a:extLst>
          </p:cNvPr>
          <p:cNvSpPr txBox="1"/>
          <p:nvPr/>
        </p:nvSpPr>
        <p:spPr>
          <a:xfrm>
            <a:off x="1907733" y="3288070"/>
            <a:ext cx="184718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Deuda en requerimientos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F38B7B1-E5FC-51B9-4625-685A10979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47" y="4522824"/>
            <a:ext cx="1412067" cy="141206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0D407D1-4097-86C9-27E4-1372C4EC239E}"/>
              </a:ext>
            </a:extLst>
          </p:cNvPr>
          <p:cNvSpPr txBox="1"/>
          <p:nvPr/>
        </p:nvSpPr>
        <p:spPr>
          <a:xfrm>
            <a:off x="1903013" y="4832659"/>
            <a:ext cx="184718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Deuda en algoritmos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7E38C7B-2692-07D0-62F7-3C31644AE2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2077" y="1273261"/>
            <a:ext cx="1412066" cy="141206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41A19D0-80E7-06D7-7412-7CAF2E7F76A2}"/>
              </a:ext>
            </a:extLst>
          </p:cNvPr>
          <p:cNvSpPr txBox="1"/>
          <p:nvPr/>
        </p:nvSpPr>
        <p:spPr>
          <a:xfrm>
            <a:off x="5544143" y="1812096"/>
            <a:ext cx="184718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Deuda de documentación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288FD60-4672-5759-8192-A1B6DACF20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2077" y="2905200"/>
            <a:ext cx="1412067" cy="141206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BC7AE9E4-8BAE-667E-B8D2-25180DB1EE96}"/>
              </a:ext>
            </a:extLst>
          </p:cNvPr>
          <p:cNvSpPr txBox="1"/>
          <p:nvPr/>
        </p:nvSpPr>
        <p:spPr>
          <a:xfrm>
            <a:off x="5548863" y="3288070"/>
            <a:ext cx="184718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Deuda de Testeo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C75C0BE-BE7D-E99B-EAC2-E35EC8B07D2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2077" y="4522824"/>
            <a:ext cx="1412067" cy="141206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F6EAB28-29F0-1ED0-43C7-EB7990509118}"/>
              </a:ext>
            </a:extLst>
          </p:cNvPr>
          <p:cNvSpPr txBox="1"/>
          <p:nvPr/>
        </p:nvSpPr>
        <p:spPr>
          <a:xfrm>
            <a:off x="5544143" y="4832659"/>
            <a:ext cx="1847184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Deuda de compatibilidad</a:t>
            </a:r>
          </a:p>
        </p:txBody>
      </p:sp>
    </p:spTree>
    <p:extLst>
      <p:ext uri="{BB962C8B-B14F-4D97-AF65-F5344CB8AC3E}">
        <p14:creationId xmlns:p14="http://schemas.microsoft.com/office/powerpoint/2010/main" val="412764156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Los Retos que Afrontamos “</a:t>
            </a:r>
            <a:r>
              <a:rPr lang="es-ES" i="1" dirty="0" err="1"/>
              <a:t>Challenge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CIO </a:t>
            </a:r>
            <a:r>
              <a:rPr lang="es-ES" i="1" dirty="0" err="1"/>
              <a:t>or</a:t>
            </a:r>
            <a:r>
              <a:rPr lang="es-ES" i="1" dirty="0"/>
              <a:t> CDO</a:t>
            </a:r>
            <a:r>
              <a:rPr lang="es-ES" dirty="0"/>
              <a:t>” 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20F148-71EB-7ECA-9F3E-675F4AB52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1" y="1850983"/>
            <a:ext cx="2090195" cy="209019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72D94FA-6CD0-12F1-85EC-A32E7833C86C}"/>
              </a:ext>
            </a:extLst>
          </p:cNvPr>
          <p:cNvSpPr txBox="1"/>
          <p:nvPr/>
        </p:nvSpPr>
        <p:spPr>
          <a:xfrm>
            <a:off x="291777" y="3784921"/>
            <a:ext cx="2696901" cy="147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Proporcionar las fuentes de datos en el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momento adecuado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con el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contenido y la calidad 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adecuados</a:t>
            </a:r>
          </a:p>
        </p:txBody>
      </p:sp>
      <p:pic>
        <p:nvPicPr>
          <p:cNvPr id="5124" name="Picture 4" descr="India enters elite tech club, joins Global Partnership on Artificial  Intelligence, ET Government">
            <a:extLst>
              <a:ext uri="{FF2B5EF4-FFF2-40B4-BE49-F238E27FC236}">
                <a16:creationId xmlns:a16="http://schemas.microsoft.com/office/drawing/2014/main" id="{A5285853-EC76-13F2-4632-A8688E84C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193" y="1850983"/>
            <a:ext cx="2578584" cy="193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940F26A-2722-7A6E-3DD1-D8CAFDC2C327}"/>
              </a:ext>
            </a:extLst>
          </p:cNvPr>
          <p:cNvSpPr txBox="1"/>
          <p:nvPr/>
        </p:nvSpPr>
        <p:spPr>
          <a:xfrm>
            <a:off x="3199194" y="3784921"/>
            <a:ext cx="2578584" cy="147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Priorizar la demanda 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 proyectos de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IA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y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gobernar los proyectos 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para evitar la sobrecarga de recursos.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6416FB1B-D771-6EA4-9C20-5D69D199B4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8292" y="1722053"/>
            <a:ext cx="2578585" cy="206286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6EA98D7-CFEB-88C7-6527-90D42DAA290B}"/>
              </a:ext>
            </a:extLst>
          </p:cNvPr>
          <p:cNvSpPr txBox="1"/>
          <p:nvPr/>
        </p:nvSpPr>
        <p:spPr>
          <a:xfrm>
            <a:off x="5989743" y="3784921"/>
            <a:ext cx="2578584" cy="923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Tener una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capacidad madura </a:t>
            </a:r>
            <a:r>
              <a:rPr kumimoji="0" lang="es-CO" sz="180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en gestión de datos.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2FAB6A5-DEF2-44A1-9A68-82A88A2084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25176" y="1722053"/>
            <a:ext cx="2066400" cy="2066400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C90BDC1-7F1A-67D5-6180-9344B4E3F690}"/>
              </a:ext>
            </a:extLst>
          </p:cNvPr>
          <p:cNvSpPr txBox="1"/>
          <p:nvPr/>
        </p:nvSpPr>
        <p:spPr>
          <a:xfrm>
            <a:off x="8568328" y="3784921"/>
            <a:ext cx="2578584" cy="120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Disponer de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métricas claras</a:t>
            </a:r>
            <a:r>
              <a:rPr kumimoji="0" lang="es-CO" sz="180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para medir el progreso y el éxito de las iniciativas de IA.</a:t>
            </a:r>
          </a:p>
        </p:txBody>
      </p:sp>
    </p:spTree>
    <p:extLst>
      <p:ext uri="{BB962C8B-B14F-4D97-AF65-F5344CB8AC3E}">
        <p14:creationId xmlns:p14="http://schemas.microsoft.com/office/powerpoint/2010/main" val="424075076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Obstáculos Comunes</a:t>
            </a:r>
            <a:endParaRPr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79FCF9-BB7F-37F4-C230-A794F8FDE06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76154" y="1253330"/>
            <a:ext cx="5181600" cy="5112745"/>
          </a:xfrm>
        </p:spPr>
        <p:txBody>
          <a:bodyPr>
            <a:normAutofit/>
          </a:bodyPr>
          <a:lstStyle/>
          <a:p>
            <a:r>
              <a:rPr lang="es-CO" sz="2000" b="1" dirty="0"/>
              <a:t>Calidad de los datos: </a:t>
            </a:r>
            <a:r>
              <a:rPr lang="es-CO" sz="2000" dirty="0"/>
              <a:t>Calidad y falta de integración son obstáculos importantes para una rápida adopción de la IA porque los científicos de datos dedican su tiempo a limpiarlos en lugar de analizarlos.</a:t>
            </a:r>
          </a:p>
          <a:p>
            <a:r>
              <a:rPr lang="es-CO" sz="2000" dirty="0"/>
              <a:t>Durante la creación de modelos de IA, se requiere acceso a todo el universo de datos para obtener conocimientos eficaces.</a:t>
            </a:r>
          </a:p>
          <a:p>
            <a:r>
              <a:rPr lang="es-CO" sz="2000" dirty="0"/>
              <a:t>Las empresas olvidan que el </a:t>
            </a:r>
            <a:r>
              <a:rPr lang="es-CO" sz="2000" b="1" dirty="0"/>
              <a:t>sesgo inherente a sus datos</a:t>
            </a:r>
            <a:r>
              <a:rPr lang="es-CO" sz="2000" dirty="0"/>
              <a:t> puede influir en los modelos de aprendizaje automático.</a:t>
            </a:r>
          </a:p>
          <a:p>
            <a:r>
              <a:rPr lang="es-CO" sz="2000" dirty="0"/>
              <a:t>La IA trae consigo nuevos conceptos como </a:t>
            </a:r>
            <a:r>
              <a:rPr lang="es-CO" sz="2000" b="1" dirty="0"/>
              <a:t>Data Lake, computación en la nube y modelos de aprendizaje automático </a:t>
            </a:r>
            <a:r>
              <a:rPr lang="es-CO" sz="2000" dirty="0"/>
              <a:t>que requieren una estrategia y una implementación planificada.</a:t>
            </a:r>
          </a:p>
        </p:txBody>
      </p:sp>
      <p:pic>
        <p:nvPicPr>
          <p:cNvPr id="6146" name="Picture 2" descr="Errores de implementación de IA basada en la nube y aprendizaje automático  – KW Foundation">
            <a:extLst>
              <a:ext uri="{FF2B5EF4-FFF2-40B4-BE49-F238E27FC236}">
                <a16:creationId xmlns:a16="http://schemas.microsoft.com/office/drawing/2014/main" id="{EB42609D-6E30-667D-03B4-B003EA46B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248" y="1714500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C53B833-D152-05C1-ADD0-8B202D7885C6}"/>
              </a:ext>
            </a:extLst>
          </p:cNvPr>
          <p:cNvSpPr txBox="1"/>
          <p:nvPr/>
        </p:nvSpPr>
        <p:spPr>
          <a:xfrm>
            <a:off x="6334248" y="5278056"/>
            <a:ext cx="5143500" cy="4616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Imagen tomada de: </a:t>
            </a: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  <a:hlinkClick r:id="rId4"/>
              </a:rPr>
              <a:t>https://kwfoundation.org/blog/2021/02/10/errores-de-implementacion-de-ia-basada-en-la-nube-y-aprendizaje-automatico/</a:t>
            </a:r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3061693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490947" y="93609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Proyectando un Mapa de Ruta</a:t>
            </a:r>
            <a:endParaRPr dirty="0"/>
          </a:p>
        </p:txBody>
      </p:sp>
      <p:pic>
        <p:nvPicPr>
          <p:cNvPr id="8194" name="Picture 2" descr="Default View">
            <a:extLst>
              <a:ext uri="{FF2B5EF4-FFF2-40B4-BE49-F238E27FC236}">
                <a16:creationId xmlns:a16="http://schemas.microsoft.com/office/drawing/2014/main" id="{37EFFC09-1EE2-3876-BDEE-DECD167A3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48" y="1303735"/>
            <a:ext cx="5017304" cy="371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ndia enters elite tech club, joins Global Partnership on Artificial  Intelligence, ET Government">
            <a:extLst>
              <a:ext uri="{FF2B5EF4-FFF2-40B4-BE49-F238E27FC236}">
                <a16:creationId xmlns:a16="http://schemas.microsoft.com/office/drawing/2014/main" id="{AFC73C7A-5109-C665-5958-14A143D95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190" y="5584786"/>
            <a:ext cx="1697620" cy="1179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EA132FC-C341-162F-E680-234FAF524BF2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6096000" y="4946650"/>
            <a:ext cx="0" cy="63813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EC1A8C7-17D4-7E34-1B3F-773C46CECDE9}"/>
              </a:ext>
            </a:extLst>
          </p:cNvPr>
          <p:cNvSpPr txBox="1"/>
          <p:nvPr/>
        </p:nvSpPr>
        <p:spPr>
          <a:xfrm>
            <a:off x="4797083" y="5066664"/>
            <a:ext cx="3179299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proporcionando una base sólida para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D8DC478-3BA9-C69D-2765-1FBE4BFD8260}"/>
              </a:ext>
            </a:extLst>
          </p:cNvPr>
          <p:cNvSpPr txBox="1"/>
          <p:nvPr/>
        </p:nvSpPr>
        <p:spPr>
          <a:xfrm>
            <a:off x="207870" y="2204346"/>
            <a:ext cx="2955073" cy="2862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Asegúrese de tener los datos correctos en el volumen y la veracidad requeridos por sus iniciativas de IA.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/>
              <a:t>Visualice una arquitectura que tenga en cuenta el ciclo de vida completo de las iniciativas de IA</a:t>
            </a: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97392E4-6063-836E-415C-918E1928E19C}"/>
              </a:ext>
            </a:extLst>
          </p:cNvPr>
          <p:cNvSpPr txBox="1"/>
          <p:nvPr/>
        </p:nvSpPr>
        <p:spPr>
          <a:xfrm>
            <a:off x="8767661" y="2204346"/>
            <a:ext cx="3216469" cy="3693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El aprendizaje automático (ML) es una tarea compleja que requiere una gran cantidad de datos de diversas fuentes.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/>
              <a:t>Una arquitectura sólida que defina los componentes tecnológicos, de aplicaciones y de negocio requeridos facilitará la implementación de iniciativas de IA y ML.</a:t>
            </a: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0421341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201015" y="82458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dirty="0"/>
              <a:t>Las </a:t>
            </a:r>
            <a:r>
              <a:rPr lang="es-ES" b="1" dirty="0">
                <a:solidFill>
                  <a:srgbClr val="0070C0"/>
                </a:solidFill>
              </a:rPr>
              <a:t>dependencias</a:t>
            </a:r>
            <a:r>
              <a:rPr lang="es-ES" dirty="0"/>
              <a:t> de datos son más </a:t>
            </a:r>
            <a:r>
              <a:rPr lang="es-ES" b="1" dirty="0"/>
              <a:t>costosas/problemáticas </a:t>
            </a:r>
            <a:r>
              <a:rPr lang="es-ES" dirty="0"/>
              <a:t>que las dependencias de código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6FC79EC-1724-6E93-3B7E-E34C28B74CC5}"/>
              </a:ext>
            </a:extLst>
          </p:cNvPr>
          <p:cNvSpPr txBox="1"/>
          <p:nvPr/>
        </p:nvSpPr>
        <p:spPr>
          <a:xfrm>
            <a:off x="201015" y="2475570"/>
            <a:ext cx="3557239" cy="3046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2400" b="0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El aprendizaje automático depende de los </a:t>
            </a:r>
            <a:r>
              <a:rPr kumimoji="0" lang="es-CO" sz="2400" b="1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datos</a:t>
            </a:r>
            <a:r>
              <a:rPr kumimoji="0" lang="es-CO" sz="2400" b="0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y, a medida que las </a:t>
            </a:r>
            <a:r>
              <a:rPr kumimoji="0" lang="es-CO" sz="2400" b="1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características de los datos cambian </a:t>
            </a:r>
            <a:r>
              <a:rPr kumimoji="0" lang="es-CO" sz="2400" b="0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con el tiempo, el modelo puede verse influenciado.</a:t>
            </a:r>
          </a:p>
        </p:txBody>
      </p:sp>
      <p:pic>
        <p:nvPicPr>
          <p:cNvPr id="10242" name="Picture 2" descr="Infirm, insecure, shake, shaky, unstable, wobbly icon - Download on  Iconfinder">
            <a:extLst>
              <a:ext uri="{FF2B5EF4-FFF2-40B4-BE49-F238E27FC236}">
                <a16:creationId xmlns:a16="http://schemas.microsoft.com/office/drawing/2014/main" id="{6D21B3D0-1D7A-87DB-B412-2467D928D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966" y="1403196"/>
            <a:ext cx="1284868" cy="128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DB2E9AF-ED49-9D33-1667-3059887DE88A}"/>
              </a:ext>
            </a:extLst>
          </p:cNvPr>
          <p:cNvSpPr txBox="1"/>
          <p:nvPr/>
        </p:nvSpPr>
        <p:spPr>
          <a:xfrm>
            <a:off x="3933248" y="2688064"/>
            <a:ext cx="2308303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Dependencias de datos inestables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05C784-8D33-C300-ADAB-D17BCB91BD18}"/>
              </a:ext>
            </a:extLst>
          </p:cNvPr>
          <p:cNvSpPr txBox="1"/>
          <p:nvPr/>
        </p:nvSpPr>
        <p:spPr>
          <a:xfrm>
            <a:off x="5729834" y="1722466"/>
            <a:ext cx="6462166" cy="646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La fuente de datos puede cambiar y dichos cambios pueden tener un efecto decreciente en el modelo.  </a:t>
            </a:r>
          </a:p>
        </p:txBody>
      </p:sp>
      <p:pic>
        <p:nvPicPr>
          <p:cNvPr id="10244" name="Picture 4" descr="Laws Icon - Download in Line Style">
            <a:extLst>
              <a:ext uri="{FF2B5EF4-FFF2-40B4-BE49-F238E27FC236}">
                <a16:creationId xmlns:a16="http://schemas.microsoft.com/office/drawing/2014/main" id="{333A73B5-B09D-DDA3-66F7-6A54568A0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309" y="3649769"/>
            <a:ext cx="839439" cy="83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BD433A8-74B2-5A37-8998-057D9F00BE92}"/>
              </a:ext>
            </a:extLst>
          </p:cNvPr>
          <p:cNvSpPr txBox="1"/>
          <p:nvPr/>
        </p:nvSpPr>
        <p:spPr>
          <a:xfrm>
            <a:off x="7523538" y="4489208"/>
            <a:ext cx="980979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Leyes y normativas</a:t>
            </a:r>
          </a:p>
        </p:txBody>
      </p:sp>
      <p:pic>
        <p:nvPicPr>
          <p:cNvPr id="10246" name="Picture 6" descr="context style icon vector de Stock | Adobe Stock">
            <a:extLst>
              <a:ext uri="{FF2B5EF4-FFF2-40B4-BE49-F238E27FC236}">
                <a16:creationId xmlns:a16="http://schemas.microsoft.com/office/drawing/2014/main" id="{FCDF7D54-371C-1291-06E0-2C35103E8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764" y="3649769"/>
            <a:ext cx="839440" cy="83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EE474FB-CBAE-F5C5-0031-DE0F05961959}"/>
              </a:ext>
            </a:extLst>
          </p:cNvPr>
          <p:cNvSpPr txBox="1"/>
          <p:nvPr/>
        </p:nvSpPr>
        <p:spPr>
          <a:xfrm>
            <a:off x="6241551" y="4489208"/>
            <a:ext cx="980979" cy="7386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Cambios en el contexto</a:t>
            </a:r>
          </a:p>
        </p:txBody>
      </p:sp>
      <p:pic>
        <p:nvPicPr>
          <p:cNvPr id="10248" name="Picture 8" descr="Proveedor - Iconos gratis de envío y entrega">
            <a:extLst>
              <a:ext uri="{FF2B5EF4-FFF2-40B4-BE49-F238E27FC236}">
                <a16:creationId xmlns:a16="http://schemas.microsoft.com/office/drawing/2014/main" id="{BECA9219-23A7-B418-A6B6-60046B19C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5525" y="3649769"/>
            <a:ext cx="839439" cy="83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B14DD04-F604-FF8F-5B77-B7148B8884E2}"/>
              </a:ext>
            </a:extLst>
          </p:cNvPr>
          <p:cNvSpPr txBox="1"/>
          <p:nvPr/>
        </p:nvSpPr>
        <p:spPr>
          <a:xfrm>
            <a:off x="8641113" y="4489208"/>
            <a:ext cx="116826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Cambios en proveedores</a:t>
            </a:r>
          </a:p>
        </p:txBody>
      </p:sp>
      <p:pic>
        <p:nvPicPr>
          <p:cNvPr id="10250" name="Picture 10" descr="Artificial intelligence - Free technology icons">
            <a:extLst>
              <a:ext uri="{FF2B5EF4-FFF2-40B4-BE49-F238E27FC236}">
                <a16:creationId xmlns:a16="http://schemas.microsoft.com/office/drawing/2014/main" id="{2B466CDC-0E7F-2037-4435-73A0AAB7A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741" y="3747961"/>
            <a:ext cx="721295" cy="72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36D4CDF-7129-4D01-2D71-96A93897E5E8}"/>
              </a:ext>
            </a:extLst>
          </p:cNvPr>
          <p:cNvSpPr txBox="1"/>
          <p:nvPr/>
        </p:nvSpPr>
        <p:spPr>
          <a:xfrm>
            <a:off x="9809374" y="4489208"/>
            <a:ext cx="1168261" cy="5232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Cambios en los modelos</a:t>
            </a:r>
          </a:p>
        </p:txBody>
      </p:sp>
    </p:spTree>
    <p:extLst>
      <p:ext uri="{BB962C8B-B14F-4D97-AF65-F5344CB8AC3E}">
        <p14:creationId xmlns:p14="http://schemas.microsoft.com/office/powerpoint/2010/main" val="344984954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201015" y="82458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b="1" dirty="0">
                <a:solidFill>
                  <a:srgbClr val="0070C0"/>
                </a:solidFill>
              </a:rPr>
              <a:t>Arquitectura</a:t>
            </a:r>
            <a:r>
              <a:rPr lang="es-ES" dirty="0"/>
              <a:t> de Referencia para IA</a:t>
            </a:r>
            <a:endParaRPr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C7A2C2-A33A-3611-638F-33C3EC3C195F}"/>
              </a:ext>
            </a:extLst>
          </p:cNvPr>
          <p:cNvSpPr/>
          <p:nvPr/>
        </p:nvSpPr>
        <p:spPr>
          <a:xfrm>
            <a:off x="1449658" y="5332288"/>
            <a:ext cx="6367346" cy="120032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Fuentes de los datos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O" dirty="0">
              <a:solidFill>
                <a:srgbClr val="595959"/>
              </a:solidFill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31BAEC-C22B-03FF-B629-FFAFDB896688}"/>
              </a:ext>
            </a:extLst>
          </p:cNvPr>
          <p:cNvSpPr/>
          <p:nvPr/>
        </p:nvSpPr>
        <p:spPr>
          <a:xfrm>
            <a:off x="1683833" y="5708756"/>
            <a:ext cx="1851103" cy="369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Transaccional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C1E9C8-1D3D-1486-BE15-5BB49F884E0B}"/>
              </a:ext>
            </a:extLst>
          </p:cNvPr>
          <p:cNvSpPr/>
          <p:nvPr/>
        </p:nvSpPr>
        <p:spPr>
          <a:xfrm>
            <a:off x="1683833" y="6078084"/>
            <a:ext cx="1851103" cy="369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Entity</a:t>
            </a: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8832CC-038E-5CF4-3C17-B14E4361A956}"/>
              </a:ext>
            </a:extLst>
          </p:cNvPr>
          <p:cNvSpPr/>
          <p:nvPr/>
        </p:nvSpPr>
        <p:spPr>
          <a:xfrm>
            <a:off x="3626589" y="6078084"/>
            <a:ext cx="1851103" cy="369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Events</a:t>
            </a: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65D45B6-55C1-EAE2-0E9B-8CE544F9B3C1}"/>
              </a:ext>
            </a:extLst>
          </p:cNvPr>
          <p:cNvSpPr/>
          <p:nvPr/>
        </p:nvSpPr>
        <p:spPr>
          <a:xfrm>
            <a:off x="5853115" y="5708756"/>
            <a:ext cx="1851103" cy="369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IoT</a:t>
            </a: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162FA6-85C7-493F-7577-0A695E480A61}"/>
              </a:ext>
            </a:extLst>
          </p:cNvPr>
          <p:cNvSpPr/>
          <p:nvPr/>
        </p:nvSpPr>
        <p:spPr>
          <a:xfrm>
            <a:off x="5853114" y="6085224"/>
            <a:ext cx="1851103" cy="36932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Social Media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DBD5E1-22A0-5D62-7B6E-269F964F8665}"/>
              </a:ext>
            </a:extLst>
          </p:cNvPr>
          <p:cNvSpPr/>
          <p:nvPr/>
        </p:nvSpPr>
        <p:spPr>
          <a:xfrm>
            <a:off x="1449658" y="4788780"/>
            <a:ext cx="6367346" cy="369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Capa de interfaz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64B7207-B1D0-D188-E391-BF3ED59A46BC}"/>
              </a:ext>
            </a:extLst>
          </p:cNvPr>
          <p:cNvSpPr/>
          <p:nvPr/>
        </p:nvSpPr>
        <p:spPr>
          <a:xfrm>
            <a:off x="1449658" y="4341391"/>
            <a:ext cx="6367346" cy="369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Capa de transformación e integración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39D54E0-F6B9-3110-9CB9-823876D18F04}"/>
              </a:ext>
            </a:extLst>
          </p:cNvPr>
          <p:cNvSpPr/>
          <p:nvPr/>
        </p:nvSpPr>
        <p:spPr>
          <a:xfrm>
            <a:off x="1449658" y="2690338"/>
            <a:ext cx="6367346" cy="147732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O" dirty="0">
              <a:solidFill>
                <a:srgbClr val="595959"/>
              </a:solidFill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O" dirty="0">
              <a:solidFill>
                <a:srgbClr val="595959"/>
              </a:solidFill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Plataforma de datos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O" dirty="0">
              <a:solidFill>
                <a:srgbClr val="595959"/>
              </a:solidFill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F18D35B-8D14-CC65-D6EB-3EC3F37093CF}"/>
              </a:ext>
            </a:extLst>
          </p:cNvPr>
          <p:cNvSpPr/>
          <p:nvPr/>
        </p:nvSpPr>
        <p:spPr>
          <a:xfrm>
            <a:off x="1962614" y="2140241"/>
            <a:ext cx="5341434" cy="923326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O" dirty="0">
              <a:solidFill>
                <a:srgbClr val="595959"/>
              </a:solidFill>
            </a:endParaRP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Machine Learning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s-CO" dirty="0">
              <a:solidFill>
                <a:srgbClr val="595959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63EBF98-91D7-FC97-A483-3D8C56F6B95C}"/>
              </a:ext>
            </a:extLst>
          </p:cNvPr>
          <p:cNvSpPr/>
          <p:nvPr/>
        </p:nvSpPr>
        <p:spPr>
          <a:xfrm>
            <a:off x="1449658" y="1759878"/>
            <a:ext cx="6367346" cy="369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IA </a:t>
            </a: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Engine</a:t>
            </a: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0F5DA81-8813-F518-6672-236BBF94F4BC}"/>
              </a:ext>
            </a:extLst>
          </p:cNvPr>
          <p:cNvSpPr/>
          <p:nvPr/>
        </p:nvSpPr>
        <p:spPr>
          <a:xfrm>
            <a:off x="1449658" y="1272371"/>
            <a:ext cx="6367346" cy="3693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Impacto en el negocio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03DF450-92CF-4529-6F99-FA13A9D30DD0}"/>
              </a:ext>
            </a:extLst>
          </p:cNvPr>
          <p:cNvSpPr/>
          <p:nvPr/>
        </p:nvSpPr>
        <p:spPr>
          <a:xfrm rot="16200000">
            <a:off x="-1167200" y="3961581"/>
            <a:ext cx="4772735" cy="369328"/>
          </a:xfrm>
          <a:prstGeom prst="rect">
            <a:avLst/>
          </a:prstGeom>
          <a:solidFill>
            <a:srgbClr val="76D6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Gobernanza de datos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D900918-9E7A-C145-28EC-D7D0E04C2C13}"/>
              </a:ext>
            </a:extLst>
          </p:cNvPr>
          <p:cNvSpPr txBox="1"/>
          <p:nvPr/>
        </p:nvSpPr>
        <p:spPr>
          <a:xfrm>
            <a:off x="0" y="1048429"/>
            <a:ext cx="1037063" cy="3385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IA </a:t>
            </a:r>
            <a:r>
              <a:rPr kumimoji="0" lang="es-CO" sz="16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Stak</a:t>
            </a:r>
            <a:endParaRPr kumimoji="0" lang="es-CO" sz="16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67BE962-B82D-2F66-D8A6-F13A4B0F9085}"/>
              </a:ext>
            </a:extLst>
          </p:cNvPr>
          <p:cNvSpPr txBox="1"/>
          <p:nvPr/>
        </p:nvSpPr>
        <p:spPr>
          <a:xfrm>
            <a:off x="0" y="2505674"/>
            <a:ext cx="1037063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- Analizar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E05A90-4E54-BE13-500C-91E5D3A05FD0}"/>
              </a:ext>
            </a:extLst>
          </p:cNvPr>
          <p:cNvSpPr txBox="1"/>
          <p:nvPr/>
        </p:nvSpPr>
        <p:spPr>
          <a:xfrm>
            <a:off x="5576" y="3610935"/>
            <a:ext cx="1209907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- Organizar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975FB7C-5CC8-605D-106A-3BD6B4109060}"/>
              </a:ext>
            </a:extLst>
          </p:cNvPr>
          <p:cNvSpPr txBox="1"/>
          <p:nvPr/>
        </p:nvSpPr>
        <p:spPr>
          <a:xfrm>
            <a:off x="0" y="5461993"/>
            <a:ext cx="1209907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- Recolectar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8580703-3236-7D09-F5B2-32AA81C0650F}"/>
              </a:ext>
            </a:extLst>
          </p:cNvPr>
          <p:cNvSpPr txBox="1"/>
          <p:nvPr/>
        </p:nvSpPr>
        <p:spPr>
          <a:xfrm>
            <a:off x="5576" y="1488845"/>
            <a:ext cx="1037063" cy="307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R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s-CO" sz="14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- Carga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DA856A3-4BB8-7377-E0DC-E810A105CAC4}"/>
              </a:ext>
            </a:extLst>
          </p:cNvPr>
          <p:cNvSpPr txBox="1"/>
          <p:nvPr/>
        </p:nvSpPr>
        <p:spPr>
          <a:xfrm>
            <a:off x="1048097" y="6543648"/>
            <a:ext cx="3724507" cy="553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r>
              <a:rPr kumimoji="0" lang="es-CO" sz="12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© </a:t>
            </a:r>
            <a:r>
              <a:rPr lang="es-CO" sz="1200" b="0" dirty="0" err="1">
                <a:solidFill>
                  <a:srgbClr val="232323"/>
                </a:solidFill>
                <a:effectLst/>
                <a:latin typeface="Exo"/>
              </a:rPr>
              <a:t>Info-Tech</a:t>
            </a:r>
            <a:r>
              <a:rPr lang="es-CO" sz="1200" b="0" dirty="0">
                <a:solidFill>
                  <a:srgbClr val="FFFFFF"/>
                </a:solidFill>
                <a:effectLst/>
                <a:latin typeface="Exo"/>
              </a:rPr>
              <a:t> </a:t>
            </a:r>
            <a:r>
              <a:rPr lang="es-CO" sz="1200" b="0" dirty="0" err="1">
                <a:solidFill>
                  <a:srgbClr val="232323"/>
                </a:solidFill>
                <a:effectLst/>
                <a:latin typeface="Exo"/>
              </a:rPr>
              <a:t>Research</a:t>
            </a:r>
            <a:r>
              <a:rPr lang="es-CO" sz="1200" b="0" dirty="0">
                <a:solidFill>
                  <a:srgbClr val="FFFFFF"/>
                </a:solidFill>
                <a:effectLst/>
                <a:latin typeface="Exo"/>
              </a:rPr>
              <a:t> </a:t>
            </a:r>
            <a:r>
              <a:rPr lang="es-CO" sz="1200" b="0" dirty="0" err="1">
                <a:solidFill>
                  <a:srgbClr val="232323"/>
                </a:solidFill>
                <a:effectLst/>
                <a:latin typeface="Exo"/>
              </a:rPr>
              <a:t>Group</a:t>
            </a:r>
            <a:r>
              <a:rPr lang="es-CO" sz="1200" b="0" dirty="0">
                <a:solidFill>
                  <a:srgbClr val="232323"/>
                </a:solidFill>
                <a:effectLst/>
                <a:latin typeface="Exo"/>
              </a:rPr>
              <a:t> </a:t>
            </a:r>
            <a:endParaRPr lang="es-CO" sz="1200" dirty="0"/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92EDDB9-D493-01C4-0A01-B97AD1D79118}"/>
              </a:ext>
            </a:extLst>
          </p:cNvPr>
          <p:cNvSpPr txBox="1"/>
          <p:nvPr/>
        </p:nvSpPr>
        <p:spPr>
          <a:xfrm>
            <a:off x="8104387" y="1457035"/>
            <a:ext cx="3836019" cy="4247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5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Las fuentes de datos internas y externas proporcionan datos para el aprendizaje automático y el motor de decisiones de IA.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5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Las fuentes de datos son recopiladas, transformadas e integradas antes de ser almacenadas de forma persistente en la plataforma de datos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5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La gobernanza de datos garantiza que se mantenga la integridad y la calidad de los datos.</a:t>
            </a:r>
            <a:endParaRPr lang="es-CO" sz="1500" dirty="0"/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500" b="0" i="0" u="none" strike="noStrike" cap="none" spc="0" normalizeH="0" baseline="0" dirty="0">
                <a:ln>
                  <a:noFill/>
                </a:ln>
                <a:solidFill>
                  <a:srgbClr val="0070C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El aprendizaje automático es un componente opcional si el desarrollo del modelo de IA se realiza internamente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5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El motor de IA está integrado en componentes operativos y analíticos para la toma de decisiones y para generar un impacto en el negocio</a:t>
            </a:r>
          </a:p>
        </p:txBody>
      </p:sp>
    </p:spTree>
    <p:extLst>
      <p:ext uri="{BB962C8B-B14F-4D97-AF65-F5344CB8AC3E}">
        <p14:creationId xmlns:p14="http://schemas.microsoft.com/office/powerpoint/2010/main" val="167872768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201015" y="82458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b="1" dirty="0">
                <a:solidFill>
                  <a:srgbClr val="0070C0"/>
                </a:solidFill>
              </a:rPr>
              <a:t>Arquitectura</a:t>
            </a:r>
            <a:r>
              <a:rPr lang="es-ES" dirty="0"/>
              <a:t> de referencia de IA: ejemplo transaccional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AD24BB-3D14-5F03-23B6-25020D63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15" y="1964599"/>
            <a:ext cx="9623457" cy="308690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AFB565E-B40E-6053-F01D-25DAE3D323EB}"/>
              </a:ext>
            </a:extLst>
          </p:cNvPr>
          <p:cNvSpPr txBox="1"/>
          <p:nvPr/>
        </p:nvSpPr>
        <p:spPr>
          <a:xfrm>
            <a:off x="201015" y="5408341"/>
            <a:ext cx="7136487" cy="147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Los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datos y la infraestructura 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que deben existir para facilitar el aprendizaje automático,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la construcción de modelos 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y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la implementación de producción de dichos modelos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para integrarlos dentro de los procesos de negocio para </a:t>
            </a:r>
            <a:r>
              <a:rPr kumimoji="0" lang="es-CO" sz="18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aportar valor al negocio.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C8CD926-1D1A-DC58-83C0-F319C62CBEA7}"/>
              </a:ext>
            </a:extLst>
          </p:cNvPr>
          <p:cNvSpPr txBox="1"/>
          <p:nvPr/>
        </p:nvSpPr>
        <p:spPr>
          <a:xfrm>
            <a:off x="9973786" y="2521061"/>
            <a:ext cx="1969170" cy="20620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  <a:hlinkClick r:id="rId4"/>
              </a:rPr>
              <a:t>AWS </a:t>
            </a:r>
            <a:r>
              <a:rPr kumimoji="0" lang="es-CO" sz="16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  <a:hlinkClick r:id="rId4"/>
              </a:rPr>
              <a:t>Sagemaker</a:t>
            </a:r>
            <a:endParaRPr kumimoji="0" lang="es-CO" sz="16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sz="1600" dirty="0">
                <a:hlinkClick r:id="rId5"/>
              </a:rPr>
              <a:t>Azure Machine Learning</a:t>
            </a:r>
            <a:endParaRPr kumimoji="0" lang="es-CO" sz="16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  <a:hlinkClick r:id="rId6"/>
              </a:rPr>
              <a:t>Estudio IBM Watson</a:t>
            </a:r>
            <a:endParaRPr kumimoji="0" lang="es-CO" sz="16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  <a:hlinkClick r:id="rId7"/>
              </a:rPr>
              <a:t>Vertex AI</a:t>
            </a: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	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6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Etc.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CO" sz="16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231CF286-FB16-7B09-F828-133E66A37E34}"/>
                  </a:ext>
                </a:extLst>
              </p14:cNvPr>
              <p14:cNvContentPartPr/>
              <p14:nvPr/>
            </p14:nvContentPartPr>
            <p14:xfrm>
              <a:off x="339480" y="946800"/>
              <a:ext cx="10897560" cy="413820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231CF286-FB16-7B09-F828-133E66A37E3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0120" y="937440"/>
                <a:ext cx="10916280" cy="415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453586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201015" y="82458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b="1" dirty="0">
                <a:solidFill>
                  <a:srgbClr val="0070C0"/>
                </a:solidFill>
              </a:rPr>
              <a:t>Arquitectura</a:t>
            </a:r>
            <a:r>
              <a:rPr lang="es-ES" dirty="0"/>
              <a:t> de IA: Elementos a considerar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804B45E-874C-5F52-50B8-C57F12CDED1E}"/>
              </a:ext>
            </a:extLst>
          </p:cNvPr>
          <p:cNvSpPr txBox="1"/>
          <p:nvPr/>
        </p:nvSpPr>
        <p:spPr>
          <a:xfrm>
            <a:off x="201015" y="1997841"/>
            <a:ext cx="2754352" cy="2862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CO" sz="20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¿En qué parte de mis procesos comerciales utilizaré la IA?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CO" sz="2000" b="1" i="0" u="none" strike="noStrike" cap="none" spc="0" normalizeH="0" baseline="0" dirty="0">
                <a:ln>
                  <a:noFill/>
                </a:ln>
                <a:solidFill>
                  <a:srgbClr val="0432FF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¿Cómo y dónde implementaré la IA?</a:t>
            </a:r>
          </a:p>
          <a:p>
            <a:pPr marL="457200" marR="0" indent="-45720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s-CO" sz="2000" b="1" i="0" u="none" strike="noStrike" cap="none" spc="0" normalizeH="0" baseline="0" dirty="0">
                <a:ln>
                  <a:noFill/>
                </a:ln>
                <a:solidFill>
                  <a:srgbClr val="7030A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¿Cómo adquiriré el modelo de IA?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2950F5A-E996-ABD2-911D-F6BA9DA8C146}"/>
              </a:ext>
            </a:extLst>
          </p:cNvPr>
          <p:cNvSpPr txBox="1"/>
          <p:nvPr/>
        </p:nvSpPr>
        <p:spPr>
          <a:xfrm>
            <a:off x="4282068" y="1397678"/>
            <a:ext cx="535259" cy="120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7200" b="1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1</a:t>
            </a:r>
            <a:endParaRPr kumimoji="0" lang="es-CO" sz="1800" b="1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39BAE79-A443-E579-48D6-81EF6D0EEC3A}"/>
              </a:ext>
            </a:extLst>
          </p:cNvPr>
          <p:cNvSpPr txBox="1"/>
          <p:nvPr/>
        </p:nvSpPr>
        <p:spPr>
          <a:xfrm>
            <a:off x="3090746" y="2509024"/>
            <a:ext cx="2999678" cy="2862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Transacciones Comerciales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/>
              <a:t>Entidades de negocio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Flujo de datos en tiempo real (decisiones rápidas)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/>
              <a:t>Edge Computing – cerca al origen de los datos (</a:t>
            </a:r>
            <a:r>
              <a:rPr lang="es-CO" dirty="0" err="1"/>
              <a:t>IoT</a:t>
            </a:r>
            <a:r>
              <a:rPr lang="es-CO" dirty="0"/>
              <a:t>), para reducir latencia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Etc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…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228EB9E-16AF-1031-3F61-7369F9413DC2}"/>
              </a:ext>
            </a:extLst>
          </p:cNvPr>
          <p:cNvSpPr txBox="1"/>
          <p:nvPr/>
        </p:nvSpPr>
        <p:spPr>
          <a:xfrm>
            <a:off x="7590263" y="1397678"/>
            <a:ext cx="535259" cy="120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7200" b="1" dirty="0">
                <a:solidFill>
                  <a:srgbClr val="0432FF"/>
                </a:solidFill>
              </a:rPr>
              <a:t>2</a:t>
            </a:r>
            <a:endParaRPr kumimoji="0" lang="es-CO" sz="1800" b="1" i="0" u="none" strike="noStrike" cap="none" spc="0" normalizeH="0" baseline="0" dirty="0">
              <a:ln>
                <a:noFill/>
              </a:ln>
              <a:solidFill>
                <a:srgbClr val="0432FF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584B5F-AFC2-BF86-0269-7F680D46B4E0}"/>
              </a:ext>
            </a:extLst>
          </p:cNvPr>
          <p:cNvSpPr txBox="1"/>
          <p:nvPr/>
        </p:nvSpPr>
        <p:spPr>
          <a:xfrm>
            <a:off x="6144028" y="2509024"/>
            <a:ext cx="2999678" cy="147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On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-premises: sobre la infraestructura física del negocio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dirty="0"/>
              <a:t>Cloud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Mix</a:t>
            </a:r>
            <a:endParaRPr kumimoji="0" lang="es-CO" sz="1800" b="0" i="0" u="none" strike="noStrike" cap="none" spc="0" normalizeH="0" baseline="0" dirty="0">
              <a:ln>
                <a:noFill/>
              </a:ln>
              <a:solidFill>
                <a:srgbClr val="595959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0129628-258B-9520-00FB-AFF74D7408AF}"/>
              </a:ext>
            </a:extLst>
          </p:cNvPr>
          <p:cNvSpPr txBox="1"/>
          <p:nvPr/>
        </p:nvSpPr>
        <p:spPr>
          <a:xfrm>
            <a:off x="10792522" y="1397678"/>
            <a:ext cx="535259" cy="1200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7200" b="1" dirty="0">
                <a:solidFill>
                  <a:srgbClr val="7030A0"/>
                </a:solidFill>
              </a:rPr>
              <a:t>3</a:t>
            </a:r>
            <a:endParaRPr kumimoji="0" lang="es-CO" sz="1800" b="1" i="0" u="none" strike="noStrike" cap="none" spc="0" normalizeH="0" baseline="0" dirty="0">
              <a:ln>
                <a:noFill/>
              </a:ln>
              <a:solidFill>
                <a:srgbClr val="7030A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3BB79AD-A4A0-FF70-1A37-07308DAA79C6}"/>
              </a:ext>
            </a:extLst>
          </p:cNvPr>
          <p:cNvSpPr txBox="1"/>
          <p:nvPr/>
        </p:nvSpPr>
        <p:spPr>
          <a:xfrm>
            <a:off x="9197310" y="2509024"/>
            <a:ext cx="2999678" cy="1477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El negocio crea sus propios modelos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MLaaS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 – ML como servicio 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sz="1800" b="0" i="0" u="none" strike="noStrike" cap="none" spc="0" normalizeH="0" baseline="0" dirty="0" err="1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AIaaS</a:t>
            </a:r>
            <a:r>
              <a:rPr kumimoji="0" lang="es-CO" sz="1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, IA como servicio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F5686AC9-099A-DFAC-5F09-D9F8DF46FA8E}"/>
                  </a:ext>
                </a:extLst>
              </p14:cNvPr>
              <p14:cNvContentPartPr/>
              <p14:nvPr/>
            </p14:nvContentPartPr>
            <p14:xfrm>
              <a:off x="5654880" y="1752120"/>
              <a:ext cx="2427120" cy="252432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F5686AC9-099A-DFAC-5F09-D9F8DF46FA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5520" y="1742760"/>
                <a:ext cx="2445840" cy="254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947258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201015" y="82458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b="1" dirty="0">
                <a:solidFill>
                  <a:srgbClr val="0070C0"/>
                </a:solidFill>
              </a:rPr>
              <a:t>¿ IA / Analítica de datos?</a:t>
            </a:r>
            <a:endParaRPr dirty="0"/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DEDFB541-0D35-CF92-9A74-586907A7F50F}"/>
              </a:ext>
            </a:extLst>
          </p:cNvPr>
          <p:cNvGraphicFramePr>
            <a:graphicFrameLocks noGrp="1"/>
          </p:cNvGraphicFramePr>
          <p:nvPr/>
        </p:nvGraphicFramePr>
        <p:xfrm>
          <a:off x="3429260" y="1745578"/>
          <a:ext cx="8127999" cy="314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2575046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8877616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95710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Atributos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IA/ML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Analítica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26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El costo de las decisiones lentas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>
                          <a:solidFill>
                            <a:srgbClr val="FFFF00"/>
                          </a:solidFill>
                        </a:rPr>
                        <a:t>ALTO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CO" sz="1400" b="0" i="0" u="none" strike="noStrike" cap="none" spc="0" baseline="0" dirty="0">
                          <a:solidFill>
                            <a:srgbClr val="00206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BAJO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902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Costo de tomar malas decisiones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i="0" u="none" strike="noStrike" cap="none" spc="0" baseline="0" dirty="0">
                          <a:solidFill>
                            <a:srgbClr val="FFFF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ALTO</a:t>
                      </a:r>
                    </a:p>
                    <a:p>
                      <a:pPr marL="0" marR="0" indent="0" algn="ctr" defTabSz="457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s-CO" sz="1400" b="0" i="0" u="none" strike="noStrike" cap="none" spc="0" baseline="0" dirty="0">
                        <a:solidFill>
                          <a:srgbClr val="FFFF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400" b="0" i="0" u="none" strike="noStrike" cap="none" spc="0" baseline="0" dirty="0">
                          <a:solidFill>
                            <a:srgbClr val="FFFF00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Calibri"/>
                        </a:rPr>
                        <a:t>ALTO</a:t>
                      </a:r>
                    </a:p>
                    <a:p>
                      <a:pPr marL="0" marR="0" indent="0" algn="ctr" defTabSz="45720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s-CO" sz="1400" b="0" i="0" u="none" strike="noStrike" cap="none" spc="0" baseline="0" dirty="0">
                        <a:solidFill>
                          <a:srgbClr val="FFFF00"/>
                        </a:solidFill>
                        <a:uFillTx/>
                        <a:latin typeface="+mn-lt"/>
                        <a:ea typeface="+mn-ea"/>
                        <a:cs typeface="+mn-cs"/>
                        <a:sym typeface="Calibri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167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Necesidad de datos para su uso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La inteligencia artificial (IA) y el aprendizaje automático (ML) necesitan muchos datos para entrenarse.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El tamaño de los datos es pequeño, o al menos no demasiado grande.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03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Atributo Crítico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La </a:t>
                      </a:r>
                      <a:r>
                        <a:rPr lang="es-CO" sz="1400" b="1" dirty="0">
                          <a:solidFill>
                            <a:srgbClr val="FF0000"/>
                          </a:solidFill>
                        </a:rPr>
                        <a:t>precisión</a:t>
                      </a:r>
                      <a:r>
                        <a:rPr lang="es-CO" sz="1400" dirty="0"/>
                        <a:t> de la predicción es más importante que la capacidad del modelo para </a:t>
                      </a:r>
                      <a:r>
                        <a:rPr lang="es-CO" sz="1400" b="1" dirty="0"/>
                        <a:t>explicar los resultados</a:t>
                      </a:r>
                      <a:r>
                        <a:rPr lang="es-CO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400" dirty="0"/>
                        <a:t>Es fundamental que un ser humano </a:t>
                      </a:r>
                      <a:r>
                        <a:rPr lang="es-CO" sz="1400" b="1" dirty="0"/>
                        <a:t>explique los resultados y el proceso de toma de decisiones</a:t>
                      </a:r>
                      <a:r>
                        <a:rPr lang="es-CO" sz="14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053472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917A8543-B696-7CA7-09F0-5C0FD65A74A8}"/>
              </a:ext>
            </a:extLst>
          </p:cNvPr>
          <p:cNvSpPr txBox="1"/>
          <p:nvPr/>
        </p:nvSpPr>
        <p:spPr>
          <a:xfrm>
            <a:off x="3429260" y="5042498"/>
            <a:ext cx="8279520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s-CO" sz="1200" dirty="0"/>
              <a:t>Ismail, </a:t>
            </a:r>
            <a:r>
              <a:rPr lang="es-CO" sz="1200" dirty="0" err="1"/>
              <a:t>Kaya</a:t>
            </a:r>
            <a:r>
              <a:rPr lang="es-CO" sz="1200" dirty="0"/>
              <a:t>. “AI vs. </a:t>
            </a:r>
            <a:r>
              <a:rPr lang="es-CO" sz="1200" dirty="0" err="1"/>
              <a:t>Algorithms</a:t>
            </a:r>
            <a:r>
              <a:rPr lang="es-CO" sz="1200" dirty="0"/>
              <a:t>: </a:t>
            </a:r>
            <a:r>
              <a:rPr lang="es-CO" sz="1200" dirty="0" err="1"/>
              <a:t>What's</a:t>
            </a:r>
            <a:r>
              <a:rPr lang="es-CO" sz="1200" dirty="0"/>
              <a:t> </a:t>
            </a:r>
            <a:r>
              <a:rPr lang="es-CO" sz="1200" dirty="0" err="1"/>
              <a:t>the</a:t>
            </a:r>
            <a:r>
              <a:rPr lang="es-CO" sz="1200" dirty="0"/>
              <a:t> </a:t>
            </a:r>
            <a:r>
              <a:rPr lang="es-CO" sz="1200" dirty="0" err="1"/>
              <a:t>Difference</a:t>
            </a:r>
            <a:r>
              <a:rPr lang="es-CO" sz="1200" dirty="0"/>
              <a:t>?” </a:t>
            </a:r>
            <a:r>
              <a:rPr lang="es-CO" sz="1200" dirty="0" err="1"/>
              <a:t>CMSWire</a:t>
            </a:r>
            <a:r>
              <a:rPr lang="es-CO" sz="1200" dirty="0"/>
              <a:t>. </a:t>
            </a:r>
            <a:r>
              <a:rPr lang="es-CO" sz="1200" dirty="0">
                <a:hlinkClick r:id="rId3"/>
              </a:rPr>
              <a:t>https://www.cmswire.com/information-management/ai-vs-algorithms-whats-the-difference/</a:t>
            </a:r>
            <a:r>
              <a:rPr lang="es-CO" sz="1200" dirty="0"/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441E7AD-7742-B9EB-CF70-F6246730A628}"/>
              </a:ext>
            </a:extLst>
          </p:cNvPr>
          <p:cNvSpPr txBox="1"/>
          <p:nvPr/>
        </p:nvSpPr>
        <p:spPr>
          <a:xfrm>
            <a:off x="201015" y="2921170"/>
            <a:ext cx="2965931" cy="1015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s-CO" sz="2000" b="1" dirty="0">
                <a:solidFill>
                  <a:srgbClr val="0432FF"/>
                </a:solidFill>
              </a:rPr>
              <a:t>Criterios para definir cómo utilizar los datos en mi organización</a:t>
            </a:r>
            <a:endParaRPr kumimoji="0" lang="es-CO" sz="2000" b="1" i="0" u="none" strike="noStrike" cap="none" spc="0" normalizeH="0" baseline="0" dirty="0">
              <a:ln>
                <a:noFill/>
              </a:ln>
              <a:solidFill>
                <a:srgbClr val="0432FF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11FB40A4-BDEE-1BCB-695F-BDA61D07ED9B}"/>
                  </a:ext>
                </a:extLst>
              </p14:cNvPr>
              <p14:cNvContentPartPr/>
              <p14:nvPr/>
            </p14:nvContentPartPr>
            <p14:xfrm>
              <a:off x="6247440" y="831240"/>
              <a:ext cx="4120560" cy="105912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11FB40A4-BDEE-1BCB-695F-BDA61D07ED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8080" y="821880"/>
                <a:ext cx="4139280" cy="10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95666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ítulo 1"/>
          <p:cNvSpPr txBox="1"/>
          <p:nvPr/>
        </p:nvSpPr>
        <p:spPr>
          <a:xfrm>
            <a:off x="201015" y="82458"/>
            <a:ext cx="9772771" cy="879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>
            <a:lvl1pPr defTabSz="914400">
              <a:lnSpc>
                <a:spcPct val="90000"/>
              </a:lnSpc>
              <a:defRPr sz="2700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s-ES" b="1" dirty="0">
                <a:solidFill>
                  <a:srgbClr val="0070C0"/>
                </a:solidFill>
              </a:rPr>
              <a:t>Entonces, ¿ Cómo Obtengo el Máximo Retorno?</a:t>
            </a:r>
            <a:endParaRPr dirty="0"/>
          </a:p>
        </p:txBody>
      </p:sp>
      <p:pic>
        <p:nvPicPr>
          <p:cNvPr id="3074" name="Picture 2" descr="Six key capabilities for high AI ROI: Vision and strategy, AI operating model, AI engineering and operations, data and technology, talent and skills, and culture and adoption">
            <a:extLst>
              <a:ext uri="{FF2B5EF4-FFF2-40B4-BE49-F238E27FC236}">
                <a16:creationId xmlns:a16="http://schemas.microsoft.com/office/drawing/2014/main" id="{34594A23-DBC8-16C8-3FE8-8C3E5360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19" y="1371588"/>
            <a:ext cx="5575329" cy="5403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2C47216-23CC-5FEA-F0D2-90C7DC5682F9}"/>
              </a:ext>
            </a:extLst>
          </p:cNvPr>
          <p:cNvSpPr txBox="1"/>
          <p:nvPr/>
        </p:nvSpPr>
        <p:spPr>
          <a:xfrm>
            <a:off x="6585857" y="2416629"/>
            <a:ext cx="5105400" cy="2554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s-CO" sz="2800" b="0" i="0" u="none" strike="noStrike" cap="none" spc="0" normalizeH="0" baseline="0" dirty="0">
                <a:ln>
                  <a:noFill/>
                </a:ln>
                <a:solidFill>
                  <a:srgbClr val="595959"/>
                </a:solidFill>
                <a:effectLst/>
                <a:uFillTx/>
                <a:latin typeface="+mn-lt"/>
                <a:ea typeface="+mn-ea"/>
                <a:cs typeface="+mn-cs"/>
                <a:sym typeface="Helvetica"/>
              </a:rPr>
              <a:t>Se debe incrementar el nivel de madurez de capacidades clave en la apropiación de tecnologías disruptivas basadas en IA.</a:t>
            </a:r>
          </a:p>
          <a:p>
            <a:r>
              <a:rPr lang="es-CO" sz="2000" dirty="0"/>
              <a:t>(IBM, </a:t>
            </a:r>
            <a:r>
              <a:rPr lang="es-CO" sz="2000" dirty="0">
                <a:hlinkClick r:id="rId4"/>
              </a:rPr>
              <a:t>Generating ROI with AI</a:t>
            </a:r>
            <a:r>
              <a:rPr lang="es-CO" sz="20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8E3724BA-5A55-25C1-CB4B-4D9CF4BD0CA2}"/>
                  </a:ext>
                </a:extLst>
              </p14:cNvPr>
              <p14:cNvContentPartPr/>
              <p14:nvPr/>
            </p14:nvContentPartPr>
            <p14:xfrm>
              <a:off x="130680" y="1626480"/>
              <a:ext cx="5887440" cy="495360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8E3724BA-5A55-25C1-CB4B-4D9CF4BD0C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320" y="1617120"/>
                <a:ext cx="5906160" cy="497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97217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16813-0A84-57BB-FEBF-0686B969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Para tener en cuenta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C202F6-0F6D-6613-8AD8-158104E9317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199" y="1825625"/>
            <a:ext cx="10662502" cy="32648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La Arquitectura Empresarial busca habilitar </a:t>
            </a:r>
            <a:r>
              <a:rPr lang="es-CO" b="1" dirty="0">
                <a:solidFill>
                  <a:srgbClr val="0432FF"/>
                </a:solidFill>
              </a:rPr>
              <a:t>capacidades de negocio </a:t>
            </a:r>
            <a:r>
              <a:rPr lang="es-CO" dirty="0"/>
              <a:t>alineadas con los </a:t>
            </a:r>
            <a:r>
              <a:rPr lang="es-CO" b="1" dirty="0">
                <a:solidFill>
                  <a:srgbClr val="0432FF"/>
                </a:solidFill>
              </a:rPr>
              <a:t>objetivos organizacionales</a:t>
            </a:r>
            <a:r>
              <a:rPr lang="es-CO" dirty="0"/>
              <a:t>, asegurando que la </a:t>
            </a:r>
            <a:r>
              <a:rPr lang="es-CO" dirty="0">
                <a:solidFill>
                  <a:srgbClr val="0432FF"/>
                </a:solidFill>
              </a:rPr>
              <a:t>tecnología sea un habilitador estratégico </a:t>
            </a:r>
            <a:r>
              <a:rPr lang="es-CO" dirty="0"/>
              <a:t>y no una limitante. Su propósito es </a:t>
            </a:r>
            <a:r>
              <a:rPr lang="es-CO" b="1" dirty="0">
                <a:solidFill>
                  <a:srgbClr val="FF0000"/>
                </a:solidFill>
              </a:rPr>
              <a:t>diseñar una organización </a:t>
            </a:r>
            <a:r>
              <a:rPr lang="es-CO" dirty="0"/>
              <a:t>capaz de alcanzar sus metas de manera eficiente y sostenible, en lugar de una que simplemente se adapte a la infraestructura tecnológica disponible. Al proporcionar un marco estructurado para la toma de decisiones y la evolución organizacional, la AE facilita la transformación digital y la resiliencia ante los cambios del entorno.</a:t>
            </a:r>
          </a:p>
        </p:txBody>
      </p:sp>
    </p:spTree>
    <p:extLst>
      <p:ext uri="{BB962C8B-B14F-4D97-AF65-F5344CB8AC3E}">
        <p14:creationId xmlns:p14="http://schemas.microsoft.com/office/powerpoint/2010/main" val="254598543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1830</Words>
  <Application>Microsoft Office PowerPoint</Application>
  <PresentationFormat>Panorámica</PresentationFormat>
  <Paragraphs>198</Paragraphs>
  <Slides>21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Exo</vt:lpstr>
      <vt:lpstr>Lato</vt:lpstr>
      <vt:lpstr>Tema de Office</vt:lpstr>
      <vt:lpstr>Habilitando el Éxito con IA: Instalando Capacidades a través de la Arquitectura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Para tener en cuenta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Habilitando el Éxito con IA: Instalando Capacidades a través de la Arquitectura</dc:title>
  <dc:creator>Dario Jose Delgado Quintero</dc:creator>
  <cp:lastModifiedBy>Carlos andres Niño niño</cp:lastModifiedBy>
  <cp:revision>2</cp:revision>
  <dcterms:created xsi:type="dcterms:W3CDTF">2025-02-07T14:11:51Z</dcterms:created>
  <dcterms:modified xsi:type="dcterms:W3CDTF">2026-08-27T18:27:55Z</dcterms:modified>
</cp:coreProperties>
</file>