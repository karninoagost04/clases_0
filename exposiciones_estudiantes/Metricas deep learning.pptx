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Inter Tight Bold" panose="020B0604020202020204" charset="0"/>
      <p:regular r:id="rId17"/>
    </p:embeddedFont>
    <p:embeddedFont>
      <p:font typeface="Fragment Mono" panose="020B0604020202020204" charset="0"/>
      <p:regular r:id="rId18"/>
    </p:embeddedFont>
    <p:embeddedFont>
      <p:font typeface="Inter Tight SemiBold" panose="020B0604020202020204" charset="0"/>
      <p:regular r:id="rId19"/>
    </p:embeddedFont>
    <p:embeddedFont>
      <p:font typeface="Inter Tight" panose="020B0604020202020204" charset="0"/>
      <p:regular r:id="rId20"/>
    </p:embeddedFont>
    <p:embeddedFont>
      <p:font typeface="Calibri" panose="020F0502020204030204" pitchFamily="34" charset="0"/>
      <p:regular r:id="rId21"/>
      <p:bold r:id="rId22"/>
      <p:italic r:id="rId23"/>
      <p:boldItalic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4" d="100"/>
          <a:sy n="94" d="100"/>
        </p:scale>
        <p:origin x="24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527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sesión sobre métricas de evaluación en deep learning. El objetivo central no es memorizar fórmulas aisladas, sino comprender cómo se comportan los modelos y elegir la métrica adecuada según los costos y consecuencias de cada error.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K-Fold no es una métrica en sí misma, sino el estándar metodológico para garantizar que las métricas obtenidas sean estables y no fruto de una partición afortunada de los datos.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la diferencia entre MAE y RMSE: mientras MAE trata todos los errores de forma lineal, RMSE castiga exponencialmente las desviaciones graves. R² contextualiza la varianza explicada.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la asimetría del riesgo. Dos modelos pueden tener un 85% de exactitud exacta, pero si uno tiene 15 falsos positivos y cero falsos negativos, es preferible para tamizaje clínico frente a uno que deja escapar 10 enfermos.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el balance precision-recall: aumentar el umbral sube la precisión pero baja el recall, y viceversa. Log Loss evalúa la certeza de la probabilidad producida por la 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curva ROC evalúa la discriminabilidad sin fijar un umbral arbitrario. Si el banco eleva el umbral de 0.5 a 0.8 para evitar alertas falsas, reduce falsos positivos pero sacrificará recall.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metáfora física: Manhattan es caminar por las calles de una cuadrícula urbana; la Euclidiana es la línea recta geométrica. Conectar esto con las pérdidas L1 y L2 en visión y NLP.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el objetivo: en clustering premiamos separación compacta sin ground truth; en ranking evaluamos la posición: acertar en la posición 1 vale mucho más que en la posición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Concluir reforzando la pregunta ética y técnica: una alta exactitud no equivale a un buen modelo si falla en el objetivo de negocio o de impacto social.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Ejercicio tomado de la fotografía del tablero aportada por la estudiante. Hay 30 manzanas: 12 dañadas y 18 sanas. La fila real dañada tiene 9 clasificadas como dañadas y 3 clasificadas como sanas. La fila real sana tiene 6 clasificadas como dañadas y 12 clasificadas como sanas. Se acierta 9 + 12 = 21 veces de 30; accuracy o exactitud de 70 %. Primero explicar que las filas muestran el estado real y las columnas lo que predijo la IA.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 primera hipótesis se busca detectar manzanas dañadas. Verdaderos positivos 9, falsos positivos 6, falsos negativos 3 y verdaderos negativos 12. Sensibilidad 9/12 = 75 %, precisión 9/15 = 60 %, especificidad 12/18 = 66,7 %, F1=2*9/(2*9+6+3)=66,7 %. En la segunda, se busca detectar manzanas sanas. Verdaderos positivos 12, falsos positivos 3, falsos negativos 6 y verdaderos negativos 9. Sensibilidad 12/18 = 66,7 %, precisión 12/15 = 80 %, especificidad 9/12 = 75 %, F1=2*12/(24+3+6)=72,7 %. El accuracy global es 21/30 = 70 %, igual para ambas interpretaciones.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Advertencia metodológica: una matriz de confusión en un umbral permite obtener UN punto ROC, no una curva ROC real. Para una curva hay que conocer la puntuación o probabilidad de cada manzana y recalcular tasas para varios umbrales. En la hipótesis dañada positiva: TPR = sensibilidad = 9/12 = 75 %, FPR = FP/(FP+VN) = 6/(6+12) = 33,3 %. Punto ROC (0,333; 0,750). En la hipótesis sana positiva: TPR = 12/18 = 66,7 %, FPR = 3/(3+9) = 25 %. Punto ROC (0,25; 0,667). La diagonal gris es clasificación al azar. Las conexiones discontinuas moradas solo ayudan a ubicar visualmente los puntos y NO representan resultados observados en otros umbrales. No debe afirmarse que AUC = un número calculado de esta única matriz. El AUC 0,88 de la diapositiva previa es un ejemplo ilustrativo diferente que no se deriva de este ejercicio.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AFA"/>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7987" y="439420"/>
            <a:ext cx="3555911" cy="396081"/>
          </a:xfrm>
          <a:prstGeom prst="rect">
            <a:avLst/>
          </a:prstGeom>
          <a:noFill/>
          <a:ln/>
        </p:spPr>
        <p:txBody>
          <a:bodyPr wrap="square" lIns="0" tIns="0" rIns="0" bIns="0" rtlCol="0" anchor="t">
            <a:normAutofit lnSpcReduction="10000"/>
          </a:bodyPr>
          <a:lstStyle/>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120"/>
              </a:rPr>
              <a:t>[EVAL.CORE]</a:t>
            </a:r>
            <a:endParaRPr lang="en-US" sz="1300" dirty="0"/>
          </a:p>
          <a:p>
            <a:pPr marL="0" indent="0" algn="l">
              <a:lnSpc>
                <a:spcPct val="100000"/>
              </a:lnSpc>
              <a:buNone/>
            </a:pPr>
            <a:r>
              <a:rPr lang="en-US" sz="1300" kern="100" spc="52" dirty="0">
                <a:solidFill>
                  <a:srgbClr val="1A1A1A"/>
                </a:solidFill>
                <a:latin typeface="Fragment Mono" pitchFamily="34" charset="0"/>
                <a:ea typeface="Fragment Mono" pitchFamily="34" charset="-122"/>
                <a:cs typeface="Fragment Mono" pitchFamily="34" charset="-120"/>
              </a:rPr>
              <a:t>V:02.4 · DEEP_LEARNING</a:t>
            </a:r>
            <a:endParaRPr lang="en-US" sz="1300" dirty="0"/>
          </a:p>
        </p:txBody>
      </p:sp>
      <p:sp>
        <p:nvSpPr>
          <p:cNvPr id="3" name="Shape 1"/>
          <p:cNvSpPr/>
          <p:nvPr/>
        </p:nvSpPr>
        <p:spPr>
          <a:xfrm>
            <a:off x="7492813" y="889000"/>
            <a:ext cx="4190895" cy="375841"/>
          </a:xfrm>
          <a:prstGeom prst="rect">
            <a:avLst/>
          </a:prstGeom>
          <a:solidFill>
            <a:srgbClr val="1A1A1A"/>
          </a:solidFill>
          <a:ln/>
        </p:spPr>
      </p:sp>
      <p:sp>
        <p:nvSpPr>
          <p:cNvPr id="4" name="Text 2"/>
          <p:cNvSpPr/>
          <p:nvPr/>
        </p:nvSpPr>
        <p:spPr>
          <a:xfrm>
            <a:off x="7645209" y="985520"/>
            <a:ext cx="4038499"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TAXONOMY.TXT</a:t>
            </a:r>
            <a:endParaRPr lang="en-US" sz="1300" dirty="0"/>
          </a:p>
        </p:txBody>
      </p:sp>
      <p:sp>
        <p:nvSpPr>
          <p:cNvPr id="5" name="Shape 3"/>
          <p:cNvSpPr/>
          <p:nvPr/>
        </p:nvSpPr>
        <p:spPr>
          <a:xfrm>
            <a:off x="7492813" y="1264841"/>
            <a:ext cx="4190895" cy="1705372"/>
          </a:xfrm>
          <a:prstGeom prst="rect">
            <a:avLst/>
          </a:prstGeom>
          <a:solidFill>
            <a:srgbClr val="E6E6EA"/>
          </a:solidFill>
          <a:ln w="12700">
            <a:solidFill>
              <a:srgbClr val="1A1A1A"/>
            </a:solidFill>
            <a:prstDash val="solid"/>
          </a:ln>
        </p:spPr>
      </p:sp>
      <p:sp>
        <p:nvSpPr>
          <p:cNvPr id="6" name="Text 4"/>
          <p:cNvSpPr/>
          <p:nvPr/>
        </p:nvSpPr>
        <p:spPr>
          <a:xfrm>
            <a:off x="7708707" y="1429941"/>
            <a:ext cx="3759106" cy="1375172"/>
          </a:xfrm>
          <a:prstGeom prst="rect">
            <a:avLst/>
          </a:prstGeom>
          <a:noFill/>
          <a:ln/>
        </p:spPr>
        <p:txBody>
          <a:bodyPr wrap="square" lIns="0" tIns="0" rIns="0" bIns="0" rtlCol="0" anchor="t"/>
          <a:lstStyle/>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Regresión:</a:t>
            </a:r>
            <a:r>
              <a:rPr lang="en-US" sz="1450" dirty="0">
                <a:solidFill>
                  <a:srgbClr val="000000"/>
                </a:solidFill>
                <a:latin typeface="Inter Tight" pitchFamily="34" charset="0"/>
                <a:ea typeface="Inter Tight" pitchFamily="34" charset="-122"/>
                <a:cs typeface="Inter Tight" pitchFamily="34" charset="-120"/>
              </a:rPr>
              <a:t> Predecir valores numéricos</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Clasificación:</a:t>
            </a:r>
            <a:r>
              <a:rPr lang="en-US" sz="1450" dirty="0">
                <a:solidFill>
                  <a:srgbClr val="000000"/>
                </a:solidFill>
                <a:latin typeface="Inter Tight" pitchFamily="34" charset="0"/>
                <a:ea typeface="Inter Tight" pitchFamily="34" charset="-122"/>
                <a:cs typeface="Inter Tight" pitchFamily="34" charset="-120"/>
              </a:rPr>
              <a:t> Identificar categorías discretas</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Clustering:</a:t>
            </a:r>
            <a:r>
              <a:rPr lang="en-US" sz="1450" dirty="0">
                <a:solidFill>
                  <a:srgbClr val="000000"/>
                </a:solidFill>
                <a:latin typeface="Inter Tight" pitchFamily="34" charset="0"/>
                <a:ea typeface="Inter Tight" pitchFamily="34" charset="-122"/>
                <a:cs typeface="Inter Tight" pitchFamily="34" charset="-120"/>
              </a:rPr>
              <a:t> Agrupar datos por similitud</a:t>
            </a:r>
            <a:endParaRPr lang="en-US" sz="1450" dirty="0"/>
          </a:p>
          <a:p>
            <a:pPr marL="0" indent="0" algn="l">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Ranking:</a:t>
            </a:r>
            <a:r>
              <a:rPr lang="en-US" sz="1450" dirty="0">
                <a:solidFill>
                  <a:srgbClr val="000000"/>
                </a:solidFill>
                <a:latin typeface="Inter Tight" pitchFamily="34" charset="0"/>
                <a:ea typeface="Inter Tight" pitchFamily="34" charset="-122"/>
                <a:cs typeface="Inter Tight" pitchFamily="34" charset="-120"/>
              </a:rPr>
              <a:t> Ordenar según relevancia</a:t>
            </a:r>
            <a:endParaRPr lang="en-US" sz="1450" dirty="0"/>
          </a:p>
        </p:txBody>
      </p:sp>
      <p:sp>
        <p:nvSpPr>
          <p:cNvPr id="7" name="Text 5"/>
          <p:cNvSpPr/>
          <p:nvPr/>
        </p:nvSpPr>
        <p:spPr>
          <a:xfrm>
            <a:off x="507987" y="3173413"/>
            <a:ext cx="6603835" cy="2895600"/>
          </a:xfrm>
          <a:prstGeom prst="rect">
            <a:avLst/>
          </a:prstGeom>
          <a:noFill/>
          <a:ln/>
        </p:spPr>
        <p:txBody>
          <a:bodyPr wrap="square" lIns="0" tIns="0" rIns="0" bIns="0" rtlCol="0" anchor="t">
            <a:normAutofit/>
          </a:bodyPr>
          <a:lstStyle/>
          <a:p>
            <a:pPr marL="0" indent="0" algn="l">
              <a:lnSpc>
                <a:spcPct val="79000"/>
              </a:lnSpc>
              <a:buNone/>
            </a:pPr>
            <a:r>
              <a:rPr lang="en-US" sz="8000" kern="100" spc="-360" dirty="0">
                <a:solidFill>
                  <a:srgbClr val="1A1A1A"/>
                </a:solidFill>
                <a:latin typeface="Inter Tight SemiBold" pitchFamily="34" charset="0"/>
                <a:ea typeface="Inter Tight SemiBold" pitchFamily="34" charset="-122"/>
                <a:cs typeface="Inter Tight SemiBold" pitchFamily="34" charset="-120"/>
              </a:rPr>
              <a:t>Métricas de</a:t>
            </a:r>
            <a:endParaRPr lang="en-US" sz="8000" dirty="0"/>
          </a:p>
          <a:p>
            <a:pPr marL="0" indent="0" algn="l">
              <a:lnSpc>
                <a:spcPct val="79000"/>
              </a:lnSpc>
              <a:buNone/>
            </a:pPr>
            <a:r>
              <a:rPr lang="en-US" sz="8000" kern="100" spc="-360" dirty="0">
                <a:solidFill>
                  <a:srgbClr val="1A1A1A"/>
                </a:solidFill>
                <a:latin typeface="Inter Tight SemiBold" pitchFamily="34" charset="0"/>
                <a:ea typeface="Inter Tight SemiBold" pitchFamily="34" charset="-122"/>
                <a:cs typeface="Inter Tight SemiBold" pitchFamily="34" charset="-120"/>
              </a:rPr>
              <a:t>Evaluación en</a:t>
            </a:r>
            <a:endParaRPr lang="en-US" sz="8000" dirty="0"/>
          </a:p>
          <a:p>
            <a:pPr marL="0" indent="0" algn="l">
              <a:lnSpc>
                <a:spcPct val="79000"/>
              </a:lnSpc>
              <a:buNone/>
            </a:pPr>
            <a:r>
              <a:rPr lang="en-US" sz="8000" kern="100" spc="-360" dirty="0">
                <a:solidFill>
                  <a:srgbClr val="1A1A1A"/>
                </a:solidFill>
                <a:latin typeface="Inter Tight SemiBold" pitchFamily="34" charset="0"/>
                <a:ea typeface="Inter Tight SemiBold" pitchFamily="34" charset="-122"/>
                <a:cs typeface="Inter Tight SemiBold" pitchFamily="34" charset="-120"/>
              </a:rPr>
              <a:t>Deep Learning</a:t>
            </a:r>
            <a:endParaRPr lang="en-US" sz="8000" dirty="0"/>
          </a:p>
        </p:txBody>
      </p:sp>
      <p:sp>
        <p:nvSpPr>
          <p:cNvPr id="8" name="Text 6"/>
          <p:cNvSpPr/>
          <p:nvPr/>
        </p:nvSpPr>
        <p:spPr>
          <a:xfrm>
            <a:off x="507987" y="6162993"/>
            <a:ext cx="7213420" cy="214610"/>
          </a:xfrm>
          <a:prstGeom prst="rect">
            <a:avLst/>
          </a:prstGeom>
          <a:noFill/>
          <a:ln/>
        </p:spPr>
        <p:txBody>
          <a:bodyPr wrap="none" lIns="0" tIns="0" rIns="0" bIns="0" rtlCol="0" anchor="t"/>
          <a:lstStyle/>
          <a:p>
            <a:pPr marL="0" indent="0" algn="l">
              <a:lnSpc>
                <a:spcPct val="108000"/>
              </a:lnSpc>
              <a:buNone/>
            </a:pPr>
            <a:r>
              <a:rPr lang="en-US" sz="1300" dirty="0">
                <a:solidFill>
                  <a:srgbClr val="1A1A1A"/>
                </a:solidFill>
                <a:latin typeface="Fragment Mono" pitchFamily="34" charset="0"/>
                <a:ea typeface="Fragment Mono" pitchFamily="34" charset="-122"/>
                <a:cs typeface="Fragment Mono" pitchFamily="34" charset="-120"/>
              </a:rPr>
              <a:t>MARIA FERNANDA ROJAS - VIVIAN YULITZA RAMIREZ</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58786" y="381000"/>
            <a:ext cx="3012603" cy="336649"/>
          </a:xfrm>
          <a:prstGeom prst="rect">
            <a:avLst/>
          </a:prstGeom>
          <a:solidFill>
            <a:srgbClr val="1A1A1A"/>
          </a:solidFill>
          <a:ln/>
        </p:spPr>
      </p:sp>
      <p:sp>
        <p:nvSpPr>
          <p:cNvPr id="3" name="Text 1"/>
          <p:cNvSpPr/>
          <p:nvPr/>
        </p:nvSpPr>
        <p:spPr>
          <a:xfrm>
            <a:off x="688263" y="451025"/>
            <a:ext cx="336323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METODOLOGÍA DE VALIDACIÓN</a:t>
            </a:r>
            <a:endParaRPr lang="en-US" sz="1350" dirty="0"/>
          </a:p>
        </p:txBody>
      </p:sp>
      <p:sp>
        <p:nvSpPr>
          <p:cNvPr id="4" name="Text 2"/>
          <p:cNvSpPr/>
          <p:nvPr/>
        </p:nvSpPr>
        <p:spPr>
          <a:xfrm>
            <a:off x="558786" y="848269"/>
            <a:ext cx="7162621" cy="863600"/>
          </a:xfrm>
          <a:prstGeom prst="rect">
            <a:avLst/>
          </a:prstGeom>
          <a:noFill/>
          <a:ln/>
        </p:spPr>
        <p:txBody>
          <a:bodyPr wrap="square" lIns="0" tIns="0" rIns="0" bIns="0" rtlCol="0" anchor="t">
            <a:normAutofit/>
          </a:bodyPr>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¿Cómo comprobamos que un modelo funciona bien?</a:t>
            </a:r>
            <a:endParaRPr lang="en-US" sz="3400" dirty="0"/>
          </a:p>
        </p:txBody>
      </p:sp>
      <p:sp>
        <p:nvSpPr>
          <p:cNvPr id="5" name="Text 3"/>
          <p:cNvSpPr/>
          <p:nvPr/>
        </p:nvSpPr>
        <p:spPr>
          <a:xfrm>
            <a:off x="558786" y="1887399"/>
            <a:ext cx="7162621" cy="745629"/>
          </a:xfrm>
          <a:prstGeom prst="rect">
            <a:avLst/>
          </a:prstGeom>
          <a:noFill/>
          <a:ln/>
        </p:spPr>
        <p:txBody>
          <a:bodyPr wrap="square" lIns="0" tIns="0" rIns="0" bIns="0" rtlCol="0" anchor="t">
            <a:normAutofit lnSpcReduction="10000"/>
          </a:bodyPr>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120"/>
              </a:rPr>
              <a:t>K-Fold Cross-Validation divide los datos en K grupos: entrena con K−1 particiones y valida con la restante. El proceso se repite K veces rotando el bloque de prueba para promediar el rendimiento y verificar la capacidad real de generalización.</a:t>
            </a:r>
            <a:endParaRPr lang="en-US" sz="1450" dirty="0"/>
          </a:p>
        </p:txBody>
      </p:sp>
      <p:sp>
        <p:nvSpPr>
          <p:cNvPr id="6" name="Shape 4"/>
          <p:cNvSpPr/>
          <p:nvPr/>
        </p:nvSpPr>
        <p:spPr>
          <a:xfrm>
            <a:off x="558786" y="2806303"/>
            <a:ext cx="7162621" cy="375841"/>
          </a:xfrm>
          <a:prstGeom prst="rect">
            <a:avLst/>
          </a:prstGeom>
          <a:solidFill>
            <a:srgbClr val="1A1A1A"/>
          </a:solidFill>
          <a:ln/>
        </p:spPr>
      </p:sp>
      <p:sp>
        <p:nvSpPr>
          <p:cNvPr id="7" name="Text 5"/>
          <p:cNvSpPr/>
          <p:nvPr/>
        </p:nvSpPr>
        <p:spPr>
          <a:xfrm>
            <a:off x="711182" y="2902823"/>
            <a:ext cx="7010225"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KFOLD_DIAGRAM.SVG · 5-FOLD PROTOCOL</a:t>
            </a:r>
            <a:endParaRPr lang="en-US" sz="1300" dirty="0"/>
          </a:p>
        </p:txBody>
      </p:sp>
      <p:sp>
        <p:nvSpPr>
          <p:cNvPr id="8" name="Shape 6"/>
          <p:cNvSpPr/>
          <p:nvPr/>
        </p:nvSpPr>
        <p:spPr>
          <a:xfrm>
            <a:off x="558786" y="3182144"/>
            <a:ext cx="7162621" cy="1943100"/>
          </a:xfrm>
          <a:prstGeom prst="rect">
            <a:avLst/>
          </a:prstGeom>
          <a:solidFill>
            <a:srgbClr val="E6E6EA"/>
          </a:solidFill>
          <a:ln w="12700">
            <a:solidFill>
              <a:srgbClr val="1A1A1A"/>
            </a:solidFill>
            <a:prstDash val="solid"/>
          </a:ln>
        </p:spPr>
      </p:sp>
      <p:pic>
        <p:nvPicPr>
          <p:cNvPr id="9" name="Image 0" descr="preencoded.png"/>
          <p:cNvPicPr>
            <a:picLocks noChangeAspect="1"/>
          </p:cNvPicPr>
          <p:nvPr/>
        </p:nvPicPr>
        <p:blipFill>
          <a:blip r:embed="rId3"/>
          <a:stretch>
            <a:fillRect/>
          </a:stretch>
        </p:blipFill>
        <p:spPr>
          <a:xfrm>
            <a:off x="800080" y="3372644"/>
            <a:ext cx="6680033" cy="1562100"/>
          </a:xfrm>
          <a:prstGeom prst="rect">
            <a:avLst/>
          </a:prstGeom>
        </p:spPr>
      </p:pic>
      <p:sp>
        <p:nvSpPr>
          <p:cNvPr id="10" name="Shape 7"/>
          <p:cNvSpPr/>
          <p:nvPr/>
        </p:nvSpPr>
        <p:spPr>
          <a:xfrm>
            <a:off x="558786" y="5125244"/>
            <a:ext cx="7162621" cy="821630"/>
          </a:xfrm>
          <a:prstGeom prst="rect">
            <a:avLst/>
          </a:prstGeom>
          <a:solidFill>
            <a:srgbClr val="E6E6EA"/>
          </a:solidFill>
          <a:ln w="12700">
            <a:solidFill>
              <a:srgbClr val="1A1A1A"/>
            </a:solidFill>
            <a:prstDash val="solid"/>
          </a:ln>
        </p:spPr>
      </p:sp>
      <p:sp>
        <p:nvSpPr>
          <p:cNvPr id="11" name="Text 8"/>
          <p:cNvSpPr/>
          <p:nvPr/>
        </p:nvSpPr>
        <p:spPr>
          <a:xfrm>
            <a:off x="774681" y="5217636"/>
            <a:ext cx="6730832" cy="643830"/>
          </a:xfrm>
          <a:prstGeom prst="rect">
            <a:avLst/>
          </a:prstGeom>
          <a:noFill/>
          <a:ln/>
        </p:spPr>
        <p:txBody>
          <a:bodyPr wrap="square" lIns="0" tIns="0" rIns="0" bIns="0" rtlCol="0" anchor="t">
            <a:normAutofit/>
          </a:bodyPr>
          <a:lstStyle/>
          <a:p>
            <a:pPr marL="0" indent="0" algn="l">
              <a:lnSpc>
                <a:spcPct val="108000"/>
              </a:lnSpc>
              <a:buNone/>
            </a:pPr>
            <a:r>
              <a:rPr lang="en-US" sz="1300" dirty="0">
                <a:solidFill>
                  <a:srgbClr val="000000"/>
                </a:solidFill>
                <a:latin typeface="Fragment Mono" pitchFamily="34" charset="0"/>
                <a:ea typeface="Fragment Mono" pitchFamily="34" charset="-122"/>
                <a:cs typeface="Fragment Mono" pitchFamily="34" charset="-120"/>
              </a:rPr>
              <a:t>PROTOCOLO: 100 IMÁGENES DIVIDIDAS EN 5 FOLDS · 80 TRAIN / 20 VAL POR RONDA · VALIDACIÓN CRUZADA ES TÉCNICA DE PARTICIÓN, NO MÉTRICA DE ERROR.</a:t>
            </a:r>
            <a:endParaRPr lang="en-US" sz="1300" dirty="0"/>
          </a:p>
        </p:txBody>
      </p:sp>
      <p:sp>
        <p:nvSpPr>
          <p:cNvPr id="12" name="Shape 9"/>
          <p:cNvSpPr/>
          <p:nvPr/>
        </p:nvSpPr>
        <p:spPr>
          <a:xfrm>
            <a:off x="8127797" y="0"/>
            <a:ext cx="4063898" cy="6858000"/>
          </a:xfrm>
          <a:prstGeom prst="rect">
            <a:avLst/>
          </a:prstGeom>
          <a:solidFill>
            <a:srgbClr val="B8B8C4"/>
          </a:solidFill>
          <a:ln/>
        </p:spPr>
      </p:sp>
      <p:pic>
        <p:nvPicPr>
          <p:cNvPr id="13" name="Image 1" descr="preencoded.png"/>
          <p:cNvPicPr>
            <a:picLocks noChangeAspect="1"/>
          </p:cNvPicPr>
          <p:nvPr/>
        </p:nvPicPr>
        <p:blipFill>
          <a:blip r:embed="rId4"/>
          <a:stretch>
            <a:fillRect/>
          </a:stretch>
        </p:blipFill>
        <p:spPr>
          <a:xfrm>
            <a:off x="8127797" y="0"/>
            <a:ext cx="406389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82588" y="203200"/>
            <a:ext cx="2241593" cy="336649"/>
          </a:xfrm>
          <a:prstGeom prst="rect">
            <a:avLst/>
          </a:prstGeom>
          <a:solidFill>
            <a:srgbClr val="1A1A1A"/>
          </a:solidFill>
          <a:ln/>
        </p:spPr>
      </p:sp>
      <p:sp>
        <p:nvSpPr>
          <p:cNvPr id="3" name="Text 1"/>
          <p:cNvSpPr/>
          <p:nvPr/>
        </p:nvSpPr>
        <p:spPr>
          <a:xfrm>
            <a:off x="612065" y="273225"/>
            <a:ext cx="259222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REGRESIÓN NUMÉRICA</a:t>
            </a:r>
            <a:endParaRPr lang="en-US" sz="1350" dirty="0"/>
          </a:p>
        </p:txBody>
      </p:sp>
      <p:sp>
        <p:nvSpPr>
          <p:cNvPr id="4" name="Text 2"/>
          <p:cNvSpPr/>
          <p:nvPr/>
        </p:nvSpPr>
        <p:spPr>
          <a:xfrm>
            <a:off x="482588" y="670469"/>
            <a:ext cx="11226519"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Regresión: ¿qué tanto se equivoca el modelo?</a:t>
            </a:r>
            <a:endParaRPr lang="en-US" sz="3400" dirty="0"/>
          </a:p>
        </p:txBody>
      </p:sp>
      <p:sp>
        <p:nvSpPr>
          <p:cNvPr id="5" name="Text 3"/>
          <p:cNvSpPr/>
          <p:nvPr/>
        </p:nvSpPr>
        <p:spPr>
          <a:xfrm>
            <a:off x="482588" y="1273274"/>
            <a:ext cx="11226519" cy="1067891"/>
          </a:xfrm>
          <a:prstGeom prst="rect">
            <a:avLst/>
          </a:prstGeom>
          <a:noFill/>
          <a:ln/>
        </p:spPr>
        <p:txBody>
          <a:bodyPr wrap="square" lIns="0" tIns="0" rIns="0" bIns="0" rtlCol="0" anchor="t">
            <a:normAutofit/>
          </a:bodyPr>
          <a:lstStyle/>
          <a:p>
            <a:pPr marL="0" indent="0" algn="l">
              <a:lnSpc>
                <a:spcPct val="112000"/>
              </a:lnSpc>
              <a:spcAft>
                <a:spcPts val="1500"/>
              </a:spcAft>
              <a:buNone/>
            </a:pPr>
            <a:r>
              <a:rPr lang="en-US" sz="1700" dirty="0">
                <a:solidFill>
                  <a:srgbClr val="1A1A1A"/>
                </a:solidFill>
                <a:latin typeface="Inter Tight" pitchFamily="34" charset="0"/>
                <a:ea typeface="Inter Tight" pitchFamily="34" charset="-122"/>
                <a:cs typeface="Inter Tight" pitchFamily="34" charset="-120"/>
              </a:rPr>
              <a:t>Se usa para precios, temperaturas o ventas. Ejemplo ilustrativo: una vivienda vale 300 millones y la IA predice 320 millones.</a:t>
            </a:r>
            <a:endParaRPr lang="en-US" sz="1700" dirty="0"/>
          </a:p>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120"/>
              </a:rPr>
              <a:t>MAE = promedio de |error|; RMSE = √MSE; R² compara la variación explicada con la variación total.</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2588" y="2534841"/>
          <a:ext cx="11226519" cy="914400"/>
        </p:xfrm>
        <a:graphic>
          <a:graphicData uri="http://schemas.openxmlformats.org/drawingml/2006/table">
            <a:tbl>
              <a:tblPr/>
              <a:tblGrid>
                <a:gridCol w="1459372">
                  <a:extLst>
                    <a:ext uri="{9D8B030D-6E8A-4147-A177-3AD203B41FA5}">
                      <a16:colId xmlns:a16="http://schemas.microsoft.com/office/drawing/2014/main" val="20000"/>
                    </a:ext>
                  </a:extLst>
                </a:gridCol>
                <a:gridCol w="4378315">
                  <a:extLst>
                    <a:ext uri="{9D8B030D-6E8A-4147-A177-3AD203B41FA5}">
                      <a16:colId xmlns:a16="http://schemas.microsoft.com/office/drawing/2014/main" val="20001"/>
                    </a:ext>
                  </a:extLst>
                </a:gridCol>
                <a:gridCol w="5388832">
                  <a:extLst>
                    <a:ext uri="{9D8B030D-6E8A-4147-A177-3AD203B41FA5}">
                      <a16:colId xmlns:a16="http://schemas.microsoft.com/office/drawing/2014/main" val="20002"/>
                    </a:ext>
                  </a:extLst>
                </a:gridCol>
              </a:tblGrid>
              <a:tr h="476734">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120"/>
                        </a:rPr>
                        <a:t>Métrica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120"/>
                        </a:rPr>
                        <a:t>Utilidad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120"/>
                        </a:rPr>
                        <a:t>Interpretación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0"/>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RSS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Suma de residuos al cuadrado</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Error total; más bajo es mejor</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1"/>
                  </a:ext>
                </a:extLst>
              </a:tr>
              <a:tr h="768132">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RSE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Dispersión de residuos con grados de libertad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Error residual ajustado por complejidad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2"/>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MSE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Promedio de errores al cuadrado</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Penaliza más los errores grandes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3"/>
                  </a:ext>
                </a:extLst>
              </a:tr>
              <a:tr h="768132">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RMSE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Raíz del MSE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Error en unidades originales; sensible a errores grandes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4"/>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MAE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Promedio de errores absolutos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Error promedio fácil de interpretar</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5"/>
                  </a:ext>
                </a:extLst>
              </a:tr>
              <a:tr h="755433">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R²</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Variación explicada por el modelo</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No es porcentaje de aciertos; mayor suele indicar mejor ajuste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58786" y="355600"/>
            <a:ext cx="2571983" cy="336649"/>
          </a:xfrm>
          <a:prstGeom prst="rect">
            <a:avLst/>
          </a:prstGeom>
          <a:solidFill>
            <a:srgbClr val="1A1A1A"/>
          </a:solidFill>
          <a:ln/>
        </p:spPr>
      </p:sp>
      <p:sp>
        <p:nvSpPr>
          <p:cNvPr id="3" name="Text 1"/>
          <p:cNvSpPr/>
          <p:nvPr/>
        </p:nvSpPr>
        <p:spPr>
          <a:xfrm>
            <a:off x="688263" y="425625"/>
            <a:ext cx="2922614"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CLASIFICACIÓN BINARIA</a:t>
            </a:r>
            <a:endParaRPr lang="en-US" sz="1350" dirty="0"/>
          </a:p>
        </p:txBody>
      </p:sp>
      <p:sp>
        <p:nvSpPr>
          <p:cNvPr id="4" name="Text 2"/>
          <p:cNvSpPr/>
          <p:nvPr/>
        </p:nvSpPr>
        <p:spPr>
          <a:xfrm>
            <a:off x="558786" y="822869"/>
            <a:ext cx="11074123"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Clasificación: ¿qué acierta y en qué se equivoca la IA?</a:t>
            </a:r>
            <a:endParaRPr lang="en-US" sz="3400" dirty="0"/>
          </a:p>
        </p:txBody>
      </p:sp>
      <p:sp>
        <p:nvSpPr>
          <p:cNvPr id="5" name="Text 3"/>
          <p:cNvSpPr/>
          <p:nvPr/>
        </p:nvSpPr>
        <p:spPr>
          <a:xfrm>
            <a:off x="558786" y="1430199"/>
            <a:ext cx="11632909" cy="248543"/>
          </a:xfrm>
          <a:prstGeom prst="rect">
            <a:avLst/>
          </a:prstGeom>
          <a:noFill/>
          <a:ln/>
        </p:spPr>
        <p:txBody>
          <a:bodyPr wrap="none" lIns="0" tIns="0" rIns="0" bIns="0" rtlCol="0" anchor="t"/>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120"/>
              </a:rPr>
              <a:t>Ejemplo ilustrativo con 100 pacientes y una IA que detecta enfermedades.</a:t>
            </a:r>
            <a:endParaRPr lang="en-US" sz="1450" dirty="0"/>
          </a:p>
        </p:txBody>
      </p:sp>
      <p:sp>
        <p:nvSpPr>
          <p:cNvPr id="6" name="Shape 4"/>
          <p:cNvSpPr/>
          <p:nvPr/>
        </p:nvSpPr>
        <p:spPr>
          <a:xfrm>
            <a:off x="558786" y="1801217"/>
            <a:ext cx="11074123" cy="375841"/>
          </a:xfrm>
          <a:prstGeom prst="rect">
            <a:avLst/>
          </a:prstGeom>
          <a:solidFill>
            <a:srgbClr val="1A1A1A"/>
          </a:solidFill>
          <a:ln/>
        </p:spPr>
      </p:sp>
      <p:sp>
        <p:nvSpPr>
          <p:cNvPr id="7" name="Text 5"/>
          <p:cNvSpPr/>
          <p:nvPr/>
        </p:nvSpPr>
        <p:spPr>
          <a:xfrm>
            <a:off x="711182" y="1897737"/>
            <a:ext cx="10921727"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CONFUSION_MATRIX.LOG · COHORTE ILUSTRATIVA DE 100 PACIENTES</a:t>
            </a:r>
            <a:endParaRPr lang="en-US" sz="1300" dirty="0"/>
          </a:p>
        </p:txBody>
      </p:sp>
      <p:sp>
        <p:nvSpPr>
          <p:cNvPr id="8" name="Shape 6"/>
          <p:cNvSpPr/>
          <p:nvPr/>
        </p:nvSpPr>
        <p:spPr>
          <a:xfrm>
            <a:off x="558786" y="2177058"/>
            <a:ext cx="11074123" cy="2551013"/>
          </a:xfrm>
          <a:prstGeom prst="rect">
            <a:avLst/>
          </a:prstGeom>
          <a:solidFill>
            <a:srgbClr val="E6E6EA"/>
          </a:solidFill>
          <a:ln w="12700">
            <a:solidFill>
              <a:srgbClr val="1A1A1A"/>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479" y="2316758"/>
          <a:ext cx="10540736" cy="914400"/>
        </p:xfrm>
        <a:graphic>
          <a:graphicData uri="http://schemas.openxmlformats.org/drawingml/2006/table">
            <a:tbl>
              <a:tblPr/>
              <a:tblGrid>
                <a:gridCol w="3162201">
                  <a:extLst>
                    <a:ext uri="{9D8B030D-6E8A-4147-A177-3AD203B41FA5}">
                      <a16:colId xmlns:a16="http://schemas.microsoft.com/office/drawing/2014/main" val="20000"/>
                    </a:ext>
                  </a:extLst>
                </a:gridCol>
                <a:gridCol w="3689218">
                  <a:extLst>
                    <a:ext uri="{9D8B030D-6E8A-4147-A177-3AD203B41FA5}">
                      <a16:colId xmlns:a16="http://schemas.microsoft.com/office/drawing/2014/main" val="20001"/>
                    </a:ext>
                  </a:extLst>
                </a:gridCol>
                <a:gridCol w="3689317">
                  <a:extLst>
                    <a:ext uri="{9D8B030D-6E8A-4147-A177-3AD203B41FA5}">
                      <a16:colId xmlns:a16="http://schemas.microsoft.com/office/drawing/2014/main" val="20002"/>
                    </a:ext>
                  </a:extLst>
                </a:gridCol>
              </a:tblGrid>
              <a:tr h="476734">
                <a:tc>
                  <a:txBody>
                    <a:bodyPr/>
                    <a:lstStyle/>
                    <a:p>
                      <a:pPr marL="0" indent="0">
                        <a:buNone/>
                      </a:pPr>
                      <a:endParaRPr lang="en-US" sz="17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ctr">
                        <a:buNone/>
                      </a:pPr>
                      <a:r>
                        <a:rPr lang="en-US" sz="1700" b="1" dirty="0">
                          <a:solidFill>
                            <a:srgbClr val="000000"/>
                          </a:solidFill>
                          <a:latin typeface="Inter Tight" pitchFamily="34" charset="0"/>
                          <a:ea typeface="Inter Tight" pitchFamily="34" charset="-122"/>
                          <a:cs typeface="Inter Tight" pitchFamily="34" charset="-120"/>
                        </a:rPr>
                        <a:t>Enfermedad real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ctr">
                        <a:buNone/>
                      </a:pPr>
                      <a:r>
                        <a:rPr lang="en-US" sz="1700" b="1" dirty="0">
                          <a:solidFill>
                            <a:srgbClr val="000000"/>
                          </a:solidFill>
                          <a:latin typeface="Inter Tight" pitchFamily="34" charset="0"/>
                          <a:ea typeface="Inter Tight" pitchFamily="34" charset="-122"/>
                          <a:cs typeface="Inter Tight" pitchFamily="34" charset="-120"/>
                        </a:rPr>
                        <a:t>Sin enfermedad real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0"/>
                  </a:ext>
                </a:extLst>
              </a:tr>
              <a:tr h="891061">
                <a:tc>
                  <a:txBody>
                    <a:bodyPr/>
                    <a:lstStyle/>
                    <a:p>
                      <a:pPr marL="0" indent="0" algn="l">
                        <a:buNone/>
                      </a:pPr>
                      <a:r>
                        <a:rPr lang="en-US" sz="1700" b="1" dirty="0">
                          <a:solidFill>
                            <a:srgbClr val="000000"/>
                          </a:solidFill>
                          <a:latin typeface="Inter Tight" pitchFamily="34" charset="0"/>
                          <a:ea typeface="Inter Tight" pitchFamily="34" charset="-122"/>
                          <a:cs typeface="Inter Tight" pitchFamily="34" charset="-120"/>
                        </a:rPr>
                        <a:t>Predice enfermedad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ctr">
                        <a:buNone/>
                      </a:pPr>
                      <a:r>
                        <a:rPr lang="en-US" sz="1900" kern="100" spc="-9" dirty="0">
                          <a:solidFill>
                            <a:srgbClr val="000000"/>
                          </a:solidFill>
                          <a:latin typeface="Inter Tight" pitchFamily="34" charset="0"/>
                          <a:ea typeface="Inter Tight" pitchFamily="34" charset="-122"/>
                          <a:cs typeface="Inter Tight" pitchFamily="34" charset="-120"/>
                        </a:rPr>
                        <a:t>TP / VP: 40</a:t>
                      </a:r>
                      <a:endParaRPr lang="en-US" sz="1900" dirty="0">
                        <a:latin typeface="Inter Tight" charset="0"/>
                        <a:ea typeface="Inter Tight" charset="0"/>
                        <a:cs typeface="Inter Tight" charset="0"/>
                      </a:endParaRPr>
                    </a:p>
                    <a:p>
                      <a:pPr marL="0" indent="0" algn="ctr">
                        <a:buNone/>
                      </a:pPr>
                      <a:r>
                        <a:rPr lang="en-US" sz="1450" kern="100" spc="-9" dirty="0">
                          <a:solidFill>
                            <a:srgbClr val="000000"/>
                          </a:solidFill>
                          <a:latin typeface="Inter Tight" pitchFamily="34" charset="0"/>
                          <a:ea typeface="Inter Tight" pitchFamily="34" charset="-122"/>
                          <a:cs typeface="Inter Tight" pitchFamily="34" charset="-120"/>
                        </a:rPr>
                        <a:t>Detectado correctamente</a:t>
                      </a:r>
                      <a:endParaRPr lang="en-US" sz="19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2DAFB"/>
                    </a:solidFill>
                  </a:tcPr>
                </a:tc>
                <a:tc>
                  <a:txBody>
                    <a:bodyPr/>
                    <a:lstStyle/>
                    <a:p>
                      <a:pPr marL="0" indent="0" algn="ctr">
                        <a:buNone/>
                      </a:pPr>
                      <a:r>
                        <a:rPr lang="en-US" sz="1900" kern="100" spc="-9" dirty="0">
                          <a:solidFill>
                            <a:srgbClr val="000000"/>
                          </a:solidFill>
                          <a:latin typeface="Inter Tight" pitchFamily="34" charset="0"/>
                          <a:ea typeface="Inter Tight" pitchFamily="34" charset="-122"/>
                          <a:cs typeface="Inter Tight" pitchFamily="34" charset="-120"/>
                        </a:rPr>
                        <a:t>FP: 5</a:t>
                      </a:r>
                      <a:endParaRPr lang="en-US" sz="1900" dirty="0">
                        <a:latin typeface="Inter Tight" charset="0"/>
                        <a:ea typeface="Inter Tight" charset="0"/>
                        <a:cs typeface="Inter Tight" charset="0"/>
                      </a:endParaRPr>
                    </a:p>
                    <a:p>
                      <a:pPr marL="0" indent="0" algn="ctr">
                        <a:buNone/>
                      </a:pPr>
                      <a:r>
                        <a:rPr lang="en-US" sz="1450" kern="100" spc="-9" dirty="0">
                          <a:solidFill>
                            <a:srgbClr val="000000"/>
                          </a:solidFill>
                          <a:latin typeface="Inter Tight" pitchFamily="34" charset="0"/>
                          <a:ea typeface="Inter Tight" pitchFamily="34" charset="-122"/>
                          <a:cs typeface="Inter Tight" pitchFamily="34" charset="-120"/>
                        </a:rPr>
                        <a:t>Falsa alarma</a:t>
                      </a:r>
                      <a:endParaRPr lang="en-US" sz="19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78362">
                <a:tc>
                  <a:txBody>
                    <a:bodyPr/>
                    <a:lstStyle/>
                    <a:p>
                      <a:pPr marL="0" indent="0" algn="l">
                        <a:buNone/>
                      </a:pPr>
                      <a:r>
                        <a:rPr lang="en-US" sz="1700" b="1" dirty="0">
                          <a:solidFill>
                            <a:srgbClr val="000000"/>
                          </a:solidFill>
                          <a:latin typeface="Inter Tight" pitchFamily="34" charset="0"/>
                          <a:ea typeface="Inter Tight" pitchFamily="34" charset="-122"/>
                          <a:cs typeface="Inter Tight" pitchFamily="34" charset="-120"/>
                        </a:rPr>
                        <a:t>Predice sin enfermedad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ctr">
                        <a:buNone/>
                      </a:pPr>
                      <a:r>
                        <a:rPr lang="en-US" sz="1900" kern="100" spc="-9" dirty="0">
                          <a:solidFill>
                            <a:srgbClr val="000000"/>
                          </a:solidFill>
                          <a:latin typeface="Inter Tight" pitchFamily="34" charset="0"/>
                          <a:ea typeface="Inter Tight" pitchFamily="34" charset="-122"/>
                          <a:cs typeface="Inter Tight" pitchFamily="34" charset="-120"/>
                        </a:rPr>
                        <a:t>FN: 10</a:t>
                      </a:r>
                      <a:endParaRPr lang="en-US" sz="1900" dirty="0">
                        <a:latin typeface="Inter Tight" charset="0"/>
                        <a:ea typeface="Inter Tight" charset="0"/>
                        <a:cs typeface="Inter Tight" charset="0"/>
                      </a:endParaRPr>
                    </a:p>
                    <a:p>
                      <a:pPr marL="0" indent="0" algn="ctr">
                        <a:buNone/>
                      </a:pPr>
                      <a:r>
                        <a:rPr lang="en-US" sz="1450" kern="100" spc="-9" dirty="0">
                          <a:solidFill>
                            <a:srgbClr val="000000"/>
                          </a:solidFill>
                          <a:latin typeface="Inter Tight" pitchFamily="34" charset="0"/>
                          <a:ea typeface="Inter Tight" pitchFamily="34" charset="-122"/>
                          <a:cs typeface="Inter Tight" pitchFamily="34" charset="-120"/>
                        </a:rPr>
                        <a:t>Caso positivo no detectado</a:t>
                      </a:r>
                      <a:endParaRPr lang="en-US" sz="19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FFFFFF"/>
                    </a:solidFill>
                  </a:tcPr>
                </a:tc>
                <a:tc>
                  <a:txBody>
                    <a:bodyPr/>
                    <a:lstStyle/>
                    <a:p>
                      <a:pPr marL="0" indent="0" algn="ctr">
                        <a:buNone/>
                      </a:pPr>
                      <a:r>
                        <a:rPr lang="en-US" sz="1900" kern="100" spc="-9" dirty="0">
                          <a:solidFill>
                            <a:srgbClr val="000000"/>
                          </a:solidFill>
                          <a:latin typeface="Inter Tight" pitchFamily="34" charset="0"/>
                          <a:ea typeface="Inter Tight" pitchFamily="34" charset="-122"/>
                          <a:cs typeface="Inter Tight" pitchFamily="34" charset="-120"/>
                        </a:rPr>
                        <a:t>TN / VN: 45</a:t>
                      </a:r>
                      <a:endParaRPr lang="en-US" sz="1900" dirty="0">
                        <a:latin typeface="Inter Tight" charset="0"/>
                        <a:ea typeface="Inter Tight" charset="0"/>
                        <a:cs typeface="Inter Tight" charset="0"/>
                      </a:endParaRPr>
                    </a:p>
                    <a:p>
                      <a:pPr marL="0" indent="0" algn="ctr">
                        <a:buNone/>
                      </a:pPr>
                      <a:r>
                        <a:rPr lang="en-US" sz="1450" kern="100" spc="-9" dirty="0">
                          <a:solidFill>
                            <a:srgbClr val="000000"/>
                          </a:solidFill>
                          <a:latin typeface="Inter Tight" pitchFamily="34" charset="0"/>
                          <a:ea typeface="Inter Tight" pitchFamily="34" charset="-122"/>
                          <a:cs typeface="Inter Tight" pitchFamily="34" charset="-120"/>
                        </a:rPr>
                        <a:t>Descartado correctamente</a:t>
                      </a:r>
                      <a:endParaRPr lang="en-US" sz="1900" dirty="0">
                        <a:latin typeface="Inter Tight" charset="0"/>
                        <a:ea typeface="Inter Tight" charset="0"/>
                        <a:cs typeface="Inter Tight" charset="0"/>
                      </a:endParaRPr>
                    </a:p>
                  </a:txBody>
                  <a:tcPr marL="161921" marR="161921" marT="86358" marB="86358" anchor="ctr">
                    <a:lnL w="12700" cap="flat" cmpd="sng" algn="ctr">
                      <a:solidFill>
                        <a:srgbClr val="9A9A9A"/>
                      </a:solidFill>
                      <a:prstDash val="solid"/>
                      <a:round/>
                      <a:headEnd type="none" w="med" len="med"/>
                      <a:tailEnd type="none" w="med" len="med"/>
                    </a:lnL>
                    <a:lnR w="12700" cap="flat" cmpd="sng" algn="ctr">
                      <a:solidFill>
                        <a:srgbClr val="9A9A9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2DAFB"/>
                    </a:solidFill>
                  </a:tcPr>
                </a:tc>
                <a:extLst>
                  <a:ext uri="{0D108BD9-81ED-4DB2-BD59-A6C34878D82A}">
                    <a16:rowId xmlns:a16="http://schemas.microsoft.com/office/drawing/2014/main" val="10002"/>
                  </a:ext>
                </a:extLst>
              </a:tr>
            </a:tbl>
          </a:graphicData>
        </a:graphic>
      </p:graphicFrame>
      <p:sp>
        <p:nvSpPr>
          <p:cNvPr id="10" name="Shape 7"/>
          <p:cNvSpPr/>
          <p:nvPr/>
        </p:nvSpPr>
        <p:spPr>
          <a:xfrm>
            <a:off x="558786" y="4728071"/>
            <a:ext cx="11074123" cy="392410"/>
          </a:xfrm>
          <a:prstGeom prst="rect">
            <a:avLst/>
          </a:prstGeom>
          <a:solidFill>
            <a:srgbClr val="E6E6EA"/>
          </a:solidFill>
          <a:ln w="12700">
            <a:solidFill>
              <a:srgbClr val="1A1A1A"/>
            </a:solidFill>
            <a:prstDash val="solid"/>
          </a:ln>
        </p:spPr>
      </p:sp>
      <p:sp>
        <p:nvSpPr>
          <p:cNvPr id="11" name="Text 8"/>
          <p:cNvSpPr/>
          <p:nvPr/>
        </p:nvSpPr>
        <p:spPr>
          <a:xfrm>
            <a:off x="825479" y="4820464"/>
            <a:ext cx="10807430" cy="214610"/>
          </a:xfrm>
          <a:prstGeom prst="rect">
            <a:avLst/>
          </a:prstGeom>
          <a:noFill/>
          <a:ln/>
        </p:spPr>
        <p:txBody>
          <a:bodyPr wrap="none" lIns="0" tIns="0" rIns="0" bIns="0" rtlCol="0" anchor="t"/>
          <a:lstStyle/>
          <a:p>
            <a:pPr marL="0" indent="0" algn="l">
              <a:lnSpc>
                <a:spcPct val="108000"/>
              </a:lnSpc>
              <a:buNone/>
            </a:pPr>
            <a:r>
              <a:rPr lang="en-US" sz="1300" dirty="0">
                <a:solidFill>
                  <a:srgbClr val="000000"/>
                </a:solidFill>
                <a:latin typeface="Fragment Mono" pitchFamily="34" charset="0"/>
                <a:ea typeface="Fragment Mono" pitchFamily="34" charset="-122"/>
                <a:cs typeface="Fragment Mono" pitchFamily="34" charset="-120"/>
              </a:rPr>
              <a:t>DOS MODELOS PUEDEN TENER ACIERTOS SIMILARES, PERO CONSECUENCIAS MUY DIFERENTES SI CAMBIAN FP Y FN.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189" y="254000"/>
            <a:ext cx="3122733" cy="336649"/>
          </a:xfrm>
          <a:prstGeom prst="rect">
            <a:avLst/>
          </a:prstGeom>
          <a:solidFill>
            <a:srgbClr val="1A1A1A"/>
          </a:solidFill>
          <a:ln/>
        </p:spPr>
      </p:sp>
      <p:sp>
        <p:nvSpPr>
          <p:cNvPr id="3" name="Text 1"/>
          <p:cNvSpPr/>
          <p:nvPr/>
        </p:nvSpPr>
        <p:spPr>
          <a:xfrm>
            <a:off x="586666" y="324025"/>
            <a:ext cx="347336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COMPENDIO DE CLASIFICACIÓN</a:t>
            </a:r>
            <a:endParaRPr lang="en-US" sz="1350" dirty="0"/>
          </a:p>
        </p:txBody>
      </p:sp>
      <p:sp>
        <p:nvSpPr>
          <p:cNvPr id="4" name="Text 2"/>
          <p:cNvSpPr/>
          <p:nvPr/>
        </p:nvSpPr>
        <p:spPr>
          <a:xfrm>
            <a:off x="457189" y="716435"/>
            <a:ext cx="11277318" cy="406400"/>
          </a:xfrm>
          <a:prstGeom prst="rect">
            <a:avLst/>
          </a:prstGeom>
          <a:noFill/>
          <a:ln/>
        </p:spPr>
        <p:txBody>
          <a:bodyPr wrap="none" lIns="0" tIns="0" rIns="0" bIns="0" rtlCol="0" anchor="t"/>
          <a:lstStyle/>
          <a:p>
            <a:pPr marL="0" indent="0" algn="l">
              <a:lnSpc>
                <a:spcPct val="83000"/>
              </a:lnSpc>
              <a:buNone/>
            </a:pPr>
            <a:r>
              <a:rPr lang="en-US" sz="3200" kern="100" spc="-112" dirty="0">
                <a:solidFill>
                  <a:srgbClr val="121212"/>
                </a:solidFill>
                <a:latin typeface="Inter Tight SemiBold" pitchFamily="34" charset="0"/>
                <a:ea typeface="Inter Tight SemiBold" pitchFamily="34" charset="-122"/>
                <a:cs typeface="Inter Tight SemiBold" pitchFamily="34" charset="-120"/>
              </a:rPr>
              <a:t>Accuracy, Precision, Recall y otras métricas</a:t>
            </a:r>
            <a:endParaRPr lang="en-US" sz="3200" dirty="0"/>
          </a:p>
        </p:txBody>
      </p:sp>
      <p:sp>
        <p:nvSpPr>
          <p:cNvPr id="5" name="Text 3"/>
          <p:cNvSpPr/>
          <p:nvPr/>
        </p:nvSpPr>
        <p:spPr>
          <a:xfrm>
            <a:off x="457189" y="1306770"/>
            <a:ext cx="11277318"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120"/>
              </a:rPr>
              <a:t>Precision prioriza la confiabilidad de una alerta; Recall, no dejar casos positivos sin detectar. Nota: 99% de accuracy puede ocultar que no se detecta ningún fraude si las clases están muy desbalanceadas.</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189" y="2075160"/>
          <a:ext cx="11277318" cy="914400"/>
        </p:xfrm>
        <a:graphic>
          <a:graphicData uri="http://schemas.openxmlformats.org/drawingml/2006/table">
            <a:tbl>
              <a:tblPr/>
              <a:tblGrid>
                <a:gridCol w="2706521">
                  <a:extLst>
                    <a:ext uri="{9D8B030D-6E8A-4147-A177-3AD203B41FA5}">
                      <a16:colId xmlns:a16="http://schemas.microsoft.com/office/drawing/2014/main" val="20000"/>
                    </a:ext>
                  </a:extLst>
                </a:gridCol>
                <a:gridCol w="4849195">
                  <a:extLst>
                    <a:ext uri="{9D8B030D-6E8A-4147-A177-3AD203B41FA5}">
                      <a16:colId xmlns:a16="http://schemas.microsoft.com/office/drawing/2014/main" val="20001"/>
                    </a:ext>
                  </a:extLst>
                </a:gridCol>
                <a:gridCol w="3721602">
                  <a:extLst>
                    <a:ext uri="{9D8B030D-6E8A-4147-A177-3AD203B41FA5}">
                      <a16:colId xmlns:a16="http://schemas.microsoft.com/office/drawing/2014/main" val="20002"/>
                    </a:ext>
                  </a:extLst>
                </a:gridCol>
              </a:tblGrid>
              <a:tr h="476734">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120"/>
                        </a:rPr>
                        <a:t>Métrica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120"/>
                        </a:rPr>
                        <a:t>Qué responde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21212"/>
                          </a:solidFill>
                          <a:latin typeface="Inter Tight" pitchFamily="34" charset="0"/>
                          <a:ea typeface="Inter Tight" pitchFamily="34" charset="-122"/>
                          <a:cs typeface="Inter Tight" pitchFamily="34" charset="-120"/>
                        </a:rPr>
                        <a:t>Uso práctico</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0"/>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Accuracy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¿Qué porcentaje total acertó?</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Clases equilibradas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1"/>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Balanced Accuracy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¿Cómo rinde en ambas clases?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Datos desbalanceados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2"/>
                  </a:ext>
                </a:extLst>
              </a:tr>
              <a:tr h="768132">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Precision</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De los positivos predichos, ¿cuántos son correctos?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Evitar falsas alarmas de fraude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3"/>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Recall / Sensibilidad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De los positivos reales, ¿cuántos detectó?</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Detectar pacientes enfermos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4"/>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Especificidad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De los negativos reales, ¿cuántos identificó?</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Descartar sanos o evitar alertas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5"/>
                  </a:ext>
                </a:extLst>
              </a:tr>
              <a:tr h="476734">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F1-Score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¿Cuál es el equilibrio entre precision y recall?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Balancear ambos riesgos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extLst>
                  <a:ext uri="{0D108BD9-81ED-4DB2-BD59-A6C34878D82A}">
                    <a16:rowId xmlns:a16="http://schemas.microsoft.com/office/drawing/2014/main" val="10006"/>
                  </a:ext>
                </a:extLst>
              </a:tr>
              <a:tr h="755433">
                <a:tc>
                  <a:txBody>
                    <a:bodyPr/>
                    <a:lstStyle/>
                    <a:p>
                      <a:pPr marL="0" indent="0" algn="l">
                        <a:buNone/>
                      </a:pPr>
                      <a:r>
                        <a:rPr lang="en-US" sz="1700" b="1" dirty="0">
                          <a:solidFill>
                            <a:srgbClr val="1A1A1A"/>
                          </a:solidFill>
                          <a:latin typeface="Inter Tight" pitchFamily="34" charset="0"/>
                          <a:ea typeface="Inter Tight" pitchFamily="34" charset="-122"/>
                          <a:cs typeface="Inter Tight" pitchFamily="34" charset="-120"/>
                        </a:rPr>
                        <a:t>Log Loss / Cross-Entropy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¿Qué tan buenas son las probabilidades?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marL="0" indent="0" algn="l">
                        <a:buNone/>
                      </a:pPr>
                      <a:r>
                        <a:rPr lang="en-US" sz="1700" dirty="0">
                          <a:solidFill>
                            <a:srgbClr val="1A1A1A"/>
                          </a:solidFill>
                          <a:latin typeface="Inter Tight" pitchFamily="34" charset="0"/>
                          <a:ea typeface="Inter Tight" pitchFamily="34" charset="-122"/>
                          <a:cs typeface="Inter Tight" pitchFamily="34" charset="-120"/>
                        </a:rPr>
                        <a:t>Distinguir 55% de 99% de confianza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189" y="254000"/>
            <a:ext cx="2461853" cy="336649"/>
          </a:xfrm>
          <a:prstGeom prst="rect">
            <a:avLst/>
          </a:prstGeom>
          <a:solidFill>
            <a:srgbClr val="1A1A1A"/>
          </a:solidFill>
          <a:ln/>
        </p:spPr>
      </p:sp>
      <p:sp>
        <p:nvSpPr>
          <p:cNvPr id="3" name="Text 1"/>
          <p:cNvSpPr/>
          <p:nvPr/>
        </p:nvSpPr>
        <p:spPr>
          <a:xfrm>
            <a:off x="586666" y="324025"/>
            <a:ext cx="2812484"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ANÁLISIS DE UMBRALES</a:t>
            </a:r>
            <a:endParaRPr lang="en-US" sz="1350" dirty="0"/>
          </a:p>
        </p:txBody>
      </p:sp>
      <p:sp>
        <p:nvSpPr>
          <p:cNvPr id="4" name="Text 2"/>
          <p:cNvSpPr/>
          <p:nvPr/>
        </p:nvSpPr>
        <p:spPr>
          <a:xfrm>
            <a:off x="457189" y="721269"/>
            <a:ext cx="11277318"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Curvas ROC y AUC: evaluar diferentes umbrales</a:t>
            </a:r>
            <a:endParaRPr lang="en-US" sz="3400" dirty="0"/>
          </a:p>
        </p:txBody>
      </p:sp>
      <p:sp>
        <p:nvSpPr>
          <p:cNvPr id="5" name="Text 3"/>
          <p:cNvSpPr/>
          <p:nvPr/>
        </p:nvSpPr>
        <p:spPr>
          <a:xfrm>
            <a:off x="457189" y="1328599"/>
            <a:ext cx="11277318" cy="497086"/>
          </a:xfrm>
          <a:prstGeom prst="rect">
            <a:avLst/>
          </a:prstGeom>
          <a:noFill/>
          <a:ln/>
        </p:spPr>
        <p:txBody>
          <a:bodyPr wrap="square" lIns="0" tIns="0" rIns="0" bIns="0" rtlCol="0" anchor="t">
            <a:normAutofit lnSpcReduction="10000"/>
          </a:bodyPr>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120"/>
              </a:rPr>
              <a:t>El umbral convierte probabilidades en positivos. ROC es la curva: relaciona sensibilidad y tasa de falsos positivos al mover el umbral; AUC resume su área. Precision–Recall relaciona precision y recall; AUC-PR resume su comportamiento.</a:t>
            </a:r>
            <a:endParaRPr lang="en-US" sz="1450" dirty="0"/>
          </a:p>
        </p:txBody>
      </p:sp>
      <p:sp>
        <p:nvSpPr>
          <p:cNvPr id="6" name="Shape 4"/>
          <p:cNvSpPr/>
          <p:nvPr/>
        </p:nvSpPr>
        <p:spPr>
          <a:xfrm>
            <a:off x="457189" y="2014835"/>
            <a:ext cx="6852768" cy="1047353"/>
          </a:xfrm>
          <a:prstGeom prst="rect">
            <a:avLst/>
          </a:prstGeom>
          <a:solidFill>
            <a:srgbClr val="1A1A1A"/>
          </a:solidFill>
          <a:ln/>
        </p:spPr>
      </p:sp>
      <p:sp>
        <p:nvSpPr>
          <p:cNvPr id="7" name="Text 5"/>
          <p:cNvSpPr/>
          <p:nvPr/>
        </p:nvSpPr>
        <p:spPr>
          <a:xfrm>
            <a:off x="609585" y="2447111"/>
            <a:ext cx="6700372"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ROC_CURVE_EVAL.SVG · TPR VS FPR</a:t>
            </a:r>
            <a:endParaRPr lang="en-US" sz="1300" dirty="0"/>
          </a:p>
        </p:txBody>
      </p:sp>
      <p:sp>
        <p:nvSpPr>
          <p:cNvPr id="8" name="Shape 6"/>
          <p:cNvSpPr/>
          <p:nvPr/>
        </p:nvSpPr>
        <p:spPr>
          <a:xfrm>
            <a:off x="457189" y="3062188"/>
            <a:ext cx="6852768" cy="3668812"/>
          </a:xfrm>
          <a:prstGeom prst="rect">
            <a:avLst/>
          </a:prstGeom>
          <a:solidFill>
            <a:srgbClr val="E6E6EA"/>
          </a:solidFill>
          <a:ln w="12700">
            <a:solidFill>
              <a:srgbClr val="1A1A1A"/>
            </a:solidFill>
            <a:prstDash val="solid"/>
          </a:ln>
        </p:spPr>
      </p:sp>
      <p:pic>
        <p:nvPicPr>
          <p:cNvPr id="9" name="Image 0" descr="preencoded.png"/>
          <p:cNvPicPr>
            <a:picLocks noChangeAspect="1"/>
          </p:cNvPicPr>
          <p:nvPr/>
        </p:nvPicPr>
        <p:blipFill>
          <a:blip r:embed="rId3"/>
          <a:stretch>
            <a:fillRect/>
          </a:stretch>
        </p:blipFill>
        <p:spPr>
          <a:xfrm>
            <a:off x="673083" y="3227288"/>
            <a:ext cx="6420979" cy="2667000"/>
          </a:xfrm>
          <a:prstGeom prst="rect">
            <a:avLst/>
          </a:prstGeom>
        </p:spPr>
      </p:pic>
      <p:sp>
        <p:nvSpPr>
          <p:cNvPr id="10" name="Shape 7"/>
          <p:cNvSpPr/>
          <p:nvPr/>
        </p:nvSpPr>
        <p:spPr>
          <a:xfrm>
            <a:off x="7767046" y="2956719"/>
            <a:ext cx="3967460" cy="375841"/>
          </a:xfrm>
          <a:prstGeom prst="rect">
            <a:avLst/>
          </a:prstGeom>
          <a:solidFill>
            <a:srgbClr val="1A1A1A"/>
          </a:solidFill>
          <a:ln/>
        </p:spPr>
      </p:sp>
      <p:sp>
        <p:nvSpPr>
          <p:cNvPr id="11" name="Text 8"/>
          <p:cNvSpPr/>
          <p:nvPr/>
        </p:nvSpPr>
        <p:spPr>
          <a:xfrm>
            <a:off x="7919443" y="3053239"/>
            <a:ext cx="3815064"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PR_VS_ROC.TXT</a:t>
            </a:r>
            <a:endParaRPr lang="en-US" sz="1300" dirty="0"/>
          </a:p>
        </p:txBody>
      </p:sp>
      <p:sp>
        <p:nvSpPr>
          <p:cNvPr id="12" name="Shape 9"/>
          <p:cNvSpPr/>
          <p:nvPr/>
        </p:nvSpPr>
        <p:spPr>
          <a:xfrm>
            <a:off x="7767046" y="3332559"/>
            <a:ext cx="3967460" cy="2456458"/>
          </a:xfrm>
          <a:prstGeom prst="rect">
            <a:avLst/>
          </a:prstGeom>
          <a:solidFill>
            <a:srgbClr val="E6E6EA"/>
          </a:solidFill>
          <a:ln w="12700">
            <a:solidFill>
              <a:srgbClr val="1A1A1A"/>
            </a:solidFill>
            <a:prstDash val="solid"/>
          </a:ln>
        </p:spPr>
      </p:sp>
      <p:sp>
        <p:nvSpPr>
          <p:cNvPr id="13" name="Text 10"/>
          <p:cNvSpPr/>
          <p:nvPr/>
        </p:nvSpPr>
        <p:spPr>
          <a:xfrm>
            <a:off x="8008340" y="3538141"/>
            <a:ext cx="3484872"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000000"/>
                </a:solidFill>
                <a:latin typeface="Inter Tight" pitchFamily="34" charset="0"/>
                <a:ea typeface="Inter Tight" pitchFamily="34" charset="-122"/>
                <a:cs typeface="Inter Tight" pitchFamily="34" charset="-120"/>
              </a:rPr>
              <a:t>Interpretación de escalas</a:t>
            </a:r>
            <a:endParaRPr lang="en-US" sz="1900" dirty="0"/>
          </a:p>
        </p:txBody>
      </p:sp>
      <p:sp>
        <p:nvSpPr>
          <p:cNvPr id="14" name="Text 11"/>
          <p:cNvSpPr/>
          <p:nvPr/>
        </p:nvSpPr>
        <p:spPr>
          <a:xfrm>
            <a:off x="8008340" y="3980259"/>
            <a:ext cx="3484872" cy="1618258"/>
          </a:xfrm>
          <a:prstGeom prst="rect">
            <a:avLst/>
          </a:prstGeom>
          <a:noFill/>
          <a:ln/>
        </p:spPr>
        <p:txBody>
          <a:bodyPr wrap="square" lIns="0" tIns="0" rIns="0" bIns="0" rtlCol="0" anchor="t">
            <a:normAutofit lnSpcReduction="10000"/>
          </a:bodyPr>
          <a:lstStyle/>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AUC-ROC:</a:t>
            </a:r>
            <a:r>
              <a:rPr lang="en-US" sz="1450" dirty="0">
                <a:solidFill>
                  <a:srgbClr val="000000"/>
                </a:solidFill>
                <a:latin typeface="Inter Tight" pitchFamily="34" charset="0"/>
                <a:ea typeface="Inter Tight" pitchFamily="34" charset="-122"/>
                <a:cs typeface="Inter Tight" pitchFamily="34" charset="-120"/>
              </a:rPr>
              <a:t> 0.5 = azar; 0.8 = buena discriminación en muchos contextos; 1.0 = perfecta. El gráfico muestra 0.88.</a:t>
            </a:r>
            <a:endParaRPr lang="en-US" sz="1450" dirty="0"/>
          </a:p>
          <a:p>
            <a:pPr marL="0" indent="0" algn="l">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Banco:</a:t>
            </a:r>
            <a:r>
              <a:rPr lang="en-US" sz="1450" dirty="0">
                <a:solidFill>
                  <a:srgbClr val="000000"/>
                </a:solidFill>
                <a:latin typeface="Inter Tight" pitchFamily="34" charset="0"/>
                <a:ea typeface="Inter Tight" pitchFamily="34" charset="-122"/>
                <a:cs typeface="Inter Tight" pitchFamily="34" charset="-120"/>
              </a:rPr>
              <a:t> subir el umbral de fraude de 50% a 80% reduce falsas alarmas, pero puede dejar escapar fraudes.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58786" y="254000"/>
            <a:ext cx="2131463" cy="336649"/>
          </a:xfrm>
          <a:prstGeom prst="rect">
            <a:avLst/>
          </a:prstGeom>
          <a:solidFill>
            <a:srgbClr val="1A1A1A"/>
          </a:solidFill>
          <a:ln/>
        </p:spPr>
      </p:sp>
      <p:sp>
        <p:nvSpPr>
          <p:cNvPr id="3" name="Text 1"/>
          <p:cNvSpPr/>
          <p:nvPr/>
        </p:nvSpPr>
        <p:spPr>
          <a:xfrm>
            <a:off x="688263" y="324025"/>
            <a:ext cx="248209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ESPACIOS MÉTRICOS</a:t>
            </a:r>
            <a:endParaRPr lang="en-US" sz="1350" dirty="0"/>
          </a:p>
        </p:txBody>
      </p:sp>
      <p:sp>
        <p:nvSpPr>
          <p:cNvPr id="4" name="Text 2"/>
          <p:cNvSpPr/>
          <p:nvPr/>
        </p:nvSpPr>
        <p:spPr>
          <a:xfrm>
            <a:off x="558786" y="721269"/>
            <a:ext cx="11074123"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Normas L1 y L2: dos formas de medir distancias</a:t>
            </a:r>
            <a:endParaRPr lang="en-US" sz="3400" dirty="0"/>
          </a:p>
        </p:txBody>
      </p:sp>
      <p:sp>
        <p:nvSpPr>
          <p:cNvPr id="5" name="Text 3"/>
          <p:cNvSpPr/>
          <p:nvPr/>
        </p:nvSpPr>
        <p:spPr>
          <a:xfrm>
            <a:off x="558786" y="1328599"/>
            <a:ext cx="11074123" cy="497086"/>
          </a:xfrm>
          <a:prstGeom prst="rect">
            <a:avLst/>
          </a:prstGeom>
          <a:noFill/>
          <a:ln/>
        </p:spPr>
        <p:txBody>
          <a:bodyPr wrap="square" lIns="0" tIns="0" rIns="0" bIns="0" rtlCol="0" anchor="t">
            <a:normAutofit lnSpcReduction="10000"/>
          </a:bodyPr>
          <a:lstStyle/>
          <a:p>
            <a:pPr marL="0" indent="0" algn="l">
              <a:lnSpc>
                <a:spcPct val="113000"/>
              </a:lnSpc>
              <a:buNone/>
            </a:pPr>
            <a:r>
              <a:rPr lang="en-US" sz="1450" dirty="0">
                <a:solidFill>
                  <a:srgbClr val="1A1A1A"/>
                </a:solidFill>
                <a:latin typeface="Inter Tight" pitchFamily="34" charset="0"/>
                <a:ea typeface="Inter Tight" pitchFamily="34" charset="-122"/>
                <a:cs typeface="Inter Tight" pitchFamily="34" charset="-120"/>
              </a:rPr>
              <a:t>Una norma cuantifica el tamaño o la distancia de un vector. También influye en las funciones de pérdida y la regularización (Lasso vs Ridge) durante el entrenamiento de redes profundas.</a:t>
            </a:r>
            <a:endParaRPr lang="en-US" sz="1450" dirty="0"/>
          </a:p>
        </p:txBody>
      </p:sp>
      <p:sp>
        <p:nvSpPr>
          <p:cNvPr id="6" name="Shape 4"/>
          <p:cNvSpPr/>
          <p:nvPr/>
        </p:nvSpPr>
        <p:spPr>
          <a:xfrm>
            <a:off x="558786" y="1948160"/>
            <a:ext cx="6016276" cy="1042591"/>
          </a:xfrm>
          <a:prstGeom prst="rect">
            <a:avLst/>
          </a:prstGeom>
          <a:solidFill>
            <a:srgbClr val="1A1A1A"/>
          </a:solidFill>
          <a:ln/>
        </p:spPr>
      </p:sp>
      <p:sp>
        <p:nvSpPr>
          <p:cNvPr id="7" name="Text 5"/>
          <p:cNvSpPr/>
          <p:nvPr/>
        </p:nvSpPr>
        <p:spPr>
          <a:xfrm>
            <a:off x="711182" y="2378055"/>
            <a:ext cx="5863880"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VECTOR_SPACE.SVG · PUNTO P(3, 4)</a:t>
            </a:r>
            <a:endParaRPr lang="en-US" sz="1300" dirty="0"/>
          </a:p>
        </p:txBody>
      </p:sp>
      <p:sp>
        <p:nvSpPr>
          <p:cNvPr id="8" name="Shape 6"/>
          <p:cNvSpPr/>
          <p:nvPr/>
        </p:nvSpPr>
        <p:spPr>
          <a:xfrm>
            <a:off x="558786" y="2990751"/>
            <a:ext cx="6016276" cy="3714849"/>
          </a:xfrm>
          <a:prstGeom prst="rect">
            <a:avLst/>
          </a:prstGeom>
          <a:solidFill>
            <a:srgbClr val="E6E6EA"/>
          </a:solidFill>
          <a:ln w="12700">
            <a:solidFill>
              <a:srgbClr val="1A1A1A"/>
            </a:solidFill>
            <a:prstDash val="solid"/>
          </a:ln>
        </p:spPr>
      </p:sp>
      <p:pic>
        <p:nvPicPr>
          <p:cNvPr id="9" name="Image 0" descr="preencoded.png"/>
          <p:cNvPicPr>
            <a:picLocks noChangeAspect="1"/>
          </p:cNvPicPr>
          <p:nvPr/>
        </p:nvPicPr>
        <p:blipFill>
          <a:blip r:embed="rId3"/>
          <a:stretch>
            <a:fillRect/>
          </a:stretch>
        </p:blipFill>
        <p:spPr>
          <a:xfrm>
            <a:off x="774681" y="3181251"/>
            <a:ext cx="5584487" cy="2667000"/>
          </a:xfrm>
          <a:prstGeom prst="rect">
            <a:avLst/>
          </a:prstGeom>
        </p:spPr>
      </p:pic>
      <p:sp>
        <p:nvSpPr>
          <p:cNvPr id="10" name="Shape 7"/>
          <p:cNvSpPr/>
          <p:nvPr/>
        </p:nvSpPr>
        <p:spPr>
          <a:xfrm>
            <a:off x="7032151" y="1948160"/>
            <a:ext cx="4600758" cy="696119"/>
          </a:xfrm>
          <a:prstGeom prst="rect">
            <a:avLst/>
          </a:prstGeom>
          <a:solidFill>
            <a:srgbClr val="1A1A1A"/>
          </a:solidFill>
          <a:ln/>
        </p:spPr>
      </p:sp>
      <p:sp>
        <p:nvSpPr>
          <p:cNvPr id="11" name="Text 8"/>
          <p:cNvSpPr/>
          <p:nvPr/>
        </p:nvSpPr>
        <p:spPr>
          <a:xfrm>
            <a:off x="7184548" y="2204819"/>
            <a:ext cx="4448361"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NORMS_PROPERTIES.TXT</a:t>
            </a:r>
            <a:endParaRPr lang="en-US" sz="1300" dirty="0"/>
          </a:p>
        </p:txBody>
      </p:sp>
      <p:sp>
        <p:nvSpPr>
          <p:cNvPr id="12" name="Shape 9"/>
          <p:cNvSpPr/>
          <p:nvPr/>
        </p:nvSpPr>
        <p:spPr>
          <a:xfrm>
            <a:off x="7032151" y="2644279"/>
            <a:ext cx="4600758" cy="4061321"/>
          </a:xfrm>
          <a:prstGeom prst="rect">
            <a:avLst/>
          </a:prstGeom>
          <a:solidFill>
            <a:srgbClr val="E6E6EA"/>
          </a:solidFill>
          <a:ln w="12700">
            <a:solidFill>
              <a:srgbClr val="1A1A1A"/>
            </a:solidFill>
            <a:prstDash val="solid"/>
          </a:ln>
        </p:spPr>
      </p:sp>
      <p:sp>
        <p:nvSpPr>
          <p:cNvPr id="13" name="Text 10"/>
          <p:cNvSpPr/>
          <p:nvPr/>
        </p:nvSpPr>
        <p:spPr>
          <a:xfrm>
            <a:off x="7273445" y="2849860"/>
            <a:ext cx="4118170"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000000"/>
                </a:solidFill>
                <a:latin typeface="Inter Tight" pitchFamily="34" charset="0"/>
                <a:ea typeface="Inter Tight" pitchFamily="34" charset="-122"/>
                <a:cs typeface="Inter Tight" pitchFamily="34" charset="-120"/>
              </a:rPr>
              <a:t>Norma L1 — Manhattan</a:t>
            </a:r>
            <a:endParaRPr lang="en-US" sz="1900" dirty="0"/>
          </a:p>
        </p:txBody>
      </p:sp>
      <p:sp>
        <p:nvSpPr>
          <p:cNvPr id="14" name="Text 11"/>
          <p:cNvSpPr/>
          <p:nvPr/>
        </p:nvSpPr>
        <p:spPr>
          <a:xfrm>
            <a:off x="7273445" y="3296503"/>
            <a:ext cx="4118170" cy="745629"/>
          </a:xfrm>
          <a:prstGeom prst="rect">
            <a:avLst/>
          </a:prstGeom>
          <a:noFill/>
          <a:ln/>
        </p:spPr>
        <p:txBody>
          <a:bodyPr wrap="square" lIns="0" tIns="0" rIns="0" bIns="0" rtlCol="0" anchor="t">
            <a:normAutofit lnSpcReduction="10000"/>
          </a:bodyPr>
          <a:lstStyle/>
          <a:p>
            <a:pPr marL="0" indent="0" algn="l">
              <a:lnSpc>
                <a:spcPct val="113000"/>
              </a:lnSpc>
              <a:buNone/>
            </a:pPr>
            <a:r>
              <a:rPr lang="en-US" sz="1450" dirty="0">
                <a:solidFill>
                  <a:srgbClr val="000000"/>
                </a:solidFill>
                <a:latin typeface="Inter Tight" pitchFamily="34" charset="0"/>
                <a:ea typeface="Inter Tight" pitchFamily="34" charset="-122"/>
                <a:cs typeface="Inter Tight" pitchFamily="34" charset="-120"/>
              </a:rPr>
              <a:t>Suma de los valores absolutos de los componentes. En regularización favorece la dispersión (sparsity), llevando pesos irrelevantes exactamente a cero.</a:t>
            </a:r>
            <a:endParaRPr lang="en-US" sz="1450" dirty="0"/>
          </a:p>
        </p:txBody>
      </p:sp>
      <p:sp>
        <p:nvSpPr>
          <p:cNvPr id="15" name="Shape 12"/>
          <p:cNvSpPr/>
          <p:nvPr/>
        </p:nvSpPr>
        <p:spPr>
          <a:xfrm>
            <a:off x="7273445" y="4216995"/>
            <a:ext cx="4118170" cy="31651"/>
          </a:xfrm>
          <a:prstGeom prst="roundRect">
            <a:avLst>
              <a:gd name="adj" fmla="val 49998"/>
            </a:avLst>
          </a:prstGeom>
          <a:solidFill>
            <a:srgbClr val="1A1A1A"/>
          </a:solidFill>
          <a:ln/>
        </p:spPr>
      </p:sp>
      <p:sp>
        <p:nvSpPr>
          <p:cNvPr id="16" name="Text 13"/>
          <p:cNvSpPr/>
          <p:nvPr/>
        </p:nvSpPr>
        <p:spPr>
          <a:xfrm>
            <a:off x="7273445" y="4509889"/>
            <a:ext cx="4118170"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000000"/>
                </a:solidFill>
                <a:latin typeface="Inter Tight" pitchFamily="34" charset="0"/>
                <a:ea typeface="Inter Tight" pitchFamily="34" charset="-122"/>
                <a:cs typeface="Inter Tight" pitchFamily="34" charset="-120"/>
              </a:rPr>
              <a:t>Norma L2 — Euclidiana</a:t>
            </a:r>
            <a:endParaRPr lang="en-US" sz="1900" dirty="0"/>
          </a:p>
        </p:txBody>
      </p:sp>
      <p:sp>
        <p:nvSpPr>
          <p:cNvPr id="17" name="Text 14"/>
          <p:cNvSpPr/>
          <p:nvPr/>
        </p:nvSpPr>
        <p:spPr>
          <a:xfrm>
            <a:off x="7273445" y="4956532"/>
            <a:ext cx="4118170" cy="1242715"/>
          </a:xfrm>
          <a:prstGeom prst="rect">
            <a:avLst/>
          </a:prstGeom>
          <a:noFill/>
          <a:ln/>
        </p:spPr>
        <p:txBody>
          <a:bodyPr wrap="square" lIns="0" tIns="0" rIns="0" bIns="0" rtlCol="0" anchor="t">
            <a:normAutofit lnSpcReduction="10000"/>
          </a:bodyPr>
          <a:lstStyle/>
          <a:p>
            <a:pPr marL="0" indent="0" algn="l">
              <a:lnSpc>
                <a:spcPct val="113000"/>
              </a:lnSpc>
              <a:buNone/>
            </a:pPr>
            <a:r>
              <a:rPr lang="en-US" sz="1450" dirty="0">
                <a:solidFill>
                  <a:srgbClr val="000000"/>
                </a:solidFill>
                <a:latin typeface="Inter Tight" pitchFamily="34" charset="0"/>
                <a:ea typeface="Inter Tight" pitchFamily="34" charset="-122"/>
                <a:cs typeface="Inter Tight" pitchFamily="34" charset="-120"/>
              </a:rPr>
              <a:t>Raíz de la suma de los cuadrados de los componentes. Es la distancia directa en línea recta. En regularización previene la explosión de coeficientes, encogiendo gradualmente los pesos grandes sin anularlos.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58786" y="355600"/>
            <a:ext cx="3453222" cy="336649"/>
          </a:xfrm>
          <a:prstGeom prst="rect">
            <a:avLst/>
          </a:prstGeom>
          <a:solidFill>
            <a:srgbClr val="1A1A1A"/>
          </a:solidFill>
          <a:ln/>
        </p:spPr>
      </p:sp>
      <p:sp>
        <p:nvSpPr>
          <p:cNvPr id="3" name="Text 1"/>
          <p:cNvSpPr/>
          <p:nvPr/>
        </p:nvSpPr>
        <p:spPr>
          <a:xfrm>
            <a:off x="688263" y="425625"/>
            <a:ext cx="3803852"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NO SUPERVISADO Y RECUPERACIÓN</a:t>
            </a:r>
            <a:endParaRPr lang="en-US" sz="1350" dirty="0"/>
          </a:p>
        </p:txBody>
      </p:sp>
      <p:sp>
        <p:nvSpPr>
          <p:cNvPr id="4" name="Text 2"/>
          <p:cNvSpPr/>
          <p:nvPr/>
        </p:nvSpPr>
        <p:spPr>
          <a:xfrm>
            <a:off x="558786" y="822869"/>
            <a:ext cx="11074123"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¿Cómo evaluamos agrupamientos y recomendaciones?</a:t>
            </a:r>
            <a:endParaRPr lang="en-US" sz="3400" dirty="0"/>
          </a:p>
        </p:txBody>
      </p:sp>
      <p:sp>
        <p:nvSpPr>
          <p:cNvPr id="5" name="Shape 3"/>
          <p:cNvSpPr/>
          <p:nvPr/>
        </p:nvSpPr>
        <p:spPr>
          <a:xfrm>
            <a:off x="558786" y="1425674"/>
            <a:ext cx="5308467" cy="802283"/>
          </a:xfrm>
          <a:prstGeom prst="rect">
            <a:avLst/>
          </a:prstGeom>
          <a:solidFill>
            <a:srgbClr val="1A1A1A"/>
          </a:solidFill>
          <a:ln/>
        </p:spPr>
      </p:sp>
      <p:sp>
        <p:nvSpPr>
          <p:cNvPr id="6" name="Text 4"/>
          <p:cNvSpPr/>
          <p:nvPr/>
        </p:nvSpPr>
        <p:spPr>
          <a:xfrm>
            <a:off x="711182" y="1735415"/>
            <a:ext cx="5156071"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CLUSTERING_EVAL.LOG</a:t>
            </a:r>
            <a:endParaRPr lang="en-US" sz="1300" dirty="0"/>
          </a:p>
        </p:txBody>
      </p:sp>
      <p:sp>
        <p:nvSpPr>
          <p:cNvPr id="7" name="Shape 5"/>
          <p:cNvSpPr/>
          <p:nvPr/>
        </p:nvSpPr>
        <p:spPr>
          <a:xfrm>
            <a:off x="558786" y="2227957"/>
            <a:ext cx="5308467" cy="4299843"/>
          </a:xfrm>
          <a:prstGeom prst="rect">
            <a:avLst/>
          </a:prstGeom>
          <a:solidFill>
            <a:srgbClr val="E6E6EA"/>
          </a:solidFill>
          <a:ln w="12700">
            <a:solidFill>
              <a:srgbClr val="1A1A1A"/>
            </a:solidFill>
            <a:prstDash val="solid"/>
          </a:ln>
        </p:spPr>
      </p:sp>
      <p:sp>
        <p:nvSpPr>
          <p:cNvPr id="8" name="Text 6"/>
          <p:cNvSpPr/>
          <p:nvPr/>
        </p:nvSpPr>
        <p:spPr>
          <a:xfrm>
            <a:off x="774681" y="2382738"/>
            <a:ext cx="4876678"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000000"/>
                </a:solidFill>
                <a:latin typeface="Inter Tight" pitchFamily="34" charset="0"/>
                <a:ea typeface="Inter Tight" pitchFamily="34" charset="-122"/>
                <a:cs typeface="Inter Tight" pitchFamily="34" charset="-120"/>
              </a:rPr>
              <a:t>Clustering (Agrupamiento)</a:t>
            </a:r>
            <a:endParaRPr lang="en-US" sz="1900" dirty="0"/>
          </a:p>
        </p:txBody>
      </p:sp>
      <p:sp>
        <p:nvSpPr>
          <p:cNvPr id="9" name="Text 7"/>
          <p:cNvSpPr/>
          <p:nvPr/>
        </p:nvSpPr>
        <p:spPr>
          <a:xfrm>
            <a:off x="774681" y="2829381"/>
            <a:ext cx="5092573" cy="248543"/>
          </a:xfrm>
          <a:prstGeom prst="rect">
            <a:avLst/>
          </a:prstGeom>
          <a:noFill/>
          <a:ln/>
        </p:spPr>
        <p:txBody>
          <a:bodyPr wrap="none" lIns="0" tIns="0" rIns="0" bIns="0" rtlCol="0" anchor="t"/>
          <a:lstStyle/>
          <a:p>
            <a:pPr marL="0" indent="0" algn="l">
              <a:lnSpc>
                <a:spcPct val="113000"/>
              </a:lnSpc>
              <a:buNone/>
            </a:pPr>
            <a:r>
              <a:rPr lang="en-US" sz="1450" dirty="0">
                <a:solidFill>
                  <a:srgbClr val="000000"/>
                </a:solidFill>
                <a:latin typeface="Inter Tight" pitchFamily="34" charset="0"/>
                <a:ea typeface="Inter Tight" pitchFamily="34" charset="-122"/>
                <a:cs typeface="Inter Tight" pitchFamily="34" charset="-120"/>
              </a:rPr>
              <a:t>Ejemplo: clientes según hábitos de compra.</a:t>
            </a:r>
            <a:endParaRPr lang="en-US" sz="1450" dirty="0"/>
          </a:p>
        </p:txBody>
      </p:sp>
      <p:pic>
        <p:nvPicPr>
          <p:cNvPr id="10" name="Image 0" descr="preencoded.png"/>
          <p:cNvPicPr>
            <a:picLocks noChangeAspect="1"/>
          </p:cNvPicPr>
          <p:nvPr/>
        </p:nvPicPr>
        <p:blipFill>
          <a:blip r:embed="rId3"/>
          <a:stretch>
            <a:fillRect/>
          </a:stretch>
        </p:blipFill>
        <p:spPr>
          <a:xfrm>
            <a:off x="774681" y="3200400"/>
            <a:ext cx="4876678" cy="889000"/>
          </a:xfrm>
          <a:prstGeom prst="rect">
            <a:avLst/>
          </a:prstGeom>
        </p:spPr>
      </p:pic>
      <p:sp>
        <p:nvSpPr>
          <p:cNvPr id="11" name="Text 8"/>
          <p:cNvSpPr/>
          <p:nvPr/>
        </p:nvSpPr>
        <p:spPr>
          <a:xfrm>
            <a:off x="774681" y="4216400"/>
            <a:ext cx="4876678" cy="1745258"/>
          </a:xfrm>
          <a:prstGeom prst="rect">
            <a:avLst/>
          </a:prstGeom>
          <a:noFill/>
          <a:ln/>
        </p:spPr>
        <p:txBody>
          <a:bodyPr wrap="square" lIns="0" tIns="0" rIns="0" bIns="0" rtlCol="0" anchor="t">
            <a:normAutofit lnSpcReduction="10000"/>
          </a:bodyPr>
          <a:lstStyle/>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Silhouette Score:</a:t>
            </a:r>
            <a:r>
              <a:rPr lang="en-US" sz="1450" dirty="0">
                <a:solidFill>
                  <a:srgbClr val="000000"/>
                </a:solidFill>
                <a:latin typeface="Inter Tight" pitchFamily="34" charset="0"/>
                <a:ea typeface="Inter Tight" pitchFamily="34" charset="-122"/>
                <a:cs typeface="Inter Tight" pitchFamily="34" charset="-120"/>
              </a:rPr>
              <a:t> Cohesión y separación (−1 a +1; mayor suele ser mejor).</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Davies–Bouldin Index:</a:t>
            </a:r>
            <a:r>
              <a:rPr lang="en-US" sz="1450" dirty="0">
                <a:solidFill>
                  <a:srgbClr val="000000"/>
                </a:solidFill>
                <a:latin typeface="Inter Tight" pitchFamily="34" charset="0"/>
                <a:ea typeface="Inter Tight" pitchFamily="34" charset="-122"/>
                <a:cs typeface="Inter Tight" pitchFamily="34" charset="-120"/>
              </a:rPr>
              <a:t> Compactación y separación; menor suele ser mejor.</a:t>
            </a:r>
            <a:endParaRPr lang="en-US" sz="1450" dirty="0"/>
          </a:p>
          <a:p>
            <a:pPr marL="0" indent="0" algn="l">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Calinski–Harabasz Index:</a:t>
            </a:r>
            <a:r>
              <a:rPr lang="en-US" sz="1450" dirty="0">
                <a:solidFill>
                  <a:srgbClr val="000000"/>
                </a:solidFill>
                <a:latin typeface="Inter Tight" pitchFamily="34" charset="0"/>
                <a:ea typeface="Inter Tight" pitchFamily="34" charset="-122"/>
                <a:cs typeface="Inter Tight" pitchFamily="34" charset="-120"/>
              </a:rPr>
              <a:t> Separación entre grupos frente a dispersión interna; mayor suele ser mejor.</a:t>
            </a:r>
            <a:endParaRPr lang="en-US" sz="1450" dirty="0"/>
          </a:p>
        </p:txBody>
      </p:sp>
      <p:sp>
        <p:nvSpPr>
          <p:cNvPr id="12" name="Shape 9"/>
          <p:cNvSpPr/>
          <p:nvPr/>
        </p:nvSpPr>
        <p:spPr>
          <a:xfrm>
            <a:off x="6324442" y="1425674"/>
            <a:ext cx="5308467" cy="619919"/>
          </a:xfrm>
          <a:prstGeom prst="rect">
            <a:avLst/>
          </a:prstGeom>
          <a:solidFill>
            <a:srgbClr val="1A1A1A"/>
          </a:solidFill>
          <a:ln/>
        </p:spPr>
      </p:sp>
      <p:sp>
        <p:nvSpPr>
          <p:cNvPr id="13" name="Text 10"/>
          <p:cNvSpPr/>
          <p:nvPr/>
        </p:nvSpPr>
        <p:spPr>
          <a:xfrm>
            <a:off x="6476838" y="1644233"/>
            <a:ext cx="5156071"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RANKING_RECS.LOG</a:t>
            </a:r>
            <a:endParaRPr lang="en-US" sz="1300" dirty="0"/>
          </a:p>
        </p:txBody>
      </p:sp>
      <p:sp>
        <p:nvSpPr>
          <p:cNvPr id="14" name="Shape 11"/>
          <p:cNvSpPr/>
          <p:nvPr/>
        </p:nvSpPr>
        <p:spPr>
          <a:xfrm>
            <a:off x="6324442" y="2045593"/>
            <a:ext cx="5308467" cy="4482207"/>
          </a:xfrm>
          <a:prstGeom prst="rect">
            <a:avLst/>
          </a:prstGeom>
          <a:solidFill>
            <a:srgbClr val="E6E6EA"/>
          </a:solidFill>
          <a:ln w="12700">
            <a:solidFill>
              <a:srgbClr val="1A1A1A"/>
            </a:solidFill>
            <a:prstDash val="solid"/>
          </a:ln>
        </p:spPr>
      </p:sp>
      <p:sp>
        <p:nvSpPr>
          <p:cNvPr id="15" name="Text 12"/>
          <p:cNvSpPr/>
          <p:nvPr/>
        </p:nvSpPr>
        <p:spPr>
          <a:xfrm>
            <a:off x="6540336" y="2200374"/>
            <a:ext cx="4876678" cy="301625"/>
          </a:xfrm>
          <a:prstGeom prst="rect">
            <a:avLst/>
          </a:prstGeom>
          <a:noFill/>
          <a:ln/>
        </p:spPr>
        <p:txBody>
          <a:bodyPr wrap="none" lIns="0" tIns="0" rIns="0" bIns="0" rtlCol="0" anchor="t"/>
          <a:lstStyle/>
          <a:p>
            <a:pPr marL="0" indent="0" algn="l">
              <a:lnSpc>
                <a:spcPct val="104000"/>
              </a:lnSpc>
              <a:buNone/>
            </a:pPr>
            <a:r>
              <a:rPr lang="en-US" sz="1900" kern="100" spc="-9" dirty="0">
                <a:solidFill>
                  <a:srgbClr val="000000"/>
                </a:solidFill>
                <a:latin typeface="Inter Tight" pitchFamily="34" charset="0"/>
                <a:ea typeface="Inter Tight" pitchFamily="34" charset="-122"/>
                <a:cs typeface="Inter Tight" pitchFamily="34" charset="-120"/>
              </a:rPr>
              <a:t>Ranking (Sistemas de Recomendación)</a:t>
            </a:r>
            <a:endParaRPr lang="en-US" sz="1900" dirty="0"/>
          </a:p>
        </p:txBody>
      </p:sp>
      <p:sp>
        <p:nvSpPr>
          <p:cNvPr id="16" name="Text 13"/>
          <p:cNvSpPr/>
          <p:nvPr/>
        </p:nvSpPr>
        <p:spPr>
          <a:xfrm>
            <a:off x="6540336" y="2642493"/>
            <a:ext cx="4876678" cy="3501430"/>
          </a:xfrm>
          <a:prstGeom prst="rect">
            <a:avLst/>
          </a:prstGeom>
          <a:noFill/>
          <a:ln/>
        </p:spPr>
        <p:txBody>
          <a:bodyPr wrap="square" lIns="0" tIns="0" rIns="0" bIns="0" rtlCol="0" anchor="t"/>
          <a:lstStyle/>
          <a:p>
            <a:pPr marL="0" indent="0" algn="l">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120"/>
              </a:rPr>
              <a:t>Ejemplo: recomendaciones de películas.</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Top 1:</a:t>
            </a:r>
            <a:r>
              <a:rPr lang="en-US" sz="1450" dirty="0">
                <a:solidFill>
                  <a:srgbClr val="000000"/>
                </a:solidFill>
                <a:latin typeface="Inter Tight" pitchFamily="34" charset="0"/>
                <a:ea typeface="Inter Tight" pitchFamily="34" charset="-122"/>
                <a:cs typeface="Inter Tight" pitchFamily="34" charset="-120"/>
              </a:rPr>
              <a:t> Interestelar ★★★★★ [Relevante]</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Top 2:</a:t>
            </a:r>
            <a:r>
              <a:rPr lang="en-US" sz="1450" dirty="0">
                <a:solidFill>
                  <a:srgbClr val="000000"/>
                </a:solidFill>
                <a:latin typeface="Inter Tight" pitchFamily="34" charset="0"/>
                <a:ea typeface="Inter Tight" pitchFamily="34" charset="-122"/>
                <a:cs typeface="Inter Tight" pitchFamily="34" charset="-120"/>
              </a:rPr>
              <a:t> Arrival ★★★★☆ [Relevante]</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Top 3:</a:t>
            </a:r>
            <a:r>
              <a:rPr lang="en-US" sz="1450" dirty="0">
                <a:solidFill>
                  <a:srgbClr val="000000"/>
                </a:solidFill>
                <a:latin typeface="Inter Tight" pitchFamily="34" charset="0"/>
                <a:ea typeface="Inter Tight" pitchFamily="34" charset="-122"/>
                <a:cs typeface="Inter Tight" pitchFamily="34" charset="-120"/>
              </a:rPr>
              <a:t> Dune ★★★★☆ [Relevante]</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Top 4:</a:t>
            </a:r>
            <a:r>
              <a:rPr lang="en-US" sz="1450" dirty="0">
                <a:solidFill>
                  <a:srgbClr val="000000"/>
                </a:solidFill>
                <a:latin typeface="Inter Tight" pitchFamily="34" charset="0"/>
                <a:ea typeface="Inter Tight" pitchFamily="34" charset="-122"/>
                <a:cs typeface="Inter Tight" pitchFamily="34" charset="-120"/>
              </a:rPr>
              <a:t> Film B ★★☆☆☆ [No relevante]</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Top 5:</a:t>
            </a:r>
            <a:r>
              <a:rPr lang="en-US" sz="1450" dirty="0">
                <a:solidFill>
                  <a:srgbClr val="000000"/>
                </a:solidFill>
                <a:latin typeface="Inter Tight" pitchFamily="34" charset="0"/>
                <a:ea typeface="Inter Tight" pitchFamily="34" charset="-122"/>
                <a:cs typeface="Inter Tight" pitchFamily="34" charset="-120"/>
              </a:rPr>
              <a:t> Film C ★☆☆☆☆ [No relevante]</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MAP:</a:t>
            </a:r>
            <a:r>
              <a:rPr lang="en-US" sz="1450" dirty="0">
                <a:solidFill>
                  <a:srgbClr val="000000"/>
                </a:solidFill>
                <a:latin typeface="Inter Tight" pitchFamily="34" charset="0"/>
                <a:ea typeface="Inter Tight" pitchFamily="34" charset="-122"/>
                <a:cs typeface="Inter Tight" pitchFamily="34" charset="-120"/>
              </a:rPr>
              <a:t> Qué tan temprano aparecen resultados relevantes.</a:t>
            </a:r>
            <a:endParaRPr lang="en-US" sz="1450" dirty="0"/>
          </a:p>
          <a:p>
            <a:pPr marL="0" indent="0" algn="l">
              <a:lnSpc>
                <a:spcPct val="113000"/>
              </a:lnSpc>
              <a:spcAft>
                <a:spcPts val="950"/>
              </a:spcAft>
              <a:buNone/>
            </a:pPr>
            <a:r>
              <a:rPr lang="en-US" sz="1450" b="1" dirty="0">
                <a:solidFill>
                  <a:srgbClr val="000000"/>
                </a:solidFill>
                <a:latin typeface="Inter Tight Bold" pitchFamily="34" charset="0"/>
                <a:ea typeface="Inter Tight Bold" pitchFamily="34" charset="-122"/>
                <a:cs typeface="Inter Tight Bold" pitchFamily="34" charset="-120"/>
              </a:rPr>
              <a:t>NDCG:</a:t>
            </a:r>
            <a:r>
              <a:rPr lang="en-US" sz="1450" dirty="0">
                <a:solidFill>
                  <a:srgbClr val="000000"/>
                </a:solidFill>
                <a:latin typeface="Inter Tight" pitchFamily="34" charset="0"/>
                <a:ea typeface="Inter Tight" pitchFamily="34" charset="-122"/>
                <a:cs typeface="Inter Tight" pitchFamily="34" charset="-120"/>
              </a:rPr>
              <a:t> Posición y distintos niveles de relevancia.</a:t>
            </a:r>
            <a:endParaRPr lang="en-US" sz="1450" dirty="0"/>
          </a:p>
          <a:p>
            <a:pPr marL="0" indent="0" algn="l">
              <a:lnSpc>
                <a:spcPct val="113000"/>
              </a:lnSpc>
              <a:buNone/>
            </a:pPr>
            <a:r>
              <a:rPr lang="en-US" sz="1450" b="1" dirty="0">
                <a:solidFill>
                  <a:srgbClr val="000000"/>
                </a:solidFill>
                <a:latin typeface="Inter Tight Bold" pitchFamily="34" charset="0"/>
                <a:ea typeface="Inter Tight Bold" pitchFamily="34" charset="-122"/>
                <a:cs typeface="Inter Tight Bold" pitchFamily="34" charset="-120"/>
              </a:rPr>
              <a:t>Hit Rate:</a:t>
            </a:r>
            <a:r>
              <a:rPr lang="en-US" sz="1450" dirty="0">
                <a:solidFill>
                  <a:srgbClr val="000000"/>
                </a:solidFill>
                <a:latin typeface="Inter Tight" pitchFamily="34" charset="0"/>
                <a:ea typeface="Inter Tight" pitchFamily="34" charset="-122"/>
                <a:cs typeface="Inter Tight" pitchFamily="34" charset="-120"/>
              </a:rPr>
              <a:t> ¿Aparece al menos un elemento relevante en las primeras K recomendaciones?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298895"/>
            <a:ext cx="11277318" cy="431800"/>
          </a:xfrm>
          <a:prstGeom prst="rect">
            <a:avLst/>
          </a:prstGeom>
          <a:noFill/>
          <a:ln/>
        </p:spPr>
        <p:txBody>
          <a:bodyPr wrap="none" lIns="0" tIns="0" rIns="0" bIns="0" rtlCol="0" anchor="t"/>
          <a:lstStyle/>
          <a:p>
            <a:pPr marL="0" indent="0" algn="l">
              <a:lnSpc>
                <a:spcPct val="83000"/>
              </a:lnSpc>
              <a:buNone/>
            </a:pPr>
            <a:r>
              <a:rPr lang="en-US" sz="3400" kern="100" spc="-119" dirty="0">
                <a:solidFill>
                  <a:srgbClr val="121212"/>
                </a:solidFill>
                <a:latin typeface="Inter Tight SemiBold" pitchFamily="34" charset="0"/>
                <a:ea typeface="Inter Tight SemiBold" pitchFamily="34" charset="-122"/>
                <a:cs typeface="Inter Tight SemiBold" pitchFamily="34" charset="-120"/>
              </a:rPr>
              <a:t>Comparar modelos y evaluar múltiples categorías</a:t>
            </a:r>
            <a:endParaRPr lang="en-US" sz="3400" dirty="0"/>
          </a:p>
        </p:txBody>
      </p:sp>
      <p:sp>
        <p:nvSpPr>
          <p:cNvPr id="3" name="Text 1"/>
          <p:cNvSpPr/>
          <p:nvPr/>
        </p:nvSpPr>
        <p:spPr>
          <a:xfrm>
            <a:off x="457189" y="909796"/>
            <a:ext cx="11277318"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120"/>
              </a:rPr>
              <a:t>En clasificación multiclase —por ejemplo, reconocer perros, gatos y pájaros— la forma de promediar puede cambiar la interpretación del rendimiento.</a:t>
            </a:r>
            <a:endParaRPr lang="en-US" sz="1700" dirty="0"/>
          </a:p>
        </p:txBody>
      </p:sp>
      <p:sp>
        <p:nvSpPr>
          <p:cNvPr id="4" name="Shape 2"/>
          <p:cNvSpPr/>
          <p:nvPr/>
        </p:nvSpPr>
        <p:spPr>
          <a:xfrm>
            <a:off x="457189" y="1678186"/>
            <a:ext cx="5486263" cy="4925814"/>
          </a:xfrm>
          <a:prstGeom prst="rect">
            <a:avLst/>
          </a:prstGeom>
          <a:solidFill>
            <a:srgbClr val="E6E6EA"/>
          </a:solidFill>
          <a:ln w="12700">
            <a:solidFill>
              <a:srgbClr val="1A1A1A"/>
            </a:solidFill>
            <a:prstDash val="solid"/>
          </a:ln>
        </p:spPr>
      </p:sp>
      <p:sp>
        <p:nvSpPr>
          <p:cNvPr id="5" name="Text 3"/>
          <p:cNvSpPr/>
          <p:nvPr/>
        </p:nvSpPr>
        <p:spPr>
          <a:xfrm>
            <a:off x="622284" y="1857573"/>
            <a:ext cx="5156071"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000000"/>
                </a:solidFill>
                <a:latin typeface="Inter Tight" pitchFamily="34" charset="0"/>
                <a:ea typeface="Inter Tight" pitchFamily="34" charset="-122"/>
                <a:cs typeface="Inter Tight" pitchFamily="34" charset="-120"/>
              </a:rPr>
              <a:t>Comparación de modelos</a:t>
            </a:r>
            <a:endParaRPr lang="en-US" sz="2400" dirty="0"/>
          </a:p>
        </p:txBody>
      </p:sp>
      <p:sp>
        <p:nvSpPr>
          <p:cNvPr id="6" name="Text 4"/>
          <p:cNvSpPr/>
          <p:nvPr/>
        </p:nvSpPr>
        <p:spPr>
          <a:xfrm>
            <a:off x="622284" y="2379861"/>
            <a:ext cx="5156071" cy="1711027"/>
          </a:xfrm>
          <a:prstGeom prst="rect">
            <a:avLst/>
          </a:prstGeom>
          <a:noFill/>
          <a:ln/>
        </p:spPr>
        <p:txBody>
          <a:bodyPr wrap="square" lIns="0" tIns="0" rIns="0" bIns="0" rtlCol="0" anchor="t"/>
          <a:lstStyle/>
          <a:p>
            <a:pPr marL="0" indent="0" algn="l">
              <a:lnSpc>
                <a:spcPct val="112000"/>
              </a:lnSpc>
              <a:spcAft>
                <a:spcPts val="950"/>
              </a:spcAft>
              <a:buNone/>
            </a:pPr>
            <a:r>
              <a:rPr lang="en-US" sz="1700" b="1" dirty="0">
                <a:solidFill>
                  <a:srgbClr val="000000"/>
                </a:solidFill>
                <a:latin typeface="Inter Tight Bold" pitchFamily="34" charset="0"/>
                <a:ea typeface="Inter Tight Bold" pitchFamily="34" charset="-122"/>
                <a:cs typeface="Inter Tight Bold" pitchFamily="34" charset="-120"/>
              </a:rPr>
              <a:t>AIC:</a:t>
            </a:r>
            <a:r>
              <a:rPr lang="en-US" sz="1700" dirty="0">
                <a:solidFill>
                  <a:srgbClr val="000000"/>
                </a:solidFill>
                <a:latin typeface="Inter Tight" pitchFamily="34" charset="0"/>
                <a:ea typeface="Inter Tight" pitchFamily="34" charset="-122"/>
                <a:cs typeface="Inter Tight" pitchFamily="34" charset="-120"/>
              </a:rPr>
              <a:t> equilibra ajuste y complejidad.</a:t>
            </a:r>
            <a:endParaRPr lang="en-US" sz="1700" dirty="0"/>
          </a:p>
          <a:p>
            <a:pPr marL="0" indent="0" algn="l">
              <a:lnSpc>
                <a:spcPct val="112000"/>
              </a:lnSpc>
              <a:spcAft>
                <a:spcPts val="950"/>
              </a:spcAft>
              <a:buNone/>
            </a:pPr>
            <a:r>
              <a:rPr lang="en-US" sz="1700" b="1" dirty="0">
                <a:solidFill>
                  <a:srgbClr val="000000"/>
                </a:solidFill>
                <a:latin typeface="Inter Tight Bold" pitchFamily="34" charset="0"/>
                <a:ea typeface="Inter Tight Bold" pitchFamily="34" charset="-122"/>
                <a:cs typeface="Inter Tight Bold" pitchFamily="34" charset="-120"/>
              </a:rPr>
              <a:t>BIC:</a:t>
            </a:r>
            <a:r>
              <a:rPr lang="en-US" sz="1700" dirty="0">
                <a:solidFill>
                  <a:srgbClr val="000000"/>
                </a:solidFill>
                <a:latin typeface="Inter Tight" pitchFamily="34" charset="0"/>
                <a:ea typeface="Inter Tight" pitchFamily="34" charset="-122"/>
                <a:cs typeface="Inter Tight" pitchFamily="34" charset="-120"/>
              </a:rPr>
              <a:t> criterio similar que incorpora el tamaño de muestra en la penalización.</a:t>
            </a:r>
            <a:endParaRPr lang="en-US" sz="1700" dirty="0"/>
          </a:p>
          <a:p>
            <a:pPr marL="0" indent="0" algn="l">
              <a:lnSpc>
                <a:spcPct val="112000"/>
              </a:lnSpc>
              <a:buNone/>
            </a:pPr>
            <a:r>
              <a:rPr lang="en-US" sz="1700" b="1" dirty="0">
                <a:solidFill>
                  <a:srgbClr val="000000"/>
                </a:solidFill>
                <a:latin typeface="Inter Tight Bold" pitchFamily="34" charset="0"/>
                <a:ea typeface="Inter Tight Bold" pitchFamily="34" charset="-122"/>
                <a:cs typeface="Inter Tight Bold" pitchFamily="34" charset="-120"/>
              </a:rPr>
              <a:t>R² ajustado:</a:t>
            </a:r>
            <a:r>
              <a:rPr lang="en-US" sz="1700" dirty="0">
                <a:solidFill>
                  <a:srgbClr val="000000"/>
                </a:solidFill>
                <a:latin typeface="Inter Tight" pitchFamily="34" charset="0"/>
                <a:ea typeface="Inter Tight" pitchFamily="34" charset="-122"/>
                <a:cs typeface="Inter Tight" pitchFamily="34" charset="-120"/>
              </a:rPr>
              <a:t> corrige R² considerando el número de predictores.</a:t>
            </a:r>
            <a:endParaRPr lang="en-US" sz="1700" dirty="0"/>
          </a:p>
        </p:txBody>
      </p:sp>
      <p:sp>
        <p:nvSpPr>
          <p:cNvPr id="7" name="Text 5"/>
          <p:cNvSpPr/>
          <p:nvPr/>
        </p:nvSpPr>
        <p:spPr>
          <a:xfrm>
            <a:off x="622284" y="4221381"/>
            <a:ext cx="5156071" cy="643830"/>
          </a:xfrm>
          <a:prstGeom prst="rect">
            <a:avLst/>
          </a:prstGeom>
          <a:noFill/>
          <a:ln/>
        </p:spPr>
        <p:txBody>
          <a:bodyPr wrap="square" lIns="0" tIns="0" rIns="0" bIns="0" rtlCol="0" anchor="t">
            <a:normAutofit/>
          </a:bodyPr>
          <a:lstStyle/>
          <a:p>
            <a:pPr marL="0" indent="0" algn="l">
              <a:lnSpc>
                <a:spcPct val="108000"/>
              </a:lnSpc>
              <a:buNone/>
            </a:pPr>
            <a:r>
              <a:rPr lang="en-US" sz="1300" i="1" dirty="0">
                <a:solidFill>
                  <a:srgbClr val="000000"/>
                </a:solidFill>
                <a:latin typeface="Fragment Mono" pitchFamily="34" charset="0"/>
                <a:ea typeface="Fragment Mono" pitchFamily="34" charset="-122"/>
                <a:cs typeface="Fragment Mono" pitchFamily="34" charset="-120"/>
              </a:rPr>
              <a:t>USARLOS EN CONTEXTOS ESTADÍSTICOS APROPIADOS; NO SON MÉTRICAS UNIVERSALES PARA CUALQUIER RED NEURONAL.</a:t>
            </a:r>
            <a:endParaRPr lang="en-US" sz="1300" dirty="0"/>
          </a:p>
        </p:txBody>
      </p:sp>
      <p:sp>
        <p:nvSpPr>
          <p:cNvPr id="8" name="Shape 6"/>
          <p:cNvSpPr/>
          <p:nvPr/>
        </p:nvSpPr>
        <p:spPr>
          <a:xfrm>
            <a:off x="6248244" y="1678186"/>
            <a:ext cx="5486263" cy="4925814"/>
          </a:xfrm>
          <a:prstGeom prst="rect">
            <a:avLst/>
          </a:prstGeom>
          <a:solidFill>
            <a:srgbClr val="E6E6EA"/>
          </a:solidFill>
          <a:ln w="12700">
            <a:solidFill>
              <a:srgbClr val="1A1A1A"/>
            </a:solidFill>
            <a:prstDash val="solid"/>
          </a:ln>
        </p:spPr>
      </p:sp>
      <p:sp>
        <p:nvSpPr>
          <p:cNvPr id="9" name="Text 7"/>
          <p:cNvSpPr/>
          <p:nvPr/>
        </p:nvSpPr>
        <p:spPr>
          <a:xfrm>
            <a:off x="6413340" y="1857573"/>
            <a:ext cx="5156071" cy="381000"/>
          </a:xfrm>
          <a:prstGeom prst="rect">
            <a:avLst/>
          </a:prstGeom>
          <a:noFill/>
          <a:ln/>
        </p:spPr>
        <p:txBody>
          <a:bodyPr wrap="none" lIns="0" tIns="0" rIns="0" bIns="0" rtlCol="0" anchor="t"/>
          <a:lstStyle/>
          <a:p>
            <a:pPr marL="0" indent="0" algn="l">
              <a:lnSpc>
                <a:spcPct val="104000"/>
              </a:lnSpc>
              <a:buNone/>
            </a:pPr>
            <a:r>
              <a:rPr lang="en-US" sz="2400" kern="100" spc="-12" dirty="0">
                <a:solidFill>
                  <a:srgbClr val="000000"/>
                </a:solidFill>
                <a:latin typeface="Inter Tight" pitchFamily="34" charset="0"/>
                <a:ea typeface="Inter Tight" pitchFamily="34" charset="-122"/>
                <a:cs typeface="Inter Tight" pitchFamily="34" charset="-120"/>
              </a:rPr>
              <a:t>Promedios multiclase</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13340" y="2379861"/>
          <a:ext cx="5156071" cy="3934024"/>
        </p:xfrm>
        <a:graphic>
          <a:graphicData uri="http://schemas.openxmlformats.org/drawingml/2006/table">
            <a:tbl>
              <a:tblPr/>
              <a:tblGrid>
                <a:gridCol w="1340511">
                  <a:extLst>
                    <a:ext uri="{9D8B030D-6E8A-4147-A177-3AD203B41FA5}">
                      <a16:colId xmlns:a16="http://schemas.microsoft.com/office/drawing/2014/main" val="20000"/>
                    </a:ext>
                  </a:extLst>
                </a:gridCol>
                <a:gridCol w="1907730">
                  <a:extLst>
                    <a:ext uri="{9D8B030D-6E8A-4147-A177-3AD203B41FA5}">
                      <a16:colId xmlns:a16="http://schemas.microsoft.com/office/drawing/2014/main" val="20001"/>
                    </a:ext>
                  </a:extLst>
                </a:gridCol>
                <a:gridCol w="1907830">
                  <a:extLst>
                    <a:ext uri="{9D8B030D-6E8A-4147-A177-3AD203B41FA5}">
                      <a16:colId xmlns:a16="http://schemas.microsoft.com/office/drawing/2014/main" val="20002"/>
                    </a:ext>
                  </a:extLst>
                </a:gridCol>
              </a:tblGrid>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Promedio</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Cómo calcula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Qué prioriza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0"/>
                  </a:ext>
                </a:extLst>
              </a:tr>
              <a:tr h="768132">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Macro Average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Promedio simple por clase.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Igual importancia a cada clase.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1"/>
                  </a:ext>
                </a:extLst>
              </a:tr>
              <a:tr h="1350929">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Micro Average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Agrega decisiones de todas las clases y calcula.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Rendimiento global; clases grandes pesan más.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2"/>
                  </a:ext>
                </a:extLst>
              </a:tr>
              <a:tr h="1338229">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Weighted Average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Promedio ponderado por cantidad de ejemplos.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Equilibrio con la distribución real.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189" y="1801614"/>
            <a:ext cx="3012603" cy="336649"/>
          </a:xfrm>
          <a:prstGeom prst="rect">
            <a:avLst/>
          </a:prstGeom>
          <a:solidFill>
            <a:srgbClr val="1A1A1A"/>
          </a:solidFill>
          <a:ln/>
        </p:spPr>
      </p:sp>
      <p:sp>
        <p:nvSpPr>
          <p:cNvPr id="3" name="Text 1"/>
          <p:cNvSpPr/>
          <p:nvPr/>
        </p:nvSpPr>
        <p:spPr>
          <a:xfrm>
            <a:off x="586666" y="1871639"/>
            <a:ext cx="3363233" cy="207268"/>
          </a:xfrm>
          <a:prstGeom prst="rect">
            <a:avLst/>
          </a:prstGeom>
          <a:noFill/>
          <a:ln/>
        </p:spPr>
        <p:txBody>
          <a:bodyPr wrap="none" lIns="0" tIns="0" rIns="0" bIns="0" rtlCol="0" anchor="t"/>
          <a:lstStyle/>
          <a:p>
            <a:pPr marL="0" indent="0" algn="l">
              <a:lnSpc>
                <a:spcPct val="100000"/>
              </a:lnSpc>
              <a:buNone/>
            </a:pPr>
            <a:r>
              <a:rPr lang="en-US" sz="1350" kern="100" spc="27" dirty="0">
                <a:solidFill>
                  <a:srgbClr val="FFFFFF"/>
                </a:solidFill>
                <a:latin typeface="Fragment Mono" pitchFamily="34" charset="0"/>
                <a:ea typeface="Fragment Mono" pitchFamily="34" charset="-122"/>
                <a:cs typeface="Fragment Mono" pitchFamily="34" charset="-120"/>
              </a:rPr>
              <a:t>GUÍA PRÁCTICA DE DECISIÓN</a:t>
            </a:r>
            <a:endParaRPr lang="en-US" sz="1350" dirty="0"/>
          </a:p>
        </p:txBody>
      </p:sp>
      <p:sp>
        <p:nvSpPr>
          <p:cNvPr id="4" name="Text 2"/>
          <p:cNvSpPr/>
          <p:nvPr/>
        </p:nvSpPr>
        <p:spPr>
          <a:xfrm>
            <a:off x="457189" y="2305324"/>
            <a:ext cx="3098722" cy="1219200"/>
          </a:xfrm>
          <a:prstGeom prst="rect">
            <a:avLst/>
          </a:prstGeom>
          <a:noFill/>
          <a:ln/>
        </p:spPr>
        <p:txBody>
          <a:bodyPr wrap="square" lIns="0" tIns="0" rIns="0" bIns="0" rtlCol="0" anchor="t">
            <a:normAutofit/>
          </a:bodyPr>
          <a:lstStyle/>
          <a:p>
            <a:pPr marL="0" indent="0" algn="l">
              <a:lnSpc>
                <a:spcPct val="83000"/>
              </a:lnSpc>
              <a:buNone/>
            </a:pPr>
            <a:r>
              <a:rPr lang="en-US" sz="3200" kern="100" spc="-112" dirty="0">
                <a:solidFill>
                  <a:srgbClr val="121212"/>
                </a:solidFill>
                <a:latin typeface="Inter Tight SemiBold" pitchFamily="34" charset="0"/>
                <a:ea typeface="Inter Tight SemiBold" pitchFamily="34" charset="-122"/>
                <a:cs typeface="Inter Tight SemiBold" pitchFamily="34" charset="-120"/>
              </a:rPr>
              <a:t>La mejor métrica depende del problema</a:t>
            </a:r>
            <a:endParaRPr lang="en-US" sz="3200" dirty="0"/>
          </a:p>
        </p:txBody>
      </p:sp>
      <p:sp>
        <p:nvSpPr>
          <p:cNvPr id="5" name="Text 3"/>
          <p:cNvSpPr/>
          <p:nvPr/>
        </p:nvSpPr>
        <p:spPr>
          <a:xfrm>
            <a:off x="457189" y="3708460"/>
            <a:ext cx="3098722" cy="1748433"/>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A1A1A"/>
                </a:solidFill>
                <a:latin typeface="Inter Tight" pitchFamily="34" charset="0"/>
                <a:ea typeface="Inter Tight" pitchFamily="34" charset="-122"/>
                <a:cs typeface="Inter Tight" pitchFamily="34" charset="-120"/>
              </a:rPr>
              <a:t>No existe una métrica universalmente mejor. La elección depende del problema, de los datos y de las consecuencias de los errores del modelo.</a:t>
            </a:r>
            <a:endParaRPr lang="en-US" sz="1700" dirty="0"/>
          </a:p>
        </p:txBody>
      </p:sp>
      <p:sp>
        <p:nvSpPr>
          <p:cNvPr id="6" name="Shape 4"/>
          <p:cNvSpPr/>
          <p:nvPr/>
        </p:nvSpPr>
        <p:spPr>
          <a:xfrm>
            <a:off x="4165496" y="0"/>
            <a:ext cx="8026199" cy="439341"/>
          </a:xfrm>
          <a:prstGeom prst="rect">
            <a:avLst/>
          </a:prstGeom>
          <a:solidFill>
            <a:srgbClr val="1A1A1A"/>
          </a:solidFill>
          <a:ln/>
        </p:spPr>
      </p:sp>
      <p:sp>
        <p:nvSpPr>
          <p:cNvPr id="7" name="Text 5"/>
          <p:cNvSpPr/>
          <p:nvPr/>
        </p:nvSpPr>
        <p:spPr>
          <a:xfrm>
            <a:off x="4317892" y="160020"/>
            <a:ext cx="7873803" cy="198041"/>
          </a:xfrm>
          <a:prstGeom prst="rect">
            <a:avLst/>
          </a:prstGeom>
          <a:noFill/>
          <a:ln/>
        </p:spPr>
        <p:txBody>
          <a:bodyPr wrap="none" lIns="0" tIns="0" rIns="0" bIns="0" rtlCol="0" anchor="t"/>
          <a:lstStyle/>
          <a:p>
            <a:pPr marL="0" indent="0" algn="l">
              <a:lnSpc>
                <a:spcPct val="100000"/>
              </a:lnSpc>
              <a:buNone/>
            </a:pPr>
            <a:r>
              <a:rPr lang="en-US" sz="1300" kern="100" spc="52" dirty="0">
                <a:solidFill>
                  <a:srgbClr val="FFFFFF"/>
                </a:solidFill>
                <a:latin typeface="Fragment Mono" pitchFamily="34" charset="0"/>
                <a:ea typeface="Fragment Mono" pitchFamily="34" charset="-122"/>
                <a:cs typeface="Fragment Mono" pitchFamily="34" charset="-120"/>
              </a:rPr>
              <a:t>GUÍA DE ELECCIÓN DE MÉTRICAS</a:t>
            </a:r>
            <a:endParaRPr lang="en-US" sz="1300" dirty="0"/>
          </a:p>
        </p:txBody>
      </p:sp>
      <p:sp>
        <p:nvSpPr>
          <p:cNvPr id="8" name="Shape 6"/>
          <p:cNvSpPr/>
          <p:nvPr/>
        </p:nvSpPr>
        <p:spPr>
          <a:xfrm>
            <a:off x="4165496" y="439341"/>
            <a:ext cx="8026199" cy="6811070"/>
          </a:xfrm>
          <a:prstGeom prst="rect">
            <a:avLst/>
          </a:prstGeom>
          <a:solidFill>
            <a:srgbClr val="E6E6EA"/>
          </a:solidFill>
          <a:ln w="12700">
            <a:solidFill>
              <a:srgbClr val="1A1A1A"/>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330592" y="553641"/>
          <a:ext cx="7696008" cy="6582303"/>
        </p:xfrm>
        <a:graphic>
          <a:graphicData uri="http://schemas.openxmlformats.org/drawingml/2006/table">
            <a:tbl>
              <a:tblPr/>
              <a:tblGrid>
                <a:gridCol w="3232268">
                  <a:extLst>
                    <a:ext uri="{9D8B030D-6E8A-4147-A177-3AD203B41FA5}">
                      <a16:colId xmlns:a16="http://schemas.microsoft.com/office/drawing/2014/main" val="20000"/>
                    </a:ext>
                  </a:extLst>
                </a:gridCol>
                <a:gridCol w="4463740">
                  <a:extLst>
                    <a:ext uri="{9D8B030D-6E8A-4147-A177-3AD203B41FA5}">
                      <a16:colId xmlns:a16="http://schemas.microsoft.com/office/drawing/2014/main" val="20001"/>
                    </a:ext>
                  </a:extLst>
                </a:gridCol>
              </a:tblGrid>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Caso real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Métricas recomendadas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E6E6E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0"/>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Predicción de precios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MAE, RMSE, R²</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1"/>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Clasificación equilibrada</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Accuracy</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2"/>
                  </a:ext>
                </a:extLst>
              </a:tr>
              <a:tr h="768132">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Enfermedades poco frecuentes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Recall, Precision, AUC-PR</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3"/>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Evitar falsas alarmas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Precision, Especificidad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4"/>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Equilibrio precision–recall</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F1-Score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5"/>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Evaluación de umbrales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ROC y AUC</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6"/>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Evaluación de probabilidades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Log Loss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7"/>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Clasificación multiclase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Macro, Micro y Weighted</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8"/>
                  </a:ext>
                </a:extLst>
              </a:tr>
              <a:tr h="768132">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Agrupamiento de clientes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Silhouette, Davies–Bouldin, Calinski–Harabasz</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09"/>
                  </a:ext>
                </a:extLst>
              </a:tr>
              <a:tr h="476734">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Recomendaciones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MAP, NDCG, Hit Rate</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solidFill>
                      <a:srgbClr val="E6E6EA"/>
                    </a:solidFill>
                  </a:tcPr>
                </a:tc>
                <a:extLst>
                  <a:ext uri="{0D108BD9-81ED-4DB2-BD59-A6C34878D82A}">
                    <a16:rowId xmlns:a16="http://schemas.microsoft.com/office/drawing/2014/main" val="10010"/>
                  </a:ext>
                </a:extLst>
              </a:tr>
              <a:tr h="755433">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Comparación de modelos estadísticos</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tc>
                  <a:txBody>
                    <a:bodyPr/>
                    <a:lstStyle/>
                    <a:p>
                      <a:pPr marL="0" indent="0" algn="l">
                        <a:buNone/>
                      </a:pPr>
                      <a:r>
                        <a:rPr lang="en-US" sz="1700" dirty="0">
                          <a:solidFill>
                            <a:srgbClr val="000000"/>
                          </a:solidFill>
                          <a:latin typeface="Inter Tight" pitchFamily="34" charset="0"/>
                          <a:ea typeface="Inter Tight" pitchFamily="34" charset="-122"/>
                          <a:cs typeface="Inter Tight" pitchFamily="34" charset="-120"/>
                        </a:rPr>
                        <a:t>AIC, BIC, R² ajustado</a:t>
                      </a:r>
                      <a:endParaRPr lang="en-US" sz="1700" dirty="0">
                        <a:latin typeface="Inter Tight" charset="0"/>
                        <a:ea typeface="Inter Tight" charset="0"/>
                        <a:cs typeface="Inter Tight" charset="0"/>
                      </a:endParaRPr>
                    </a:p>
                  </a:txBody>
                  <a:tcPr marL="161921" marR="161921" marT="86358" marB="86358" anchor="ctr">
                    <a:lnL w="12700" cap="flat" cmpd="sng" algn="ctr">
                      <a:solidFill>
                        <a:srgbClr val="E6E6EA"/>
                      </a:solidFill>
                      <a:prstDash val="solid"/>
                      <a:round/>
                      <a:headEnd type="none" w="med" len="med"/>
                      <a:tailEnd type="none" w="med" len="med"/>
                    </a:lnL>
                    <a:lnR w="12700" cap="flat" cmpd="sng" algn="ctr">
                      <a:solidFill>
                        <a:srgbClr val="E6E6E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E6E6EA"/>
                      </a:solidFill>
                      <a:prstDash val="solid"/>
                      <a:round/>
                      <a:headEnd type="none" w="med" len="med"/>
                      <a:tailEnd type="none" w="med" len="med"/>
                    </a:lnB>
                    <a:solidFill>
                      <a:srgbClr val="E6E6EA"/>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265176"/>
            <a:ext cx="3703320" cy="347472"/>
          </a:xfrm>
          <a:prstGeom prst="rect">
            <a:avLst/>
          </a:prstGeom>
          <a:solidFill>
            <a:srgbClr val="1C1C1D"/>
          </a:solidFill>
          <a:ln w="12700">
            <a:solidFill>
              <a:srgbClr val="1C1C1D"/>
            </a:solidFill>
            <a:prstDash val="solid"/>
          </a:ln>
        </p:spPr>
      </p:sp>
      <p:sp>
        <p:nvSpPr>
          <p:cNvPr id="3" name="Text 1"/>
          <p:cNvSpPr/>
          <p:nvPr/>
        </p:nvSpPr>
        <p:spPr>
          <a:xfrm>
            <a:off x="676656" y="315468"/>
            <a:ext cx="3493008" cy="246888"/>
          </a:xfrm>
          <a:prstGeom prst="rect">
            <a:avLst/>
          </a:prstGeom>
          <a:noFill/>
          <a:ln/>
        </p:spPr>
        <p:txBody>
          <a:bodyPr wrap="square" lIns="0" tIns="0" rIns="0" bIns="0" rtlCol="0" anchor="ctr">
            <a:normAutofit/>
          </a:bodyPr>
          <a:lstStyle/>
          <a:p>
            <a:pPr marL="0" indent="0">
              <a:buNone/>
            </a:pPr>
            <a:r>
              <a:rPr lang="en-US" sz="1370" dirty="0">
                <a:solidFill>
                  <a:srgbClr val="FFFFFF"/>
                </a:solidFill>
                <a:latin typeface="Fragment Mono" pitchFamily="34" charset="0"/>
                <a:ea typeface="Fragment Mono" pitchFamily="34" charset="-122"/>
                <a:cs typeface="Fragment Mono" pitchFamily="34" charset="-120"/>
              </a:rPr>
              <a:t>CASO PRÁCTICO · MANZANAS</a:t>
            </a:r>
            <a:endParaRPr lang="en-US" sz="1370" dirty="0"/>
          </a:p>
        </p:txBody>
      </p:sp>
      <p:sp>
        <p:nvSpPr>
          <p:cNvPr id="4" name="Text 2"/>
          <p:cNvSpPr/>
          <p:nvPr/>
        </p:nvSpPr>
        <p:spPr>
          <a:xfrm>
            <a:off x="548640" y="749808"/>
            <a:ext cx="11064240" cy="502920"/>
          </a:xfrm>
          <a:prstGeom prst="rect">
            <a:avLst/>
          </a:prstGeom>
          <a:noFill/>
          <a:ln/>
        </p:spPr>
        <p:txBody>
          <a:bodyPr wrap="square" lIns="0" tIns="0" rIns="0" bIns="0" rtlCol="0" anchor="ctr">
            <a:normAutofit/>
          </a:bodyPr>
          <a:lstStyle/>
          <a:p>
            <a:pPr marL="0" indent="0">
              <a:buNone/>
            </a:pPr>
            <a:r>
              <a:rPr lang="en-US" sz="3250" dirty="0">
                <a:solidFill>
                  <a:srgbClr val="141414"/>
                </a:solidFill>
                <a:latin typeface="Inter Tight SemiBold" pitchFamily="34" charset="0"/>
                <a:ea typeface="Inter Tight SemiBold" pitchFamily="34" charset="-122"/>
                <a:cs typeface="Inter Tight SemiBold" pitchFamily="34" charset="-120"/>
              </a:rPr>
              <a:t>Evaluación de una IA: 30 manzanas</a:t>
            </a:r>
            <a:endParaRPr lang="en-US" sz="3250" dirty="0"/>
          </a:p>
        </p:txBody>
      </p:sp>
      <p:sp>
        <p:nvSpPr>
          <p:cNvPr id="5" name="Text 3"/>
          <p:cNvSpPr/>
          <p:nvPr/>
        </p:nvSpPr>
        <p:spPr>
          <a:xfrm>
            <a:off x="548640" y="1335024"/>
            <a:ext cx="11018520" cy="512064"/>
          </a:xfrm>
          <a:prstGeom prst="rect">
            <a:avLst/>
          </a:prstGeom>
          <a:noFill/>
          <a:ln/>
        </p:spPr>
        <p:txBody>
          <a:bodyPr wrap="square" lIns="0" tIns="0" rIns="0" bIns="0" rtlCol="0" anchor="t">
            <a:normAutofit/>
          </a:bodyPr>
          <a:lstStyle/>
          <a:p>
            <a:pPr marL="0" indent="0">
              <a:buNone/>
            </a:pPr>
            <a:r>
              <a:rPr lang="en-US" sz="1630" dirty="0">
                <a:solidFill>
                  <a:srgbClr val="141414"/>
                </a:solidFill>
                <a:latin typeface="Inter Tight" pitchFamily="34" charset="0"/>
                <a:ea typeface="Inter Tight" pitchFamily="34" charset="-122"/>
                <a:cs typeface="Inter Tight" pitchFamily="34" charset="-120"/>
              </a:rPr>
              <a:t>En la realidad hay 12 manzanas dañadas y 18 sanas; la IA decide a cuál grupo pertenece cada una.</a:t>
            </a:r>
            <a:endParaRPr lang="en-US" sz="1630" dirty="0"/>
          </a:p>
        </p:txBody>
      </p:sp>
      <p:sp>
        <p:nvSpPr>
          <p:cNvPr id="6" name="Shape 4"/>
          <p:cNvSpPr/>
          <p:nvPr/>
        </p:nvSpPr>
        <p:spPr>
          <a:xfrm>
            <a:off x="548640" y="1920240"/>
            <a:ext cx="11064240" cy="402336"/>
          </a:xfrm>
          <a:prstGeom prst="rect">
            <a:avLst/>
          </a:prstGeom>
          <a:solidFill>
            <a:srgbClr val="1C1C1D"/>
          </a:solidFill>
          <a:ln w="12700">
            <a:solidFill>
              <a:srgbClr val="1C1C1D"/>
            </a:solidFill>
            <a:prstDash val="solid"/>
          </a:ln>
        </p:spPr>
      </p:sp>
      <p:sp>
        <p:nvSpPr>
          <p:cNvPr id="7" name="Text 5"/>
          <p:cNvSpPr/>
          <p:nvPr/>
        </p:nvSpPr>
        <p:spPr>
          <a:xfrm>
            <a:off x="704088" y="1975104"/>
            <a:ext cx="10789920" cy="292608"/>
          </a:xfrm>
          <a:prstGeom prst="rect">
            <a:avLst/>
          </a:prstGeom>
          <a:noFill/>
          <a:ln/>
        </p:spPr>
        <p:txBody>
          <a:bodyPr wrap="square" lIns="0" tIns="0" rIns="0" bIns="0" rtlCol="0" anchor="ctr">
            <a:normAutofit/>
          </a:bodyPr>
          <a:lstStyle/>
          <a:p>
            <a:pPr marL="0" indent="0">
              <a:buNone/>
            </a:pPr>
            <a:r>
              <a:rPr lang="en-US" sz="1260" dirty="0">
                <a:solidFill>
                  <a:srgbClr val="FFFFFF"/>
                </a:solidFill>
                <a:latin typeface="Fragment Mono" pitchFamily="34" charset="0"/>
                <a:ea typeface="Fragment Mono" pitchFamily="34" charset="-122"/>
                <a:cs typeface="Fragment Mono" pitchFamily="34" charset="-120"/>
              </a:rPr>
              <a:t>MATRIZ_CONFUSIÓN.LOG  ·  RECUENTO OBSERVADO</a:t>
            </a:r>
            <a:endParaRPr lang="en-US" sz="1260" dirty="0"/>
          </a:p>
        </p:txBody>
      </p:sp>
      <p:sp>
        <p:nvSpPr>
          <p:cNvPr id="8" name="Shape 6"/>
          <p:cNvSpPr/>
          <p:nvPr/>
        </p:nvSpPr>
        <p:spPr>
          <a:xfrm>
            <a:off x="722376" y="2322576"/>
            <a:ext cx="2231136" cy="640080"/>
          </a:xfrm>
          <a:prstGeom prst="rect">
            <a:avLst/>
          </a:prstGeom>
          <a:solidFill>
            <a:srgbClr val="E9E9EC"/>
          </a:solidFill>
          <a:ln w="6350">
            <a:solidFill>
              <a:srgbClr val="A4A4AA"/>
            </a:solidFill>
            <a:prstDash val="solid"/>
          </a:ln>
        </p:spPr>
      </p:sp>
      <p:sp>
        <p:nvSpPr>
          <p:cNvPr id="9" name="Text 7"/>
          <p:cNvSpPr/>
          <p:nvPr/>
        </p:nvSpPr>
        <p:spPr>
          <a:xfrm>
            <a:off x="804672" y="2363724"/>
            <a:ext cx="2066544" cy="557784"/>
          </a:xfrm>
          <a:prstGeom prst="rect">
            <a:avLst/>
          </a:prstGeom>
          <a:noFill/>
          <a:ln/>
        </p:spPr>
        <p:txBody>
          <a:bodyPr wrap="square" lIns="0" tIns="0" rIns="0" bIns="0" rtlCol="0" anchor="ctr">
            <a:normAutofit/>
          </a:bodyPr>
          <a:lstStyle/>
          <a:p>
            <a:pPr marL="0" indent="0" algn="ctr">
              <a:buNone/>
            </a:pPr>
            <a:r>
              <a:rPr lang="en-US" sz="1670" b="1" dirty="0">
                <a:solidFill>
                  <a:srgbClr val="1C1C1D"/>
                </a:solidFill>
                <a:latin typeface="Inter Tight SemiBold" pitchFamily="34" charset="0"/>
                <a:ea typeface="Inter Tight SemiBold" pitchFamily="34" charset="-122"/>
                <a:cs typeface="Inter Tight SemiBold" pitchFamily="34" charset="-120"/>
              </a:rPr>
              <a:t>Estado real</a:t>
            </a:r>
            <a:endParaRPr lang="en-US" sz="1670" dirty="0"/>
          </a:p>
        </p:txBody>
      </p:sp>
      <p:sp>
        <p:nvSpPr>
          <p:cNvPr id="10" name="Shape 8"/>
          <p:cNvSpPr/>
          <p:nvPr/>
        </p:nvSpPr>
        <p:spPr>
          <a:xfrm>
            <a:off x="2953512" y="2322576"/>
            <a:ext cx="2724912" cy="640080"/>
          </a:xfrm>
          <a:prstGeom prst="rect">
            <a:avLst/>
          </a:prstGeom>
          <a:solidFill>
            <a:srgbClr val="E9E9EC"/>
          </a:solidFill>
          <a:ln w="6350">
            <a:solidFill>
              <a:srgbClr val="A4A4AA"/>
            </a:solidFill>
            <a:prstDash val="solid"/>
          </a:ln>
        </p:spPr>
      </p:sp>
      <p:sp>
        <p:nvSpPr>
          <p:cNvPr id="11" name="Text 9"/>
          <p:cNvSpPr/>
          <p:nvPr/>
        </p:nvSpPr>
        <p:spPr>
          <a:xfrm>
            <a:off x="3035808" y="2363724"/>
            <a:ext cx="2560320" cy="557784"/>
          </a:xfrm>
          <a:prstGeom prst="rect">
            <a:avLst/>
          </a:prstGeom>
          <a:noFill/>
          <a:ln/>
        </p:spPr>
        <p:txBody>
          <a:bodyPr wrap="square" lIns="0" tIns="0" rIns="0" bIns="0" rtlCol="0" anchor="ctr">
            <a:normAutofit/>
          </a:bodyPr>
          <a:lstStyle/>
          <a:p>
            <a:pPr marL="0" indent="0" algn="ctr">
              <a:buNone/>
            </a:pPr>
            <a:r>
              <a:rPr lang="en-US" sz="1670" b="1" dirty="0">
                <a:solidFill>
                  <a:srgbClr val="1C1C1D"/>
                </a:solidFill>
                <a:latin typeface="Inter Tight SemiBold" pitchFamily="34" charset="0"/>
                <a:ea typeface="Inter Tight SemiBold" pitchFamily="34" charset="-122"/>
                <a:cs typeface="Inter Tight SemiBold" pitchFamily="34" charset="-120"/>
              </a:rPr>
              <a:t>IA: dañada</a:t>
            </a:r>
            <a:endParaRPr lang="en-US" sz="1670" dirty="0"/>
          </a:p>
        </p:txBody>
      </p:sp>
      <p:sp>
        <p:nvSpPr>
          <p:cNvPr id="12" name="Shape 10"/>
          <p:cNvSpPr/>
          <p:nvPr/>
        </p:nvSpPr>
        <p:spPr>
          <a:xfrm>
            <a:off x="5678424" y="2322576"/>
            <a:ext cx="2724912" cy="640080"/>
          </a:xfrm>
          <a:prstGeom prst="rect">
            <a:avLst/>
          </a:prstGeom>
          <a:solidFill>
            <a:srgbClr val="E9E9EC"/>
          </a:solidFill>
          <a:ln w="6350">
            <a:solidFill>
              <a:srgbClr val="A4A4AA"/>
            </a:solidFill>
            <a:prstDash val="solid"/>
          </a:ln>
        </p:spPr>
      </p:sp>
      <p:sp>
        <p:nvSpPr>
          <p:cNvPr id="13" name="Text 11"/>
          <p:cNvSpPr/>
          <p:nvPr/>
        </p:nvSpPr>
        <p:spPr>
          <a:xfrm>
            <a:off x="5760720" y="2363724"/>
            <a:ext cx="2560320" cy="557784"/>
          </a:xfrm>
          <a:prstGeom prst="rect">
            <a:avLst/>
          </a:prstGeom>
          <a:noFill/>
          <a:ln/>
        </p:spPr>
        <p:txBody>
          <a:bodyPr wrap="square" lIns="0" tIns="0" rIns="0" bIns="0" rtlCol="0" anchor="ctr">
            <a:normAutofit/>
          </a:bodyPr>
          <a:lstStyle/>
          <a:p>
            <a:pPr marL="0" indent="0" algn="ctr">
              <a:buNone/>
            </a:pPr>
            <a:r>
              <a:rPr lang="en-US" sz="1670" b="1" dirty="0">
                <a:solidFill>
                  <a:srgbClr val="1C1C1D"/>
                </a:solidFill>
                <a:latin typeface="Inter Tight SemiBold" pitchFamily="34" charset="0"/>
                <a:ea typeface="Inter Tight SemiBold" pitchFamily="34" charset="-122"/>
                <a:cs typeface="Inter Tight SemiBold" pitchFamily="34" charset="-120"/>
              </a:rPr>
              <a:t>IA: sana</a:t>
            </a:r>
            <a:endParaRPr lang="en-US" sz="1670" dirty="0"/>
          </a:p>
        </p:txBody>
      </p:sp>
      <p:sp>
        <p:nvSpPr>
          <p:cNvPr id="14" name="Shape 12"/>
          <p:cNvSpPr/>
          <p:nvPr/>
        </p:nvSpPr>
        <p:spPr>
          <a:xfrm>
            <a:off x="8403336" y="2322576"/>
            <a:ext cx="3026664" cy="640080"/>
          </a:xfrm>
          <a:prstGeom prst="rect">
            <a:avLst/>
          </a:prstGeom>
          <a:solidFill>
            <a:srgbClr val="E9E9EC"/>
          </a:solidFill>
          <a:ln w="6350">
            <a:solidFill>
              <a:srgbClr val="A4A4AA"/>
            </a:solidFill>
            <a:prstDash val="solid"/>
          </a:ln>
        </p:spPr>
      </p:sp>
      <p:sp>
        <p:nvSpPr>
          <p:cNvPr id="15" name="Text 13"/>
          <p:cNvSpPr/>
          <p:nvPr/>
        </p:nvSpPr>
        <p:spPr>
          <a:xfrm>
            <a:off x="8485632" y="2363724"/>
            <a:ext cx="2862072" cy="557784"/>
          </a:xfrm>
          <a:prstGeom prst="rect">
            <a:avLst/>
          </a:prstGeom>
          <a:noFill/>
          <a:ln/>
        </p:spPr>
        <p:txBody>
          <a:bodyPr wrap="square" lIns="0" tIns="0" rIns="0" bIns="0" rtlCol="0" anchor="ctr">
            <a:normAutofit/>
          </a:bodyPr>
          <a:lstStyle/>
          <a:p>
            <a:pPr marL="0" indent="0" algn="ctr">
              <a:buNone/>
            </a:pPr>
            <a:r>
              <a:rPr lang="en-US" sz="1670" b="1" dirty="0">
                <a:solidFill>
                  <a:srgbClr val="1C1C1D"/>
                </a:solidFill>
                <a:latin typeface="Inter Tight SemiBold" pitchFamily="34" charset="0"/>
                <a:ea typeface="Inter Tight SemiBold" pitchFamily="34" charset="-122"/>
                <a:cs typeface="Inter Tight SemiBold" pitchFamily="34" charset="-120"/>
              </a:rPr>
              <a:t>Total</a:t>
            </a:r>
            <a:endParaRPr lang="en-US" sz="1670" dirty="0"/>
          </a:p>
        </p:txBody>
      </p:sp>
      <p:sp>
        <p:nvSpPr>
          <p:cNvPr id="16" name="Shape 14"/>
          <p:cNvSpPr/>
          <p:nvPr/>
        </p:nvSpPr>
        <p:spPr>
          <a:xfrm>
            <a:off x="722376" y="2962656"/>
            <a:ext cx="2231136" cy="914400"/>
          </a:xfrm>
          <a:prstGeom prst="rect">
            <a:avLst/>
          </a:prstGeom>
          <a:solidFill>
            <a:srgbClr val="E9E9EC"/>
          </a:solidFill>
          <a:ln w="6350">
            <a:solidFill>
              <a:srgbClr val="A4A4AA"/>
            </a:solidFill>
            <a:prstDash val="solid"/>
          </a:ln>
        </p:spPr>
      </p:sp>
      <p:sp>
        <p:nvSpPr>
          <p:cNvPr id="17" name="Text 15"/>
          <p:cNvSpPr/>
          <p:nvPr/>
        </p:nvSpPr>
        <p:spPr>
          <a:xfrm>
            <a:off x="804672" y="3003804"/>
            <a:ext cx="2066544" cy="832104"/>
          </a:xfrm>
          <a:prstGeom prst="rect">
            <a:avLst/>
          </a:prstGeom>
          <a:noFill/>
          <a:ln/>
        </p:spPr>
        <p:txBody>
          <a:bodyPr wrap="square" lIns="0" tIns="0" rIns="0" bIns="0" rtlCol="0" anchor="ctr">
            <a:normAutofit/>
          </a:bodyPr>
          <a:lstStyle/>
          <a:p>
            <a:pPr marL="0" indent="0" algn="ctr">
              <a:buNone/>
            </a:pPr>
            <a:r>
              <a:rPr lang="en-US" sz="1750" b="1" dirty="0">
                <a:solidFill>
                  <a:srgbClr val="1C1C1D"/>
                </a:solidFill>
                <a:latin typeface="Inter Tight SemiBold" pitchFamily="34" charset="0"/>
                <a:ea typeface="Inter Tight SemiBold" pitchFamily="34" charset="-122"/>
                <a:cs typeface="Inter Tight SemiBold" pitchFamily="34" charset="-120"/>
              </a:rPr>
              <a:t>Dañada</a:t>
            </a:r>
            <a:endParaRPr lang="en-US" sz="1750" dirty="0"/>
          </a:p>
        </p:txBody>
      </p:sp>
      <p:sp>
        <p:nvSpPr>
          <p:cNvPr id="18" name="Shape 16"/>
          <p:cNvSpPr/>
          <p:nvPr/>
        </p:nvSpPr>
        <p:spPr>
          <a:xfrm>
            <a:off x="2953512" y="2962656"/>
            <a:ext cx="2724912" cy="914400"/>
          </a:xfrm>
          <a:prstGeom prst="rect">
            <a:avLst/>
          </a:prstGeom>
          <a:solidFill>
            <a:srgbClr val="DED7FB"/>
          </a:solidFill>
          <a:ln w="6350">
            <a:solidFill>
              <a:srgbClr val="A4A4AA"/>
            </a:solidFill>
            <a:prstDash val="solid"/>
          </a:ln>
        </p:spPr>
      </p:sp>
      <p:sp>
        <p:nvSpPr>
          <p:cNvPr id="19" name="Text 17"/>
          <p:cNvSpPr/>
          <p:nvPr/>
        </p:nvSpPr>
        <p:spPr>
          <a:xfrm>
            <a:off x="3035808" y="3003804"/>
            <a:ext cx="2560320" cy="832104"/>
          </a:xfrm>
          <a:prstGeom prst="rect">
            <a:avLst/>
          </a:prstGeom>
          <a:noFill/>
          <a:ln/>
        </p:spPr>
        <p:txBody>
          <a:bodyPr wrap="square" lIns="0" tIns="0" rIns="0" bIns="0" rtlCol="0" anchor="ctr">
            <a:normAutofit/>
          </a:bodyPr>
          <a:lstStyle/>
          <a:p>
            <a:pPr marL="0" indent="0" algn="ctr">
              <a:buNone/>
            </a:pPr>
            <a:r>
              <a:rPr lang="en-US" sz="1700" dirty="0">
                <a:solidFill>
                  <a:srgbClr val="1C1C1D"/>
                </a:solidFill>
                <a:latin typeface="Inter Tight" pitchFamily="34" charset="0"/>
                <a:ea typeface="Inter Tight" pitchFamily="34" charset="-122"/>
                <a:cs typeface="Inter Tight" pitchFamily="34" charset="-120"/>
              </a:rPr>
              <a:t>9</a:t>
            </a:r>
            <a:endParaRPr lang="en-US" sz="1700" dirty="0"/>
          </a:p>
          <a:p>
            <a:pPr marL="0" indent="0" algn="ctr">
              <a:buNone/>
            </a:pPr>
            <a:r>
              <a:rPr lang="en-US" sz="1700" dirty="0">
                <a:solidFill>
                  <a:srgbClr val="1C1C1D"/>
                </a:solidFill>
                <a:latin typeface="Inter Tight" pitchFamily="34" charset="0"/>
                <a:ea typeface="Inter Tight" pitchFamily="34" charset="-122"/>
                <a:cs typeface="Inter Tight" pitchFamily="34" charset="-120"/>
              </a:rPr>
              <a:t>Acierto: dañada</a:t>
            </a:r>
            <a:endParaRPr lang="en-US" sz="1700" dirty="0"/>
          </a:p>
        </p:txBody>
      </p:sp>
      <p:sp>
        <p:nvSpPr>
          <p:cNvPr id="20" name="Shape 18"/>
          <p:cNvSpPr/>
          <p:nvPr/>
        </p:nvSpPr>
        <p:spPr>
          <a:xfrm>
            <a:off x="5678424" y="2962656"/>
            <a:ext cx="2724912" cy="914400"/>
          </a:xfrm>
          <a:prstGeom prst="rect">
            <a:avLst/>
          </a:prstGeom>
          <a:solidFill>
            <a:srgbClr val="FFFFFF"/>
          </a:solidFill>
          <a:ln w="6350">
            <a:solidFill>
              <a:srgbClr val="A4A4AA"/>
            </a:solidFill>
            <a:prstDash val="solid"/>
          </a:ln>
        </p:spPr>
      </p:sp>
      <p:sp>
        <p:nvSpPr>
          <p:cNvPr id="21" name="Text 19"/>
          <p:cNvSpPr/>
          <p:nvPr/>
        </p:nvSpPr>
        <p:spPr>
          <a:xfrm>
            <a:off x="5760720" y="3003804"/>
            <a:ext cx="2560320" cy="832104"/>
          </a:xfrm>
          <a:prstGeom prst="rect">
            <a:avLst/>
          </a:prstGeom>
          <a:noFill/>
          <a:ln/>
        </p:spPr>
        <p:txBody>
          <a:bodyPr wrap="square" lIns="0" tIns="0" rIns="0" bIns="0" rtlCol="0" anchor="ctr">
            <a:normAutofit/>
          </a:bodyPr>
          <a:lstStyle/>
          <a:p>
            <a:pPr marL="0" indent="0" algn="ctr">
              <a:buNone/>
            </a:pPr>
            <a:r>
              <a:rPr lang="en-US" sz="1700" dirty="0">
                <a:solidFill>
                  <a:srgbClr val="1C1C1D"/>
                </a:solidFill>
                <a:latin typeface="Inter Tight" pitchFamily="34" charset="0"/>
                <a:ea typeface="Inter Tight" pitchFamily="34" charset="-122"/>
                <a:cs typeface="Inter Tight" pitchFamily="34" charset="-120"/>
              </a:rPr>
              <a:t>3</a:t>
            </a:r>
            <a:endParaRPr lang="en-US" sz="1700" dirty="0"/>
          </a:p>
          <a:p>
            <a:pPr marL="0" indent="0" algn="ctr">
              <a:buNone/>
            </a:pPr>
            <a:r>
              <a:rPr lang="en-US" sz="1700" dirty="0">
                <a:solidFill>
                  <a:srgbClr val="1C1C1D"/>
                </a:solidFill>
                <a:latin typeface="Inter Tight" pitchFamily="34" charset="0"/>
                <a:ea typeface="Inter Tight" pitchFamily="34" charset="-122"/>
                <a:cs typeface="Inter Tight" pitchFamily="34" charset="-120"/>
              </a:rPr>
              <a:t>Dañada no detectada</a:t>
            </a:r>
            <a:endParaRPr lang="en-US" sz="1700" dirty="0"/>
          </a:p>
        </p:txBody>
      </p:sp>
      <p:sp>
        <p:nvSpPr>
          <p:cNvPr id="22" name="Shape 20"/>
          <p:cNvSpPr/>
          <p:nvPr/>
        </p:nvSpPr>
        <p:spPr>
          <a:xfrm>
            <a:off x="8403336" y="2962656"/>
            <a:ext cx="3026664" cy="914400"/>
          </a:xfrm>
          <a:prstGeom prst="rect">
            <a:avLst/>
          </a:prstGeom>
          <a:solidFill>
            <a:srgbClr val="FFFFFF"/>
          </a:solidFill>
          <a:ln w="6350">
            <a:solidFill>
              <a:srgbClr val="A4A4AA"/>
            </a:solidFill>
            <a:prstDash val="solid"/>
          </a:ln>
        </p:spPr>
      </p:sp>
      <p:sp>
        <p:nvSpPr>
          <p:cNvPr id="23" name="Text 21"/>
          <p:cNvSpPr/>
          <p:nvPr/>
        </p:nvSpPr>
        <p:spPr>
          <a:xfrm>
            <a:off x="8485632" y="3003804"/>
            <a:ext cx="2862072" cy="832104"/>
          </a:xfrm>
          <a:prstGeom prst="rect">
            <a:avLst/>
          </a:prstGeom>
          <a:noFill/>
          <a:ln/>
        </p:spPr>
        <p:txBody>
          <a:bodyPr wrap="square" lIns="0" tIns="0" rIns="0" bIns="0" rtlCol="0" anchor="ctr">
            <a:normAutofit/>
          </a:bodyPr>
          <a:lstStyle/>
          <a:p>
            <a:pPr marL="0" indent="0" algn="ctr">
              <a:buNone/>
            </a:pPr>
            <a:r>
              <a:rPr lang="en-US" sz="1700" dirty="0">
                <a:solidFill>
                  <a:srgbClr val="1C1C1D"/>
                </a:solidFill>
                <a:latin typeface="Inter Tight" pitchFamily="34" charset="0"/>
                <a:ea typeface="Inter Tight" pitchFamily="34" charset="-122"/>
                <a:cs typeface="Inter Tight" pitchFamily="34" charset="-120"/>
              </a:rPr>
              <a:t>12</a:t>
            </a:r>
            <a:endParaRPr lang="en-US" sz="1700" dirty="0"/>
          </a:p>
        </p:txBody>
      </p:sp>
      <p:sp>
        <p:nvSpPr>
          <p:cNvPr id="24" name="Shape 22"/>
          <p:cNvSpPr/>
          <p:nvPr/>
        </p:nvSpPr>
        <p:spPr>
          <a:xfrm>
            <a:off x="722376" y="3877056"/>
            <a:ext cx="2231136" cy="914400"/>
          </a:xfrm>
          <a:prstGeom prst="rect">
            <a:avLst/>
          </a:prstGeom>
          <a:solidFill>
            <a:srgbClr val="E9E9EC"/>
          </a:solidFill>
          <a:ln w="6350">
            <a:solidFill>
              <a:srgbClr val="A4A4AA"/>
            </a:solidFill>
            <a:prstDash val="solid"/>
          </a:ln>
        </p:spPr>
      </p:sp>
      <p:sp>
        <p:nvSpPr>
          <p:cNvPr id="25" name="Text 23"/>
          <p:cNvSpPr/>
          <p:nvPr/>
        </p:nvSpPr>
        <p:spPr>
          <a:xfrm>
            <a:off x="804672" y="3918204"/>
            <a:ext cx="2066544" cy="832104"/>
          </a:xfrm>
          <a:prstGeom prst="rect">
            <a:avLst/>
          </a:prstGeom>
          <a:noFill/>
          <a:ln/>
        </p:spPr>
        <p:txBody>
          <a:bodyPr wrap="square" lIns="0" tIns="0" rIns="0" bIns="0" rtlCol="0" anchor="ctr">
            <a:normAutofit/>
          </a:bodyPr>
          <a:lstStyle/>
          <a:p>
            <a:pPr marL="0" indent="0" algn="ctr">
              <a:buNone/>
            </a:pPr>
            <a:r>
              <a:rPr lang="en-US" sz="1750" b="1" dirty="0">
                <a:solidFill>
                  <a:srgbClr val="1C1C1D"/>
                </a:solidFill>
                <a:latin typeface="Inter Tight SemiBold" pitchFamily="34" charset="0"/>
                <a:ea typeface="Inter Tight SemiBold" pitchFamily="34" charset="-122"/>
                <a:cs typeface="Inter Tight SemiBold" pitchFamily="34" charset="-120"/>
              </a:rPr>
              <a:t>Sana</a:t>
            </a:r>
            <a:endParaRPr lang="en-US" sz="1750" dirty="0"/>
          </a:p>
        </p:txBody>
      </p:sp>
      <p:sp>
        <p:nvSpPr>
          <p:cNvPr id="26" name="Shape 24"/>
          <p:cNvSpPr/>
          <p:nvPr/>
        </p:nvSpPr>
        <p:spPr>
          <a:xfrm>
            <a:off x="2953512" y="3877056"/>
            <a:ext cx="2724912" cy="914400"/>
          </a:xfrm>
          <a:prstGeom prst="rect">
            <a:avLst/>
          </a:prstGeom>
          <a:solidFill>
            <a:srgbClr val="FFFFFF"/>
          </a:solidFill>
          <a:ln w="6350">
            <a:solidFill>
              <a:srgbClr val="A4A4AA"/>
            </a:solidFill>
            <a:prstDash val="solid"/>
          </a:ln>
        </p:spPr>
      </p:sp>
      <p:sp>
        <p:nvSpPr>
          <p:cNvPr id="27" name="Text 25"/>
          <p:cNvSpPr/>
          <p:nvPr/>
        </p:nvSpPr>
        <p:spPr>
          <a:xfrm>
            <a:off x="3035808" y="3918204"/>
            <a:ext cx="2560320" cy="832104"/>
          </a:xfrm>
          <a:prstGeom prst="rect">
            <a:avLst/>
          </a:prstGeom>
          <a:noFill/>
          <a:ln/>
        </p:spPr>
        <p:txBody>
          <a:bodyPr wrap="square" lIns="0" tIns="0" rIns="0" bIns="0" rtlCol="0" anchor="ctr">
            <a:normAutofit/>
          </a:bodyPr>
          <a:lstStyle/>
          <a:p>
            <a:pPr marL="0" indent="0" algn="ctr">
              <a:buNone/>
            </a:pPr>
            <a:r>
              <a:rPr lang="en-US" sz="1700" dirty="0">
                <a:solidFill>
                  <a:srgbClr val="1C1C1D"/>
                </a:solidFill>
                <a:latin typeface="Inter Tight" pitchFamily="34" charset="0"/>
                <a:ea typeface="Inter Tight" pitchFamily="34" charset="-122"/>
                <a:cs typeface="Inter Tight" pitchFamily="34" charset="-120"/>
              </a:rPr>
              <a:t>6</a:t>
            </a:r>
            <a:endParaRPr lang="en-US" sz="1700" dirty="0"/>
          </a:p>
          <a:p>
            <a:pPr marL="0" indent="0" algn="ctr">
              <a:buNone/>
            </a:pPr>
            <a:r>
              <a:rPr lang="en-US" sz="1700" dirty="0">
                <a:solidFill>
                  <a:srgbClr val="1C1C1D"/>
                </a:solidFill>
                <a:latin typeface="Inter Tight" pitchFamily="34" charset="0"/>
                <a:ea typeface="Inter Tight" pitchFamily="34" charset="-122"/>
                <a:cs typeface="Inter Tight" pitchFamily="34" charset="-120"/>
              </a:rPr>
              <a:t>Falsa alarma</a:t>
            </a:r>
            <a:endParaRPr lang="en-US" sz="1700" dirty="0"/>
          </a:p>
        </p:txBody>
      </p:sp>
      <p:sp>
        <p:nvSpPr>
          <p:cNvPr id="28" name="Shape 26"/>
          <p:cNvSpPr/>
          <p:nvPr/>
        </p:nvSpPr>
        <p:spPr>
          <a:xfrm>
            <a:off x="5678424" y="3877056"/>
            <a:ext cx="2724912" cy="914400"/>
          </a:xfrm>
          <a:prstGeom prst="rect">
            <a:avLst/>
          </a:prstGeom>
          <a:solidFill>
            <a:srgbClr val="DED7FB"/>
          </a:solidFill>
          <a:ln w="6350">
            <a:solidFill>
              <a:srgbClr val="A4A4AA"/>
            </a:solidFill>
            <a:prstDash val="solid"/>
          </a:ln>
        </p:spPr>
      </p:sp>
      <p:sp>
        <p:nvSpPr>
          <p:cNvPr id="29" name="Text 27"/>
          <p:cNvSpPr/>
          <p:nvPr/>
        </p:nvSpPr>
        <p:spPr>
          <a:xfrm>
            <a:off x="5760720" y="3918204"/>
            <a:ext cx="2560320" cy="832104"/>
          </a:xfrm>
          <a:prstGeom prst="rect">
            <a:avLst/>
          </a:prstGeom>
          <a:noFill/>
          <a:ln/>
        </p:spPr>
        <p:txBody>
          <a:bodyPr wrap="square" lIns="0" tIns="0" rIns="0" bIns="0" rtlCol="0" anchor="ctr">
            <a:normAutofit/>
          </a:bodyPr>
          <a:lstStyle/>
          <a:p>
            <a:pPr marL="0" indent="0" algn="ctr">
              <a:buNone/>
            </a:pPr>
            <a:r>
              <a:rPr lang="en-US" sz="1700" dirty="0">
                <a:solidFill>
                  <a:srgbClr val="1C1C1D"/>
                </a:solidFill>
                <a:latin typeface="Inter Tight" pitchFamily="34" charset="0"/>
                <a:ea typeface="Inter Tight" pitchFamily="34" charset="-122"/>
                <a:cs typeface="Inter Tight" pitchFamily="34" charset="-120"/>
              </a:rPr>
              <a:t>12</a:t>
            </a:r>
            <a:endParaRPr lang="en-US" sz="1700" dirty="0"/>
          </a:p>
          <a:p>
            <a:pPr marL="0" indent="0" algn="ctr">
              <a:buNone/>
            </a:pPr>
            <a:r>
              <a:rPr lang="en-US" sz="1700" dirty="0">
                <a:solidFill>
                  <a:srgbClr val="1C1C1D"/>
                </a:solidFill>
                <a:latin typeface="Inter Tight" pitchFamily="34" charset="0"/>
                <a:ea typeface="Inter Tight" pitchFamily="34" charset="-122"/>
                <a:cs typeface="Inter Tight" pitchFamily="34" charset="-120"/>
              </a:rPr>
              <a:t>Acierto: sana</a:t>
            </a:r>
            <a:endParaRPr lang="en-US" sz="1700" dirty="0"/>
          </a:p>
        </p:txBody>
      </p:sp>
      <p:sp>
        <p:nvSpPr>
          <p:cNvPr id="30" name="Shape 28"/>
          <p:cNvSpPr/>
          <p:nvPr/>
        </p:nvSpPr>
        <p:spPr>
          <a:xfrm>
            <a:off x="8403336" y="3877056"/>
            <a:ext cx="3026664" cy="914400"/>
          </a:xfrm>
          <a:prstGeom prst="rect">
            <a:avLst/>
          </a:prstGeom>
          <a:solidFill>
            <a:srgbClr val="FFFFFF"/>
          </a:solidFill>
          <a:ln w="6350">
            <a:solidFill>
              <a:srgbClr val="A4A4AA"/>
            </a:solidFill>
            <a:prstDash val="solid"/>
          </a:ln>
        </p:spPr>
      </p:sp>
      <p:sp>
        <p:nvSpPr>
          <p:cNvPr id="31" name="Text 29"/>
          <p:cNvSpPr/>
          <p:nvPr/>
        </p:nvSpPr>
        <p:spPr>
          <a:xfrm>
            <a:off x="8485632" y="3918204"/>
            <a:ext cx="2862072" cy="832104"/>
          </a:xfrm>
          <a:prstGeom prst="rect">
            <a:avLst/>
          </a:prstGeom>
          <a:noFill/>
          <a:ln/>
        </p:spPr>
        <p:txBody>
          <a:bodyPr wrap="square" lIns="0" tIns="0" rIns="0" bIns="0" rtlCol="0" anchor="ctr">
            <a:normAutofit/>
          </a:bodyPr>
          <a:lstStyle/>
          <a:p>
            <a:pPr marL="0" indent="0" algn="ctr">
              <a:buNone/>
            </a:pPr>
            <a:r>
              <a:rPr lang="en-US" sz="1700" dirty="0">
                <a:solidFill>
                  <a:srgbClr val="1C1C1D"/>
                </a:solidFill>
                <a:latin typeface="Inter Tight" pitchFamily="34" charset="0"/>
                <a:ea typeface="Inter Tight" pitchFamily="34" charset="-122"/>
                <a:cs typeface="Inter Tight" pitchFamily="34" charset="-120"/>
              </a:rPr>
              <a:t>18</a:t>
            </a:r>
            <a:endParaRPr lang="en-US" sz="1700" dirty="0"/>
          </a:p>
        </p:txBody>
      </p:sp>
      <p:sp>
        <p:nvSpPr>
          <p:cNvPr id="32" name="Shape 30"/>
          <p:cNvSpPr/>
          <p:nvPr/>
        </p:nvSpPr>
        <p:spPr>
          <a:xfrm>
            <a:off x="722376" y="4791456"/>
            <a:ext cx="2231136" cy="585216"/>
          </a:xfrm>
          <a:prstGeom prst="rect">
            <a:avLst/>
          </a:prstGeom>
          <a:solidFill>
            <a:srgbClr val="E9E9EC"/>
          </a:solidFill>
          <a:ln w="6350">
            <a:solidFill>
              <a:srgbClr val="A4A4AA"/>
            </a:solidFill>
            <a:prstDash val="solid"/>
          </a:ln>
        </p:spPr>
      </p:sp>
      <p:sp>
        <p:nvSpPr>
          <p:cNvPr id="33" name="Text 31"/>
          <p:cNvSpPr/>
          <p:nvPr/>
        </p:nvSpPr>
        <p:spPr>
          <a:xfrm>
            <a:off x="804672" y="4832604"/>
            <a:ext cx="2066544" cy="502920"/>
          </a:xfrm>
          <a:prstGeom prst="rect">
            <a:avLst/>
          </a:prstGeom>
          <a:noFill/>
          <a:ln/>
        </p:spPr>
        <p:txBody>
          <a:bodyPr wrap="square" lIns="0" tIns="0" rIns="0" bIns="0" rtlCol="0" anchor="ctr">
            <a:normAutofit/>
          </a:bodyPr>
          <a:lstStyle/>
          <a:p>
            <a:pPr marL="0" indent="0" algn="ctr">
              <a:buNone/>
            </a:pPr>
            <a:r>
              <a:rPr lang="en-US" sz="1800" b="1" dirty="0">
                <a:solidFill>
                  <a:srgbClr val="1C1C1D"/>
                </a:solidFill>
                <a:latin typeface="Inter Tight SemiBold" pitchFamily="34" charset="0"/>
                <a:ea typeface="Inter Tight SemiBold" pitchFamily="34" charset="-122"/>
                <a:cs typeface="Inter Tight SemiBold" pitchFamily="34" charset="-120"/>
              </a:rPr>
              <a:t>Total</a:t>
            </a:r>
            <a:endParaRPr lang="en-US" sz="1800" dirty="0"/>
          </a:p>
        </p:txBody>
      </p:sp>
      <p:sp>
        <p:nvSpPr>
          <p:cNvPr id="34" name="Shape 32"/>
          <p:cNvSpPr/>
          <p:nvPr/>
        </p:nvSpPr>
        <p:spPr>
          <a:xfrm>
            <a:off x="2953512" y="4791456"/>
            <a:ext cx="2724912" cy="585216"/>
          </a:xfrm>
          <a:prstGeom prst="rect">
            <a:avLst/>
          </a:prstGeom>
          <a:solidFill>
            <a:srgbClr val="E9E9EC"/>
          </a:solidFill>
          <a:ln w="6350">
            <a:solidFill>
              <a:srgbClr val="A4A4AA"/>
            </a:solidFill>
            <a:prstDash val="solid"/>
          </a:ln>
        </p:spPr>
      </p:sp>
      <p:sp>
        <p:nvSpPr>
          <p:cNvPr id="35" name="Text 33"/>
          <p:cNvSpPr/>
          <p:nvPr/>
        </p:nvSpPr>
        <p:spPr>
          <a:xfrm>
            <a:off x="3035808" y="4832604"/>
            <a:ext cx="2560320" cy="502920"/>
          </a:xfrm>
          <a:prstGeom prst="rect">
            <a:avLst/>
          </a:prstGeom>
          <a:noFill/>
          <a:ln/>
        </p:spPr>
        <p:txBody>
          <a:bodyPr wrap="square" lIns="0" tIns="0" rIns="0" bIns="0" rtlCol="0" anchor="ctr">
            <a:normAutofit/>
          </a:bodyPr>
          <a:lstStyle/>
          <a:p>
            <a:pPr marL="0" indent="0" algn="ctr">
              <a:buNone/>
            </a:pPr>
            <a:r>
              <a:rPr lang="en-US" sz="1800" b="1" dirty="0">
                <a:solidFill>
                  <a:srgbClr val="1C1C1D"/>
                </a:solidFill>
                <a:latin typeface="Inter Tight SemiBold" pitchFamily="34" charset="0"/>
                <a:ea typeface="Inter Tight SemiBold" pitchFamily="34" charset="-122"/>
                <a:cs typeface="Inter Tight SemiBold" pitchFamily="34" charset="-120"/>
              </a:rPr>
              <a:t>15</a:t>
            </a:r>
            <a:endParaRPr lang="en-US" sz="1800" dirty="0"/>
          </a:p>
        </p:txBody>
      </p:sp>
      <p:sp>
        <p:nvSpPr>
          <p:cNvPr id="36" name="Shape 34"/>
          <p:cNvSpPr/>
          <p:nvPr/>
        </p:nvSpPr>
        <p:spPr>
          <a:xfrm>
            <a:off x="5678424" y="4791456"/>
            <a:ext cx="2724912" cy="585216"/>
          </a:xfrm>
          <a:prstGeom prst="rect">
            <a:avLst/>
          </a:prstGeom>
          <a:solidFill>
            <a:srgbClr val="E9E9EC"/>
          </a:solidFill>
          <a:ln w="6350">
            <a:solidFill>
              <a:srgbClr val="A4A4AA"/>
            </a:solidFill>
            <a:prstDash val="solid"/>
          </a:ln>
        </p:spPr>
      </p:sp>
      <p:sp>
        <p:nvSpPr>
          <p:cNvPr id="37" name="Text 35"/>
          <p:cNvSpPr/>
          <p:nvPr/>
        </p:nvSpPr>
        <p:spPr>
          <a:xfrm>
            <a:off x="5760720" y="4832604"/>
            <a:ext cx="2560320" cy="502920"/>
          </a:xfrm>
          <a:prstGeom prst="rect">
            <a:avLst/>
          </a:prstGeom>
          <a:noFill/>
          <a:ln/>
        </p:spPr>
        <p:txBody>
          <a:bodyPr wrap="square" lIns="0" tIns="0" rIns="0" bIns="0" rtlCol="0" anchor="ctr">
            <a:normAutofit/>
          </a:bodyPr>
          <a:lstStyle/>
          <a:p>
            <a:pPr marL="0" indent="0" algn="ctr">
              <a:buNone/>
            </a:pPr>
            <a:r>
              <a:rPr lang="en-US" sz="1800" b="1" dirty="0">
                <a:solidFill>
                  <a:srgbClr val="1C1C1D"/>
                </a:solidFill>
                <a:latin typeface="Inter Tight SemiBold" pitchFamily="34" charset="0"/>
                <a:ea typeface="Inter Tight SemiBold" pitchFamily="34" charset="-122"/>
                <a:cs typeface="Inter Tight SemiBold" pitchFamily="34" charset="-120"/>
              </a:rPr>
              <a:t>15</a:t>
            </a:r>
            <a:endParaRPr lang="en-US" sz="1800" dirty="0"/>
          </a:p>
        </p:txBody>
      </p:sp>
      <p:sp>
        <p:nvSpPr>
          <p:cNvPr id="38" name="Shape 36"/>
          <p:cNvSpPr/>
          <p:nvPr/>
        </p:nvSpPr>
        <p:spPr>
          <a:xfrm>
            <a:off x="8403336" y="4791456"/>
            <a:ext cx="3026664" cy="585216"/>
          </a:xfrm>
          <a:prstGeom prst="rect">
            <a:avLst/>
          </a:prstGeom>
          <a:solidFill>
            <a:srgbClr val="E9E9EC"/>
          </a:solidFill>
          <a:ln w="6350">
            <a:solidFill>
              <a:srgbClr val="A4A4AA"/>
            </a:solidFill>
            <a:prstDash val="solid"/>
          </a:ln>
        </p:spPr>
      </p:sp>
      <p:sp>
        <p:nvSpPr>
          <p:cNvPr id="39" name="Text 37"/>
          <p:cNvSpPr/>
          <p:nvPr/>
        </p:nvSpPr>
        <p:spPr>
          <a:xfrm>
            <a:off x="8485632" y="4832604"/>
            <a:ext cx="2862072" cy="502920"/>
          </a:xfrm>
          <a:prstGeom prst="rect">
            <a:avLst/>
          </a:prstGeom>
          <a:noFill/>
          <a:ln/>
        </p:spPr>
        <p:txBody>
          <a:bodyPr wrap="square" lIns="0" tIns="0" rIns="0" bIns="0" rtlCol="0" anchor="ctr">
            <a:normAutofit/>
          </a:bodyPr>
          <a:lstStyle/>
          <a:p>
            <a:pPr marL="0" indent="0" algn="ctr">
              <a:buNone/>
            </a:pPr>
            <a:r>
              <a:rPr lang="en-US" sz="1800" b="1" dirty="0">
                <a:solidFill>
                  <a:srgbClr val="1C1C1D"/>
                </a:solidFill>
                <a:latin typeface="Inter Tight SemiBold" pitchFamily="34" charset="0"/>
                <a:ea typeface="Inter Tight SemiBold" pitchFamily="34" charset="-122"/>
                <a:cs typeface="Inter Tight SemiBold" pitchFamily="34" charset="-120"/>
              </a:rPr>
              <a:t>30</a:t>
            </a:r>
            <a:endParaRPr lang="en-US" sz="1800" dirty="0"/>
          </a:p>
        </p:txBody>
      </p:sp>
      <p:sp>
        <p:nvSpPr>
          <p:cNvPr id="40" name="Shape 38"/>
          <p:cNvSpPr/>
          <p:nvPr/>
        </p:nvSpPr>
        <p:spPr>
          <a:xfrm>
            <a:off x="548640" y="6053328"/>
            <a:ext cx="11064240" cy="429768"/>
          </a:xfrm>
          <a:prstGeom prst="rect">
            <a:avLst/>
          </a:prstGeom>
          <a:solidFill>
            <a:srgbClr val="E9E9EC"/>
          </a:solidFill>
          <a:ln w="8890">
            <a:solidFill>
              <a:srgbClr val="1C1C1D"/>
            </a:solidFill>
            <a:prstDash val="solid"/>
          </a:ln>
        </p:spPr>
      </p:sp>
      <p:sp>
        <p:nvSpPr>
          <p:cNvPr id="41" name="Text 39"/>
          <p:cNvSpPr/>
          <p:nvPr/>
        </p:nvSpPr>
        <p:spPr>
          <a:xfrm>
            <a:off x="749808" y="6140196"/>
            <a:ext cx="10652760" cy="210312"/>
          </a:xfrm>
          <a:prstGeom prst="rect">
            <a:avLst/>
          </a:prstGeom>
          <a:noFill/>
          <a:ln/>
        </p:spPr>
        <p:txBody>
          <a:bodyPr wrap="square" lIns="0" tIns="0" rIns="0" bIns="0" rtlCol="0" anchor="ctr">
            <a:normAutofit/>
          </a:bodyPr>
          <a:lstStyle/>
          <a:p>
            <a:pPr marL="0" indent="0">
              <a:buNone/>
            </a:pPr>
            <a:r>
              <a:rPr lang="en-US" sz="1350" dirty="0">
                <a:solidFill>
                  <a:srgbClr val="141414"/>
                </a:solidFill>
                <a:latin typeface="Fragment Mono" pitchFamily="34" charset="0"/>
                <a:ea typeface="Fragment Mono" pitchFamily="34" charset="-122"/>
                <a:cs typeface="Fragment Mono" pitchFamily="34" charset="-120"/>
              </a:rPr>
              <a:t>EXACTITUD = (9 + 12) / 30 = 21 / 30 = 70 % · ACIERTOS TOTALES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265176"/>
            <a:ext cx="3840480" cy="347472"/>
          </a:xfrm>
          <a:prstGeom prst="rect">
            <a:avLst/>
          </a:prstGeom>
          <a:solidFill>
            <a:srgbClr val="1C1C1D"/>
          </a:solidFill>
          <a:ln w="12700">
            <a:solidFill>
              <a:srgbClr val="1C1C1D"/>
            </a:solidFill>
            <a:prstDash val="solid"/>
          </a:ln>
        </p:spPr>
      </p:sp>
      <p:sp>
        <p:nvSpPr>
          <p:cNvPr id="3" name="Text 1"/>
          <p:cNvSpPr/>
          <p:nvPr/>
        </p:nvSpPr>
        <p:spPr>
          <a:xfrm>
            <a:off x="676656" y="315468"/>
            <a:ext cx="3630168" cy="246888"/>
          </a:xfrm>
          <a:prstGeom prst="rect">
            <a:avLst/>
          </a:prstGeom>
          <a:noFill/>
          <a:ln/>
        </p:spPr>
        <p:txBody>
          <a:bodyPr wrap="square" lIns="0" tIns="0" rIns="0" bIns="0" rtlCol="0" anchor="ctr">
            <a:normAutofit/>
          </a:bodyPr>
          <a:lstStyle/>
          <a:p>
            <a:pPr marL="0" indent="0">
              <a:buNone/>
            </a:pPr>
            <a:r>
              <a:rPr lang="en-US" sz="1370" dirty="0">
                <a:solidFill>
                  <a:srgbClr val="FFFFFF"/>
                </a:solidFill>
                <a:latin typeface="Fragment Mono" pitchFamily="34" charset="0"/>
                <a:ea typeface="Fragment Mono" pitchFamily="34" charset="-122"/>
                <a:cs typeface="Fragment Mono" pitchFamily="34" charset="-120"/>
              </a:rPr>
              <a:t>EJERCICIO · DOS HIPÓTESIS</a:t>
            </a:r>
            <a:endParaRPr lang="en-US" sz="1370" dirty="0"/>
          </a:p>
        </p:txBody>
      </p:sp>
      <p:sp>
        <p:nvSpPr>
          <p:cNvPr id="4" name="Text 2"/>
          <p:cNvSpPr/>
          <p:nvPr/>
        </p:nvSpPr>
        <p:spPr>
          <a:xfrm>
            <a:off x="548640" y="749808"/>
            <a:ext cx="11064240" cy="502920"/>
          </a:xfrm>
          <a:prstGeom prst="rect">
            <a:avLst/>
          </a:prstGeom>
          <a:noFill/>
          <a:ln/>
        </p:spPr>
        <p:txBody>
          <a:bodyPr wrap="square" lIns="0" tIns="0" rIns="0" bIns="0" rtlCol="0" anchor="ctr">
            <a:normAutofit/>
          </a:bodyPr>
          <a:lstStyle/>
          <a:p>
            <a:pPr marL="0" indent="0">
              <a:buNone/>
            </a:pPr>
            <a:r>
              <a:rPr lang="en-US" sz="3250" dirty="0">
                <a:solidFill>
                  <a:srgbClr val="141414"/>
                </a:solidFill>
                <a:latin typeface="Inter Tight SemiBold" pitchFamily="34" charset="0"/>
                <a:ea typeface="Inter Tight SemiBold" pitchFamily="34" charset="-122"/>
                <a:cs typeface="Inter Tight SemiBold" pitchFamily="34" charset="-120"/>
              </a:rPr>
              <a:t>Las métricas dependen de la clase positiva</a:t>
            </a:r>
            <a:endParaRPr lang="en-US" sz="3250" dirty="0"/>
          </a:p>
        </p:txBody>
      </p:sp>
      <p:sp>
        <p:nvSpPr>
          <p:cNvPr id="5" name="Text 3"/>
          <p:cNvSpPr/>
          <p:nvPr/>
        </p:nvSpPr>
        <p:spPr>
          <a:xfrm>
            <a:off x="548640" y="1335024"/>
            <a:ext cx="11018520" cy="512064"/>
          </a:xfrm>
          <a:prstGeom prst="rect">
            <a:avLst/>
          </a:prstGeom>
          <a:noFill/>
          <a:ln/>
        </p:spPr>
        <p:txBody>
          <a:bodyPr wrap="square" lIns="0" tIns="0" rIns="0" bIns="0" rtlCol="0" anchor="t">
            <a:normAutofit/>
          </a:bodyPr>
          <a:lstStyle/>
          <a:p>
            <a:pPr marL="0" indent="0">
              <a:buNone/>
            </a:pPr>
            <a:r>
              <a:rPr lang="en-US" sz="1630" dirty="0">
                <a:solidFill>
                  <a:srgbClr val="141414"/>
                </a:solidFill>
                <a:latin typeface="Inter Tight" pitchFamily="34" charset="0"/>
                <a:ea typeface="Inter Tight" pitchFamily="34" charset="-122"/>
                <a:cs typeface="Inter Tight" pitchFamily="34" charset="-120"/>
              </a:rPr>
              <a:t>Se usa la misma matriz, pero cambia qué consideramos “positivo”: detectar dañadas o detectar sanas.</a:t>
            </a:r>
            <a:endParaRPr lang="en-US" sz="1630" dirty="0"/>
          </a:p>
        </p:txBody>
      </p:sp>
      <p:sp>
        <p:nvSpPr>
          <p:cNvPr id="6" name="Shape 4"/>
          <p:cNvSpPr/>
          <p:nvPr/>
        </p:nvSpPr>
        <p:spPr>
          <a:xfrm>
            <a:off x="548640" y="2002536"/>
            <a:ext cx="5468112" cy="3675888"/>
          </a:xfrm>
          <a:prstGeom prst="rect">
            <a:avLst/>
          </a:prstGeom>
          <a:solidFill>
            <a:srgbClr val="E9E9EC"/>
          </a:solidFill>
          <a:ln w="9525">
            <a:solidFill>
              <a:srgbClr val="1C1C1D"/>
            </a:solidFill>
            <a:prstDash val="solid"/>
          </a:ln>
        </p:spPr>
      </p:sp>
      <p:sp>
        <p:nvSpPr>
          <p:cNvPr id="7" name="Shape 5"/>
          <p:cNvSpPr/>
          <p:nvPr/>
        </p:nvSpPr>
        <p:spPr>
          <a:xfrm>
            <a:off x="548640" y="2002536"/>
            <a:ext cx="5468112" cy="438912"/>
          </a:xfrm>
          <a:prstGeom prst="rect">
            <a:avLst/>
          </a:prstGeom>
          <a:solidFill>
            <a:srgbClr val="1C1C1D"/>
          </a:solidFill>
          <a:ln w="12700">
            <a:solidFill>
              <a:srgbClr val="1C1C1D"/>
            </a:solidFill>
            <a:prstDash val="solid"/>
          </a:ln>
        </p:spPr>
      </p:sp>
      <p:sp>
        <p:nvSpPr>
          <p:cNvPr id="8" name="Text 6"/>
          <p:cNvSpPr/>
          <p:nvPr/>
        </p:nvSpPr>
        <p:spPr>
          <a:xfrm>
            <a:off x="704088" y="2057400"/>
            <a:ext cx="5193792" cy="329184"/>
          </a:xfrm>
          <a:prstGeom prst="rect">
            <a:avLst/>
          </a:prstGeom>
          <a:noFill/>
          <a:ln/>
        </p:spPr>
        <p:txBody>
          <a:bodyPr wrap="square" lIns="0" tIns="0" rIns="0" bIns="0" rtlCol="0" anchor="ctr">
            <a:normAutofit/>
          </a:bodyPr>
          <a:lstStyle/>
          <a:p>
            <a:pPr marL="0" indent="0">
              <a:buNone/>
            </a:pPr>
            <a:r>
              <a:rPr lang="en-US" sz="1260" dirty="0">
                <a:solidFill>
                  <a:srgbClr val="FFFFFF"/>
                </a:solidFill>
                <a:latin typeface="Fragment Mono" pitchFamily="34" charset="0"/>
                <a:ea typeface="Fragment Mono" pitchFamily="34" charset="-122"/>
                <a:cs typeface="Fragment Mono" pitchFamily="34" charset="-120"/>
              </a:rPr>
              <a:t>HIPÓTESIS A  ·  POSITIVO = DAÑADA</a:t>
            </a:r>
            <a:endParaRPr lang="en-US" sz="1260" dirty="0"/>
          </a:p>
        </p:txBody>
      </p:sp>
      <p:sp>
        <p:nvSpPr>
          <p:cNvPr id="9" name="Text 7"/>
          <p:cNvSpPr/>
          <p:nvPr/>
        </p:nvSpPr>
        <p:spPr>
          <a:xfrm>
            <a:off x="722376" y="2587752"/>
            <a:ext cx="5129784" cy="292608"/>
          </a:xfrm>
          <a:prstGeom prst="rect">
            <a:avLst/>
          </a:prstGeom>
          <a:noFill/>
          <a:ln/>
        </p:spPr>
        <p:txBody>
          <a:bodyPr wrap="square" lIns="0" tIns="0" rIns="0" bIns="0" rtlCol="0" anchor="ctr">
            <a:normAutofit fontScale="92500"/>
          </a:bodyPr>
          <a:lstStyle/>
          <a:p>
            <a:pPr marL="0" indent="0">
              <a:buNone/>
            </a:pPr>
            <a:r>
              <a:rPr lang="en-US" sz="1630" dirty="0">
                <a:solidFill>
                  <a:srgbClr val="3C267F"/>
                </a:solidFill>
                <a:latin typeface="Fragment Mono" pitchFamily="34" charset="0"/>
                <a:ea typeface="Fragment Mono" pitchFamily="34" charset="-122"/>
                <a:cs typeface="Fragment Mono" pitchFamily="34" charset="-120"/>
              </a:rPr>
              <a:t>VP = 9     FP = 6     FN = 3     VN = 12</a:t>
            </a:r>
            <a:endParaRPr lang="en-US" sz="1630" dirty="0"/>
          </a:p>
        </p:txBody>
      </p:sp>
      <p:sp>
        <p:nvSpPr>
          <p:cNvPr id="10" name="Shape 8"/>
          <p:cNvSpPr/>
          <p:nvPr/>
        </p:nvSpPr>
        <p:spPr>
          <a:xfrm>
            <a:off x="722376" y="3008376"/>
            <a:ext cx="5120640" cy="566928"/>
          </a:xfrm>
          <a:prstGeom prst="rect">
            <a:avLst/>
          </a:prstGeom>
          <a:solidFill>
            <a:srgbClr val="FFFFFF"/>
          </a:solidFill>
          <a:ln w="4445">
            <a:solidFill>
              <a:srgbClr val="A4A4AA"/>
            </a:solidFill>
            <a:prstDash val="solid"/>
          </a:ln>
        </p:spPr>
      </p:sp>
      <p:sp>
        <p:nvSpPr>
          <p:cNvPr id="11" name="Text 9"/>
          <p:cNvSpPr/>
          <p:nvPr/>
        </p:nvSpPr>
        <p:spPr>
          <a:xfrm>
            <a:off x="859536" y="3108960"/>
            <a:ext cx="2651760" cy="365760"/>
          </a:xfrm>
          <a:prstGeom prst="rect">
            <a:avLst/>
          </a:prstGeom>
          <a:noFill/>
          <a:ln/>
        </p:spPr>
        <p:txBody>
          <a:bodyPr wrap="square" lIns="0" tIns="0" rIns="0" bIns="0" rtlCol="0" anchor="ctr">
            <a:normAutofit/>
          </a:bodyPr>
          <a:lstStyle/>
          <a:p>
            <a:pPr marL="0" indent="0">
              <a:buNone/>
            </a:pPr>
            <a:r>
              <a:rPr lang="en-US" sz="1520" b="1" dirty="0">
                <a:solidFill>
                  <a:srgbClr val="141414"/>
                </a:solidFill>
                <a:latin typeface="Inter Tight" pitchFamily="34" charset="0"/>
                <a:ea typeface="Inter Tight" pitchFamily="34" charset="-122"/>
                <a:cs typeface="Inter Tight" pitchFamily="34" charset="-120"/>
              </a:rPr>
              <a:t>Sensibilidad / Recall</a:t>
            </a:r>
            <a:endParaRPr lang="en-US" sz="1520" dirty="0"/>
          </a:p>
        </p:txBody>
      </p:sp>
      <p:sp>
        <p:nvSpPr>
          <p:cNvPr id="12" name="Text 10"/>
          <p:cNvSpPr/>
          <p:nvPr/>
        </p:nvSpPr>
        <p:spPr>
          <a:xfrm>
            <a:off x="3355848" y="3118104"/>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9 / 12</a:t>
            </a:r>
            <a:endParaRPr lang="en-US" sz="1350" dirty="0"/>
          </a:p>
        </p:txBody>
      </p:sp>
      <p:sp>
        <p:nvSpPr>
          <p:cNvPr id="13" name="Text 11"/>
          <p:cNvSpPr/>
          <p:nvPr/>
        </p:nvSpPr>
        <p:spPr>
          <a:xfrm>
            <a:off x="4562856" y="3081528"/>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75,0 %</a:t>
            </a:r>
            <a:endParaRPr lang="en-US" sz="1700" dirty="0"/>
          </a:p>
        </p:txBody>
      </p:sp>
      <p:sp>
        <p:nvSpPr>
          <p:cNvPr id="14" name="Shape 12"/>
          <p:cNvSpPr/>
          <p:nvPr/>
        </p:nvSpPr>
        <p:spPr>
          <a:xfrm>
            <a:off x="722376" y="3639312"/>
            <a:ext cx="5120640" cy="566928"/>
          </a:xfrm>
          <a:prstGeom prst="rect">
            <a:avLst/>
          </a:prstGeom>
          <a:solidFill>
            <a:srgbClr val="F2F0F9"/>
          </a:solidFill>
          <a:ln w="4445">
            <a:solidFill>
              <a:srgbClr val="A4A4AA"/>
            </a:solidFill>
            <a:prstDash val="solid"/>
          </a:ln>
        </p:spPr>
      </p:sp>
      <p:sp>
        <p:nvSpPr>
          <p:cNvPr id="15" name="Text 13"/>
          <p:cNvSpPr/>
          <p:nvPr/>
        </p:nvSpPr>
        <p:spPr>
          <a:xfrm>
            <a:off x="859536" y="3739896"/>
            <a:ext cx="2651760" cy="365760"/>
          </a:xfrm>
          <a:prstGeom prst="rect">
            <a:avLst/>
          </a:prstGeom>
          <a:noFill/>
          <a:ln/>
        </p:spPr>
        <p:txBody>
          <a:bodyPr wrap="square" lIns="0" tIns="0" rIns="0" bIns="0" rtlCol="0" anchor="ctr">
            <a:normAutofit/>
          </a:bodyPr>
          <a:lstStyle/>
          <a:p>
            <a:pPr marL="0" indent="0">
              <a:buNone/>
            </a:pPr>
            <a:r>
              <a:rPr lang="en-US" sz="1520" dirty="0">
                <a:solidFill>
                  <a:srgbClr val="141414"/>
                </a:solidFill>
                <a:latin typeface="Inter Tight" pitchFamily="34" charset="0"/>
                <a:ea typeface="Inter Tight" pitchFamily="34" charset="-122"/>
                <a:cs typeface="Inter Tight" pitchFamily="34" charset="-120"/>
              </a:rPr>
              <a:t>Precisión</a:t>
            </a:r>
            <a:endParaRPr lang="en-US" sz="1520" dirty="0"/>
          </a:p>
        </p:txBody>
      </p:sp>
      <p:sp>
        <p:nvSpPr>
          <p:cNvPr id="16" name="Text 14"/>
          <p:cNvSpPr/>
          <p:nvPr/>
        </p:nvSpPr>
        <p:spPr>
          <a:xfrm>
            <a:off x="3355848" y="3749040"/>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9 / 15</a:t>
            </a:r>
            <a:endParaRPr lang="en-US" sz="1350" dirty="0"/>
          </a:p>
        </p:txBody>
      </p:sp>
      <p:sp>
        <p:nvSpPr>
          <p:cNvPr id="17" name="Text 15"/>
          <p:cNvSpPr/>
          <p:nvPr/>
        </p:nvSpPr>
        <p:spPr>
          <a:xfrm>
            <a:off x="4562856" y="3712464"/>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60,0 %</a:t>
            </a:r>
            <a:endParaRPr lang="en-US" sz="1700" dirty="0"/>
          </a:p>
        </p:txBody>
      </p:sp>
      <p:sp>
        <p:nvSpPr>
          <p:cNvPr id="18" name="Shape 16"/>
          <p:cNvSpPr/>
          <p:nvPr/>
        </p:nvSpPr>
        <p:spPr>
          <a:xfrm>
            <a:off x="722376" y="4270248"/>
            <a:ext cx="5120640" cy="566928"/>
          </a:xfrm>
          <a:prstGeom prst="rect">
            <a:avLst/>
          </a:prstGeom>
          <a:solidFill>
            <a:srgbClr val="FFFFFF"/>
          </a:solidFill>
          <a:ln w="4445">
            <a:solidFill>
              <a:srgbClr val="A4A4AA"/>
            </a:solidFill>
            <a:prstDash val="solid"/>
          </a:ln>
        </p:spPr>
      </p:sp>
      <p:sp>
        <p:nvSpPr>
          <p:cNvPr id="19" name="Text 17"/>
          <p:cNvSpPr/>
          <p:nvPr/>
        </p:nvSpPr>
        <p:spPr>
          <a:xfrm>
            <a:off x="859536" y="4370832"/>
            <a:ext cx="2651760" cy="365760"/>
          </a:xfrm>
          <a:prstGeom prst="rect">
            <a:avLst/>
          </a:prstGeom>
          <a:noFill/>
          <a:ln/>
        </p:spPr>
        <p:txBody>
          <a:bodyPr wrap="square" lIns="0" tIns="0" rIns="0" bIns="0" rtlCol="0" anchor="ctr">
            <a:normAutofit/>
          </a:bodyPr>
          <a:lstStyle/>
          <a:p>
            <a:pPr marL="0" indent="0">
              <a:buNone/>
            </a:pPr>
            <a:r>
              <a:rPr lang="en-US" sz="1520" dirty="0">
                <a:solidFill>
                  <a:srgbClr val="141414"/>
                </a:solidFill>
                <a:latin typeface="Inter Tight" pitchFamily="34" charset="0"/>
                <a:ea typeface="Inter Tight" pitchFamily="34" charset="-122"/>
                <a:cs typeface="Inter Tight" pitchFamily="34" charset="-120"/>
              </a:rPr>
              <a:t>Especificidad</a:t>
            </a:r>
            <a:endParaRPr lang="en-US" sz="1520" dirty="0"/>
          </a:p>
        </p:txBody>
      </p:sp>
      <p:sp>
        <p:nvSpPr>
          <p:cNvPr id="20" name="Text 18"/>
          <p:cNvSpPr/>
          <p:nvPr/>
        </p:nvSpPr>
        <p:spPr>
          <a:xfrm>
            <a:off x="3355848" y="4379976"/>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12 / 18</a:t>
            </a:r>
            <a:endParaRPr lang="en-US" sz="1350" dirty="0"/>
          </a:p>
        </p:txBody>
      </p:sp>
      <p:sp>
        <p:nvSpPr>
          <p:cNvPr id="21" name="Text 19"/>
          <p:cNvSpPr/>
          <p:nvPr/>
        </p:nvSpPr>
        <p:spPr>
          <a:xfrm>
            <a:off x="4562856" y="4343400"/>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66,7 %</a:t>
            </a:r>
            <a:endParaRPr lang="en-US" sz="1700" dirty="0"/>
          </a:p>
        </p:txBody>
      </p:sp>
      <p:sp>
        <p:nvSpPr>
          <p:cNvPr id="22" name="Shape 20"/>
          <p:cNvSpPr/>
          <p:nvPr/>
        </p:nvSpPr>
        <p:spPr>
          <a:xfrm>
            <a:off x="722376" y="4901184"/>
            <a:ext cx="5120640" cy="566928"/>
          </a:xfrm>
          <a:prstGeom prst="rect">
            <a:avLst/>
          </a:prstGeom>
          <a:solidFill>
            <a:srgbClr val="F2F0F9"/>
          </a:solidFill>
          <a:ln w="4445">
            <a:solidFill>
              <a:srgbClr val="A4A4AA"/>
            </a:solidFill>
            <a:prstDash val="solid"/>
          </a:ln>
        </p:spPr>
      </p:sp>
      <p:sp>
        <p:nvSpPr>
          <p:cNvPr id="23" name="Text 21"/>
          <p:cNvSpPr/>
          <p:nvPr/>
        </p:nvSpPr>
        <p:spPr>
          <a:xfrm>
            <a:off x="859536" y="5001768"/>
            <a:ext cx="2651760" cy="365760"/>
          </a:xfrm>
          <a:prstGeom prst="rect">
            <a:avLst/>
          </a:prstGeom>
          <a:noFill/>
          <a:ln/>
        </p:spPr>
        <p:txBody>
          <a:bodyPr wrap="square" lIns="0" tIns="0" rIns="0" bIns="0" rtlCol="0" anchor="ctr">
            <a:normAutofit/>
          </a:bodyPr>
          <a:lstStyle/>
          <a:p>
            <a:pPr marL="0" indent="0">
              <a:buNone/>
            </a:pPr>
            <a:r>
              <a:rPr lang="en-US" sz="1520" dirty="0">
                <a:solidFill>
                  <a:srgbClr val="141414"/>
                </a:solidFill>
                <a:latin typeface="Inter Tight" pitchFamily="34" charset="0"/>
                <a:ea typeface="Inter Tight" pitchFamily="34" charset="-122"/>
                <a:cs typeface="Inter Tight" pitchFamily="34" charset="-120"/>
              </a:rPr>
              <a:t>F1-Score</a:t>
            </a:r>
            <a:endParaRPr lang="en-US" sz="1520" dirty="0"/>
          </a:p>
        </p:txBody>
      </p:sp>
      <p:sp>
        <p:nvSpPr>
          <p:cNvPr id="24" name="Text 22"/>
          <p:cNvSpPr/>
          <p:nvPr/>
        </p:nvSpPr>
        <p:spPr>
          <a:xfrm>
            <a:off x="3355848" y="5010912"/>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18 / 27</a:t>
            </a:r>
            <a:endParaRPr lang="en-US" sz="1350" dirty="0"/>
          </a:p>
        </p:txBody>
      </p:sp>
      <p:sp>
        <p:nvSpPr>
          <p:cNvPr id="25" name="Text 23"/>
          <p:cNvSpPr/>
          <p:nvPr/>
        </p:nvSpPr>
        <p:spPr>
          <a:xfrm>
            <a:off x="4562856" y="4974336"/>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66,7 %</a:t>
            </a:r>
            <a:endParaRPr lang="en-US" sz="1700" dirty="0"/>
          </a:p>
        </p:txBody>
      </p:sp>
      <p:sp>
        <p:nvSpPr>
          <p:cNvPr id="26" name="Shape 24"/>
          <p:cNvSpPr/>
          <p:nvPr/>
        </p:nvSpPr>
        <p:spPr>
          <a:xfrm>
            <a:off x="6172200" y="2002536"/>
            <a:ext cx="5468112" cy="3675888"/>
          </a:xfrm>
          <a:prstGeom prst="rect">
            <a:avLst/>
          </a:prstGeom>
          <a:solidFill>
            <a:srgbClr val="E9E9EC"/>
          </a:solidFill>
          <a:ln w="9525">
            <a:solidFill>
              <a:srgbClr val="1C1C1D"/>
            </a:solidFill>
            <a:prstDash val="solid"/>
          </a:ln>
        </p:spPr>
      </p:sp>
      <p:sp>
        <p:nvSpPr>
          <p:cNvPr id="27" name="Shape 25"/>
          <p:cNvSpPr/>
          <p:nvPr/>
        </p:nvSpPr>
        <p:spPr>
          <a:xfrm>
            <a:off x="6172200" y="2002536"/>
            <a:ext cx="5468112" cy="438912"/>
          </a:xfrm>
          <a:prstGeom prst="rect">
            <a:avLst/>
          </a:prstGeom>
          <a:solidFill>
            <a:srgbClr val="1C1C1D"/>
          </a:solidFill>
          <a:ln w="12700">
            <a:solidFill>
              <a:srgbClr val="1C1C1D"/>
            </a:solidFill>
            <a:prstDash val="solid"/>
          </a:ln>
        </p:spPr>
      </p:sp>
      <p:sp>
        <p:nvSpPr>
          <p:cNvPr id="28" name="Text 26"/>
          <p:cNvSpPr/>
          <p:nvPr/>
        </p:nvSpPr>
        <p:spPr>
          <a:xfrm>
            <a:off x="6327648" y="2057400"/>
            <a:ext cx="5193792" cy="329184"/>
          </a:xfrm>
          <a:prstGeom prst="rect">
            <a:avLst/>
          </a:prstGeom>
          <a:noFill/>
          <a:ln/>
        </p:spPr>
        <p:txBody>
          <a:bodyPr wrap="square" lIns="0" tIns="0" rIns="0" bIns="0" rtlCol="0" anchor="ctr">
            <a:normAutofit/>
          </a:bodyPr>
          <a:lstStyle/>
          <a:p>
            <a:pPr marL="0" indent="0">
              <a:buNone/>
            </a:pPr>
            <a:r>
              <a:rPr lang="en-US" sz="1260" dirty="0">
                <a:solidFill>
                  <a:srgbClr val="FFFFFF"/>
                </a:solidFill>
                <a:latin typeface="Fragment Mono" pitchFamily="34" charset="0"/>
                <a:ea typeface="Fragment Mono" pitchFamily="34" charset="-122"/>
                <a:cs typeface="Fragment Mono" pitchFamily="34" charset="-120"/>
              </a:rPr>
              <a:t>HIPÓTESIS B  ·  POSITIVO = SANA</a:t>
            </a:r>
            <a:endParaRPr lang="en-US" sz="1260" dirty="0"/>
          </a:p>
        </p:txBody>
      </p:sp>
      <p:sp>
        <p:nvSpPr>
          <p:cNvPr id="29" name="Text 27"/>
          <p:cNvSpPr/>
          <p:nvPr/>
        </p:nvSpPr>
        <p:spPr>
          <a:xfrm>
            <a:off x="6345936" y="2587752"/>
            <a:ext cx="5129784" cy="292608"/>
          </a:xfrm>
          <a:prstGeom prst="rect">
            <a:avLst/>
          </a:prstGeom>
          <a:noFill/>
          <a:ln/>
        </p:spPr>
        <p:txBody>
          <a:bodyPr wrap="square" lIns="0" tIns="0" rIns="0" bIns="0" rtlCol="0" anchor="ctr">
            <a:normAutofit fontScale="92500"/>
          </a:bodyPr>
          <a:lstStyle/>
          <a:p>
            <a:pPr marL="0" indent="0">
              <a:buNone/>
            </a:pPr>
            <a:r>
              <a:rPr lang="en-US" sz="1630" dirty="0">
                <a:solidFill>
                  <a:srgbClr val="3C267F"/>
                </a:solidFill>
                <a:latin typeface="Fragment Mono" pitchFamily="34" charset="0"/>
                <a:ea typeface="Fragment Mono" pitchFamily="34" charset="-122"/>
                <a:cs typeface="Fragment Mono" pitchFamily="34" charset="-120"/>
              </a:rPr>
              <a:t>VP = 12     FP = 3     FN = 6     VN = 9</a:t>
            </a:r>
            <a:endParaRPr lang="en-US" sz="1630" dirty="0"/>
          </a:p>
        </p:txBody>
      </p:sp>
      <p:sp>
        <p:nvSpPr>
          <p:cNvPr id="30" name="Shape 28"/>
          <p:cNvSpPr/>
          <p:nvPr/>
        </p:nvSpPr>
        <p:spPr>
          <a:xfrm>
            <a:off x="6345936" y="3008376"/>
            <a:ext cx="5120640" cy="566928"/>
          </a:xfrm>
          <a:prstGeom prst="rect">
            <a:avLst/>
          </a:prstGeom>
          <a:solidFill>
            <a:srgbClr val="FFFFFF"/>
          </a:solidFill>
          <a:ln w="4445">
            <a:solidFill>
              <a:srgbClr val="A4A4AA"/>
            </a:solidFill>
            <a:prstDash val="solid"/>
          </a:ln>
        </p:spPr>
      </p:sp>
      <p:sp>
        <p:nvSpPr>
          <p:cNvPr id="31" name="Text 29"/>
          <p:cNvSpPr/>
          <p:nvPr/>
        </p:nvSpPr>
        <p:spPr>
          <a:xfrm>
            <a:off x="6483096" y="3108960"/>
            <a:ext cx="2651760" cy="365760"/>
          </a:xfrm>
          <a:prstGeom prst="rect">
            <a:avLst/>
          </a:prstGeom>
          <a:noFill/>
          <a:ln/>
        </p:spPr>
        <p:txBody>
          <a:bodyPr wrap="square" lIns="0" tIns="0" rIns="0" bIns="0" rtlCol="0" anchor="ctr">
            <a:normAutofit/>
          </a:bodyPr>
          <a:lstStyle/>
          <a:p>
            <a:pPr marL="0" indent="0">
              <a:buNone/>
            </a:pPr>
            <a:r>
              <a:rPr lang="en-US" sz="1520" b="1" dirty="0">
                <a:solidFill>
                  <a:srgbClr val="141414"/>
                </a:solidFill>
                <a:latin typeface="Inter Tight" pitchFamily="34" charset="0"/>
                <a:ea typeface="Inter Tight" pitchFamily="34" charset="-122"/>
                <a:cs typeface="Inter Tight" pitchFamily="34" charset="-120"/>
              </a:rPr>
              <a:t>Sensibilidad / Recall</a:t>
            </a:r>
            <a:endParaRPr lang="en-US" sz="1520" dirty="0"/>
          </a:p>
        </p:txBody>
      </p:sp>
      <p:sp>
        <p:nvSpPr>
          <p:cNvPr id="32" name="Text 30"/>
          <p:cNvSpPr/>
          <p:nvPr/>
        </p:nvSpPr>
        <p:spPr>
          <a:xfrm>
            <a:off x="8979408" y="3118104"/>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12 / 18</a:t>
            </a:r>
            <a:endParaRPr lang="en-US" sz="1350" dirty="0"/>
          </a:p>
        </p:txBody>
      </p:sp>
      <p:sp>
        <p:nvSpPr>
          <p:cNvPr id="33" name="Text 31"/>
          <p:cNvSpPr/>
          <p:nvPr/>
        </p:nvSpPr>
        <p:spPr>
          <a:xfrm>
            <a:off x="10186416" y="3081528"/>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66,7 %</a:t>
            </a:r>
            <a:endParaRPr lang="en-US" sz="1700" dirty="0"/>
          </a:p>
        </p:txBody>
      </p:sp>
      <p:sp>
        <p:nvSpPr>
          <p:cNvPr id="34" name="Shape 32"/>
          <p:cNvSpPr/>
          <p:nvPr/>
        </p:nvSpPr>
        <p:spPr>
          <a:xfrm>
            <a:off x="6345936" y="3639312"/>
            <a:ext cx="5120640" cy="566928"/>
          </a:xfrm>
          <a:prstGeom prst="rect">
            <a:avLst/>
          </a:prstGeom>
          <a:solidFill>
            <a:srgbClr val="F2F0F9"/>
          </a:solidFill>
          <a:ln w="4445">
            <a:solidFill>
              <a:srgbClr val="A4A4AA"/>
            </a:solidFill>
            <a:prstDash val="solid"/>
          </a:ln>
        </p:spPr>
      </p:sp>
      <p:sp>
        <p:nvSpPr>
          <p:cNvPr id="35" name="Text 33"/>
          <p:cNvSpPr/>
          <p:nvPr/>
        </p:nvSpPr>
        <p:spPr>
          <a:xfrm>
            <a:off x="6483096" y="3739896"/>
            <a:ext cx="2651760" cy="365760"/>
          </a:xfrm>
          <a:prstGeom prst="rect">
            <a:avLst/>
          </a:prstGeom>
          <a:noFill/>
          <a:ln/>
        </p:spPr>
        <p:txBody>
          <a:bodyPr wrap="square" lIns="0" tIns="0" rIns="0" bIns="0" rtlCol="0" anchor="ctr">
            <a:normAutofit/>
          </a:bodyPr>
          <a:lstStyle/>
          <a:p>
            <a:pPr marL="0" indent="0">
              <a:buNone/>
            </a:pPr>
            <a:r>
              <a:rPr lang="en-US" sz="1520" dirty="0">
                <a:solidFill>
                  <a:srgbClr val="141414"/>
                </a:solidFill>
                <a:latin typeface="Inter Tight" pitchFamily="34" charset="0"/>
                <a:ea typeface="Inter Tight" pitchFamily="34" charset="-122"/>
                <a:cs typeface="Inter Tight" pitchFamily="34" charset="-120"/>
              </a:rPr>
              <a:t>Precisión</a:t>
            </a:r>
            <a:endParaRPr lang="en-US" sz="1520" dirty="0"/>
          </a:p>
        </p:txBody>
      </p:sp>
      <p:sp>
        <p:nvSpPr>
          <p:cNvPr id="36" name="Text 34"/>
          <p:cNvSpPr/>
          <p:nvPr/>
        </p:nvSpPr>
        <p:spPr>
          <a:xfrm>
            <a:off x="8979408" y="3749040"/>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12 / 15</a:t>
            </a:r>
            <a:endParaRPr lang="en-US" sz="1350" dirty="0"/>
          </a:p>
        </p:txBody>
      </p:sp>
      <p:sp>
        <p:nvSpPr>
          <p:cNvPr id="37" name="Text 35"/>
          <p:cNvSpPr/>
          <p:nvPr/>
        </p:nvSpPr>
        <p:spPr>
          <a:xfrm>
            <a:off x="10186416" y="3712464"/>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80,0 %</a:t>
            </a:r>
            <a:endParaRPr lang="en-US" sz="1700" dirty="0"/>
          </a:p>
        </p:txBody>
      </p:sp>
      <p:sp>
        <p:nvSpPr>
          <p:cNvPr id="38" name="Shape 36"/>
          <p:cNvSpPr/>
          <p:nvPr/>
        </p:nvSpPr>
        <p:spPr>
          <a:xfrm>
            <a:off x="6345936" y="4270248"/>
            <a:ext cx="5120640" cy="566928"/>
          </a:xfrm>
          <a:prstGeom prst="rect">
            <a:avLst/>
          </a:prstGeom>
          <a:solidFill>
            <a:srgbClr val="FFFFFF"/>
          </a:solidFill>
          <a:ln w="4445">
            <a:solidFill>
              <a:srgbClr val="A4A4AA"/>
            </a:solidFill>
            <a:prstDash val="solid"/>
          </a:ln>
        </p:spPr>
      </p:sp>
      <p:sp>
        <p:nvSpPr>
          <p:cNvPr id="39" name="Text 37"/>
          <p:cNvSpPr/>
          <p:nvPr/>
        </p:nvSpPr>
        <p:spPr>
          <a:xfrm>
            <a:off x="6483096" y="4370832"/>
            <a:ext cx="2651760" cy="365760"/>
          </a:xfrm>
          <a:prstGeom prst="rect">
            <a:avLst/>
          </a:prstGeom>
          <a:noFill/>
          <a:ln/>
        </p:spPr>
        <p:txBody>
          <a:bodyPr wrap="square" lIns="0" tIns="0" rIns="0" bIns="0" rtlCol="0" anchor="ctr">
            <a:normAutofit/>
          </a:bodyPr>
          <a:lstStyle/>
          <a:p>
            <a:pPr marL="0" indent="0">
              <a:buNone/>
            </a:pPr>
            <a:r>
              <a:rPr lang="en-US" sz="1520" dirty="0">
                <a:solidFill>
                  <a:srgbClr val="141414"/>
                </a:solidFill>
                <a:latin typeface="Inter Tight" pitchFamily="34" charset="0"/>
                <a:ea typeface="Inter Tight" pitchFamily="34" charset="-122"/>
                <a:cs typeface="Inter Tight" pitchFamily="34" charset="-120"/>
              </a:rPr>
              <a:t>Especificidad</a:t>
            </a:r>
            <a:endParaRPr lang="en-US" sz="1520" dirty="0"/>
          </a:p>
        </p:txBody>
      </p:sp>
      <p:sp>
        <p:nvSpPr>
          <p:cNvPr id="40" name="Text 38"/>
          <p:cNvSpPr/>
          <p:nvPr/>
        </p:nvSpPr>
        <p:spPr>
          <a:xfrm>
            <a:off x="8979408" y="4379976"/>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9 / 12</a:t>
            </a:r>
            <a:endParaRPr lang="en-US" sz="1350" dirty="0"/>
          </a:p>
        </p:txBody>
      </p:sp>
      <p:sp>
        <p:nvSpPr>
          <p:cNvPr id="41" name="Text 39"/>
          <p:cNvSpPr/>
          <p:nvPr/>
        </p:nvSpPr>
        <p:spPr>
          <a:xfrm>
            <a:off x="10186416" y="4343400"/>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75,0 %</a:t>
            </a:r>
            <a:endParaRPr lang="en-US" sz="1700" dirty="0"/>
          </a:p>
        </p:txBody>
      </p:sp>
      <p:sp>
        <p:nvSpPr>
          <p:cNvPr id="42" name="Shape 40"/>
          <p:cNvSpPr/>
          <p:nvPr/>
        </p:nvSpPr>
        <p:spPr>
          <a:xfrm>
            <a:off x="6345936" y="4901184"/>
            <a:ext cx="5120640" cy="566928"/>
          </a:xfrm>
          <a:prstGeom prst="rect">
            <a:avLst/>
          </a:prstGeom>
          <a:solidFill>
            <a:srgbClr val="F2F0F9"/>
          </a:solidFill>
          <a:ln w="4445">
            <a:solidFill>
              <a:srgbClr val="A4A4AA"/>
            </a:solidFill>
            <a:prstDash val="solid"/>
          </a:ln>
        </p:spPr>
      </p:sp>
      <p:sp>
        <p:nvSpPr>
          <p:cNvPr id="43" name="Text 41"/>
          <p:cNvSpPr/>
          <p:nvPr/>
        </p:nvSpPr>
        <p:spPr>
          <a:xfrm>
            <a:off x="6483096" y="5001768"/>
            <a:ext cx="2651760" cy="365760"/>
          </a:xfrm>
          <a:prstGeom prst="rect">
            <a:avLst/>
          </a:prstGeom>
          <a:noFill/>
          <a:ln/>
        </p:spPr>
        <p:txBody>
          <a:bodyPr wrap="square" lIns="0" tIns="0" rIns="0" bIns="0" rtlCol="0" anchor="ctr">
            <a:normAutofit/>
          </a:bodyPr>
          <a:lstStyle/>
          <a:p>
            <a:pPr marL="0" indent="0">
              <a:buNone/>
            </a:pPr>
            <a:r>
              <a:rPr lang="en-US" sz="1520" dirty="0">
                <a:solidFill>
                  <a:srgbClr val="141414"/>
                </a:solidFill>
                <a:latin typeface="Inter Tight" pitchFamily="34" charset="0"/>
                <a:ea typeface="Inter Tight" pitchFamily="34" charset="-122"/>
                <a:cs typeface="Inter Tight" pitchFamily="34" charset="-120"/>
              </a:rPr>
              <a:t>F1-Score</a:t>
            </a:r>
            <a:endParaRPr lang="en-US" sz="1520" dirty="0"/>
          </a:p>
        </p:txBody>
      </p:sp>
      <p:sp>
        <p:nvSpPr>
          <p:cNvPr id="44" name="Text 42"/>
          <p:cNvSpPr/>
          <p:nvPr/>
        </p:nvSpPr>
        <p:spPr>
          <a:xfrm>
            <a:off x="8979408" y="5010912"/>
            <a:ext cx="1143000" cy="320040"/>
          </a:xfrm>
          <a:prstGeom prst="rect">
            <a:avLst/>
          </a:prstGeom>
          <a:noFill/>
          <a:ln/>
        </p:spPr>
        <p:txBody>
          <a:bodyPr wrap="square" lIns="0" tIns="0" rIns="0" bIns="0" rtlCol="0" anchor="ctr">
            <a:normAutofit/>
          </a:bodyPr>
          <a:lstStyle/>
          <a:p>
            <a:pPr marL="0" indent="0" algn="ctr">
              <a:buNone/>
            </a:pPr>
            <a:r>
              <a:rPr lang="en-US" sz="1350" dirty="0">
                <a:solidFill>
                  <a:srgbClr val="141414"/>
                </a:solidFill>
                <a:latin typeface="Fragment Mono" pitchFamily="34" charset="0"/>
                <a:ea typeface="Fragment Mono" pitchFamily="34" charset="-122"/>
                <a:cs typeface="Fragment Mono" pitchFamily="34" charset="-120"/>
              </a:rPr>
              <a:t>24 / 33</a:t>
            </a:r>
            <a:endParaRPr lang="en-US" sz="1350" dirty="0"/>
          </a:p>
        </p:txBody>
      </p:sp>
      <p:sp>
        <p:nvSpPr>
          <p:cNvPr id="45" name="Text 43"/>
          <p:cNvSpPr/>
          <p:nvPr/>
        </p:nvSpPr>
        <p:spPr>
          <a:xfrm>
            <a:off x="10186416" y="4974336"/>
            <a:ext cx="1143000" cy="384048"/>
          </a:xfrm>
          <a:prstGeom prst="rect">
            <a:avLst/>
          </a:prstGeom>
          <a:noFill/>
          <a:ln/>
        </p:spPr>
        <p:txBody>
          <a:bodyPr wrap="square" lIns="0" tIns="0" rIns="0" bIns="0" rtlCol="0" anchor="ctr">
            <a:normAutofit/>
          </a:bodyPr>
          <a:lstStyle/>
          <a:p>
            <a:pPr marL="0" indent="0" algn="r">
              <a:buNone/>
            </a:pPr>
            <a:r>
              <a:rPr lang="en-US" sz="1700" dirty="0">
                <a:solidFill>
                  <a:srgbClr val="3C267F"/>
                </a:solidFill>
                <a:latin typeface="Inter Tight SemiBold" pitchFamily="34" charset="0"/>
                <a:ea typeface="Inter Tight SemiBold" pitchFamily="34" charset="-122"/>
                <a:cs typeface="Inter Tight SemiBold" pitchFamily="34" charset="-120"/>
              </a:rPr>
              <a:t>72,7 %</a:t>
            </a:r>
            <a:endParaRPr lang="en-US" sz="1700" dirty="0"/>
          </a:p>
        </p:txBody>
      </p:sp>
      <p:sp>
        <p:nvSpPr>
          <p:cNvPr id="46" name="Shape 44"/>
          <p:cNvSpPr/>
          <p:nvPr/>
        </p:nvSpPr>
        <p:spPr>
          <a:xfrm>
            <a:off x="548640" y="5907024"/>
            <a:ext cx="11091672" cy="438912"/>
          </a:xfrm>
          <a:prstGeom prst="rect">
            <a:avLst/>
          </a:prstGeom>
          <a:solidFill>
            <a:srgbClr val="E9E9EC"/>
          </a:solidFill>
          <a:ln w="8890">
            <a:solidFill>
              <a:srgbClr val="1C1C1D"/>
            </a:solidFill>
            <a:prstDash val="solid"/>
          </a:ln>
        </p:spPr>
      </p:sp>
      <p:sp>
        <p:nvSpPr>
          <p:cNvPr id="47" name="Text 45"/>
          <p:cNvSpPr/>
          <p:nvPr/>
        </p:nvSpPr>
        <p:spPr>
          <a:xfrm>
            <a:off x="704088" y="6025896"/>
            <a:ext cx="10808208" cy="201168"/>
          </a:xfrm>
          <a:prstGeom prst="rect">
            <a:avLst/>
          </a:prstGeom>
          <a:noFill/>
          <a:ln/>
        </p:spPr>
        <p:txBody>
          <a:bodyPr wrap="square" lIns="0" tIns="0" rIns="0" bIns="0" rtlCol="0" anchor="ctr">
            <a:normAutofit/>
          </a:bodyPr>
          <a:lstStyle/>
          <a:p>
            <a:pPr marL="0" indent="0">
              <a:buNone/>
            </a:pPr>
            <a:r>
              <a:rPr lang="en-US" sz="1260" dirty="0">
                <a:solidFill>
                  <a:srgbClr val="141414"/>
                </a:solidFill>
                <a:latin typeface="Fragment Mono" pitchFamily="34" charset="0"/>
                <a:ea typeface="Fragment Mono" pitchFamily="34" charset="-122"/>
                <a:cs typeface="Fragment Mono" pitchFamily="34" charset="-120"/>
              </a:rPr>
              <a:t>LA EXACTITUD GLOBAL NO CAMBIA: (9 + 12) / 30 = 70 %. CAMBIA LA PREGUNTA.</a:t>
            </a:r>
            <a:endParaRPr lang="en-US" sz="12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265176"/>
            <a:ext cx="3246120" cy="347472"/>
          </a:xfrm>
          <a:prstGeom prst="rect">
            <a:avLst/>
          </a:prstGeom>
          <a:solidFill>
            <a:srgbClr val="1C1C1D"/>
          </a:solidFill>
          <a:ln w="12700">
            <a:solidFill>
              <a:srgbClr val="1C1C1D"/>
            </a:solidFill>
            <a:prstDash val="solid"/>
          </a:ln>
        </p:spPr>
      </p:sp>
      <p:sp>
        <p:nvSpPr>
          <p:cNvPr id="3" name="Text 1"/>
          <p:cNvSpPr/>
          <p:nvPr/>
        </p:nvSpPr>
        <p:spPr>
          <a:xfrm>
            <a:off x="676656" y="315468"/>
            <a:ext cx="3035808" cy="246888"/>
          </a:xfrm>
          <a:prstGeom prst="rect">
            <a:avLst/>
          </a:prstGeom>
          <a:noFill/>
          <a:ln/>
        </p:spPr>
        <p:txBody>
          <a:bodyPr wrap="square" lIns="0" tIns="0" rIns="0" bIns="0" rtlCol="0" anchor="ctr">
            <a:normAutofit/>
          </a:bodyPr>
          <a:lstStyle/>
          <a:p>
            <a:pPr marL="0" indent="0">
              <a:buNone/>
            </a:pPr>
            <a:r>
              <a:rPr lang="en-US" sz="1370" dirty="0">
                <a:solidFill>
                  <a:srgbClr val="FFFFFF"/>
                </a:solidFill>
                <a:latin typeface="Fragment Mono" pitchFamily="34" charset="0"/>
                <a:ea typeface="Fragment Mono" pitchFamily="34" charset="-122"/>
                <a:cs typeface="Fragment Mono" pitchFamily="34" charset="-120"/>
              </a:rPr>
              <a:t>ROC · CASO PRÁCTICO</a:t>
            </a:r>
            <a:endParaRPr lang="en-US" sz="1370" dirty="0"/>
          </a:p>
        </p:txBody>
      </p:sp>
      <p:sp>
        <p:nvSpPr>
          <p:cNvPr id="4" name="Text 2"/>
          <p:cNvSpPr/>
          <p:nvPr/>
        </p:nvSpPr>
        <p:spPr>
          <a:xfrm>
            <a:off x="548640" y="749808"/>
            <a:ext cx="11064240" cy="502920"/>
          </a:xfrm>
          <a:prstGeom prst="rect">
            <a:avLst/>
          </a:prstGeom>
          <a:noFill/>
          <a:ln/>
        </p:spPr>
        <p:txBody>
          <a:bodyPr wrap="square" lIns="0" tIns="0" rIns="0" bIns="0" rtlCol="0" anchor="ctr">
            <a:normAutofit/>
          </a:bodyPr>
          <a:lstStyle/>
          <a:p>
            <a:pPr marL="0" indent="0">
              <a:buNone/>
            </a:pPr>
            <a:r>
              <a:rPr lang="en-US" sz="3250" dirty="0">
                <a:solidFill>
                  <a:srgbClr val="141414"/>
                </a:solidFill>
                <a:latin typeface="Inter Tight SemiBold" pitchFamily="34" charset="0"/>
                <a:ea typeface="Inter Tight SemiBold" pitchFamily="34" charset="-122"/>
                <a:cs typeface="Inter Tight SemiBold" pitchFamily="34" charset="-120"/>
              </a:rPr>
              <a:t>ROC del ejercicio: dos clases positivas</a:t>
            </a:r>
            <a:endParaRPr lang="en-US" sz="3250" dirty="0"/>
          </a:p>
        </p:txBody>
      </p:sp>
      <p:sp>
        <p:nvSpPr>
          <p:cNvPr id="5" name="Text 3"/>
          <p:cNvSpPr/>
          <p:nvPr/>
        </p:nvSpPr>
        <p:spPr>
          <a:xfrm>
            <a:off x="548640" y="1335024"/>
            <a:ext cx="11018520" cy="512064"/>
          </a:xfrm>
          <a:prstGeom prst="rect">
            <a:avLst/>
          </a:prstGeom>
          <a:noFill/>
          <a:ln/>
        </p:spPr>
        <p:txBody>
          <a:bodyPr wrap="square" lIns="0" tIns="0" rIns="0" bIns="0" rtlCol="0" anchor="t">
            <a:normAutofit/>
          </a:bodyPr>
          <a:lstStyle/>
          <a:p>
            <a:pPr marL="0" indent="0">
              <a:buNone/>
            </a:pPr>
            <a:r>
              <a:rPr lang="en-US" sz="1630" dirty="0">
                <a:solidFill>
                  <a:srgbClr val="141414"/>
                </a:solidFill>
                <a:latin typeface="Inter Tight" pitchFamily="34" charset="0"/>
                <a:ea typeface="Inter Tight" pitchFamily="34" charset="-122"/>
                <a:cs typeface="Inter Tight" pitchFamily="34" charset="-120"/>
              </a:rPr>
              <a:t>Cada hipótesis aporta un solo punto (FPR, TPR). Sin probabilidades ni umbrales adicionales, la curva completa no se conoce.</a:t>
            </a:r>
            <a:endParaRPr lang="en-US" sz="1630" dirty="0"/>
          </a:p>
        </p:txBody>
      </p:sp>
      <p:sp>
        <p:nvSpPr>
          <p:cNvPr id="6" name="Shape 4"/>
          <p:cNvSpPr/>
          <p:nvPr/>
        </p:nvSpPr>
        <p:spPr>
          <a:xfrm>
            <a:off x="548640" y="1975104"/>
            <a:ext cx="5431536" cy="4032504"/>
          </a:xfrm>
          <a:prstGeom prst="rect">
            <a:avLst/>
          </a:prstGeom>
          <a:solidFill>
            <a:srgbClr val="E9E9EC"/>
          </a:solidFill>
          <a:ln w="8890">
            <a:solidFill>
              <a:srgbClr val="1C1C1D"/>
            </a:solidFill>
            <a:prstDash val="solid"/>
          </a:ln>
        </p:spPr>
      </p:sp>
      <p:sp>
        <p:nvSpPr>
          <p:cNvPr id="7" name="Shape 5"/>
          <p:cNvSpPr/>
          <p:nvPr/>
        </p:nvSpPr>
        <p:spPr>
          <a:xfrm>
            <a:off x="548640" y="1975104"/>
            <a:ext cx="5431536" cy="420624"/>
          </a:xfrm>
          <a:prstGeom prst="rect">
            <a:avLst/>
          </a:prstGeom>
          <a:solidFill>
            <a:srgbClr val="1C1C1D"/>
          </a:solidFill>
          <a:ln w="12700">
            <a:solidFill>
              <a:srgbClr val="1C1C1D"/>
            </a:solidFill>
            <a:prstDash val="solid"/>
          </a:ln>
        </p:spPr>
      </p:sp>
      <p:sp>
        <p:nvSpPr>
          <p:cNvPr id="8" name="Text 6"/>
          <p:cNvSpPr/>
          <p:nvPr/>
        </p:nvSpPr>
        <p:spPr>
          <a:xfrm>
            <a:off x="704088" y="2029968"/>
            <a:ext cx="5157216" cy="310896"/>
          </a:xfrm>
          <a:prstGeom prst="rect">
            <a:avLst/>
          </a:prstGeom>
          <a:noFill/>
          <a:ln/>
        </p:spPr>
        <p:txBody>
          <a:bodyPr wrap="square" lIns="0" tIns="0" rIns="0" bIns="0" rtlCol="0" anchor="ctr">
            <a:normAutofit/>
          </a:bodyPr>
          <a:lstStyle/>
          <a:p>
            <a:pPr marL="0" indent="0">
              <a:buNone/>
            </a:pPr>
            <a:r>
              <a:rPr lang="en-US" sz="1260" dirty="0">
                <a:solidFill>
                  <a:srgbClr val="FFFFFF"/>
                </a:solidFill>
                <a:latin typeface="Fragment Mono" pitchFamily="34" charset="0"/>
                <a:ea typeface="Fragment Mono" pitchFamily="34" charset="-122"/>
                <a:cs typeface="Fragment Mono" pitchFamily="34" charset="-120"/>
              </a:rPr>
              <a:t>DAÑADA POSITIVA  ·  TPR = 9 / 12</a:t>
            </a:r>
            <a:endParaRPr lang="en-US" sz="1260" dirty="0"/>
          </a:p>
        </p:txBody>
      </p:sp>
      <p:sp>
        <p:nvSpPr>
          <p:cNvPr id="9" name="Shape 7"/>
          <p:cNvSpPr/>
          <p:nvPr/>
        </p:nvSpPr>
        <p:spPr>
          <a:xfrm>
            <a:off x="1261872" y="2724912"/>
            <a:ext cx="4133088" cy="2313432"/>
          </a:xfrm>
          <a:prstGeom prst="rect">
            <a:avLst/>
          </a:prstGeom>
          <a:solidFill>
            <a:srgbClr val="FFFFFF"/>
          </a:solidFill>
          <a:ln w="12700">
            <a:solidFill>
              <a:srgbClr val="1C1C1D"/>
            </a:solidFill>
            <a:prstDash val="solid"/>
          </a:ln>
        </p:spPr>
      </p:sp>
      <p:sp>
        <p:nvSpPr>
          <p:cNvPr id="10" name="Shape 8"/>
          <p:cNvSpPr/>
          <p:nvPr/>
        </p:nvSpPr>
        <p:spPr>
          <a:xfrm>
            <a:off x="2295144" y="2724912"/>
            <a:ext cx="0" cy="2313432"/>
          </a:xfrm>
          <a:prstGeom prst="line">
            <a:avLst/>
          </a:prstGeom>
          <a:noFill/>
          <a:ln w="6985">
            <a:solidFill>
              <a:srgbClr val="DDDDDF"/>
            </a:solidFill>
            <a:prstDash val="solid"/>
          </a:ln>
        </p:spPr>
      </p:sp>
      <p:sp>
        <p:nvSpPr>
          <p:cNvPr id="11" name="Shape 9"/>
          <p:cNvSpPr/>
          <p:nvPr/>
        </p:nvSpPr>
        <p:spPr>
          <a:xfrm>
            <a:off x="1261872" y="3303270"/>
            <a:ext cx="4133088" cy="0"/>
          </a:xfrm>
          <a:prstGeom prst="line">
            <a:avLst/>
          </a:prstGeom>
          <a:noFill/>
          <a:ln w="6985">
            <a:solidFill>
              <a:srgbClr val="DDDDDF"/>
            </a:solidFill>
            <a:prstDash val="solid"/>
          </a:ln>
        </p:spPr>
      </p:sp>
      <p:sp>
        <p:nvSpPr>
          <p:cNvPr id="12" name="Shape 10"/>
          <p:cNvSpPr/>
          <p:nvPr/>
        </p:nvSpPr>
        <p:spPr>
          <a:xfrm>
            <a:off x="3328416" y="2724912"/>
            <a:ext cx="0" cy="2313432"/>
          </a:xfrm>
          <a:prstGeom prst="line">
            <a:avLst/>
          </a:prstGeom>
          <a:noFill/>
          <a:ln w="6985">
            <a:solidFill>
              <a:srgbClr val="DDDDDF"/>
            </a:solidFill>
            <a:prstDash val="solid"/>
          </a:ln>
        </p:spPr>
      </p:sp>
      <p:sp>
        <p:nvSpPr>
          <p:cNvPr id="13" name="Shape 11"/>
          <p:cNvSpPr/>
          <p:nvPr/>
        </p:nvSpPr>
        <p:spPr>
          <a:xfrm>
            <a:off x="1261872" y="3881628"/>
            <a:ext cx="4133088" cy="0"/>
          </a:xfrm>
          <a:prstGeom prst="line">
            <a:avLst/>
          </a:prstGeom>
          <a:noFill/>
          <a:ln w="6985">
            <a:solidFill>
              <a:srgbClr val="DDDDDF"/>
            </a:solidFill>
            <a:prstDash val="solid"/>
          </a:ln>
        </p:spPr>
      </p:sp>
      <p:sp>
        <p:nvSpPr>
          <p:cNvPr id="14" name="Shape 12"/>
          <p:cNvSpPr/>
          <p:nvPr/>
        </p:nvSpPr>
        <p:spPr>
          <a:xfrm>
            <a:off x="4361688" y="2724912"/>
            <a:ext cx="0" cy="2313432"/>
          </a:xfrm>
          <a:prstGeom prst="line">
            <a:avLst/>
          </a:prstGeom>
          <a:noFill/>
          <a:ln w="6985">
            <a:solidFill>
              <a:srgbClr val="DDDDDF"/>
            </a:solidFill>
            <a:prstDash val="solid"/>
          </a:ln>
        </p:spPr>
      </p:sp>
      <p:sp>
        <p:nvSpPr>
          <p:cNvPr id="15" name="Shape 13"/>
          <p:cNvSpPr/>
          <p:nvPr/>
        </p:nvSpPr>
        <p:spPr>
          <a:xfrm>
            <a:off x="1261872" y="4459986"/>
            <a:ext cx="4133088" cy="0"/>
          </a:xfrm>
          <a:prstGeom prst="line">
            <a:avLst/>
          </a:prstGeom>
          <a:noFill/>
          <a:ln w="6985">
            <a:solidFill>
              <a:srgbClr val="DDDDDF"/>
            </a:solidFill>
            <a:prstDash val="solid"/>
          </a:ln>
        </p:spPr>
      </p:sp>
      <p:sp>
        <p:nvSpPr>
          <p:cNvPr id="16" name="Shape 14"/>
          <p:cNvSpPr/>
          <p:nvPr/>
        </p:nvSpPr>
        <p:spPr>
          <a:xfrm>
            <a:off x="1261872" y="5038344"/>
            <a:ext cx="4133088" cy="0"/>
          </a:xfrm>
          <a:prstGeom prst="line">
            <a:avLst/>
          </a:prstGeom>
          <a:noFill/>
          <a:ln w="17145">
            <a:solidFill>
              <a:srgbClr val="96949E"/>
            </a:solidFill>
            <a:prstDash val="dash"/>
          </a:ln>
        </p:spPr>
      </p:sp>
      <p:sp>
        <p:nvSpPr>
          <p:cNvPr id="17" name="Shape 15"/>
          <p:cNvSpPr/>
          <p:nvPr/>
        </p:nvSpPr>
        <p:spPr>
          <a:xfrm>
            <a:off x="1261872" y="5038344"/>
            <a:ext cx="1377696" cy="0"/>
          </a:xfrm>
          <a:prstGeom prst="line">
            <a:avLst/>
          </a:prstGeom>
          <a:noFill/>
          <a:ln w="25400">
            <a:solidFill>
              <a:srgbClr val="3C267F"/>
            </a:solidFill>
            <a:prstDash val="dash"/>
          </a:ln>
        </p:spPr>
      </p:sp>
      <p:sp>
        <p:nvSpPr>
          <p:cNvPr id="18" name="Shape 16"/>
          <p:cNvSpPr/>
          <p:nvPr/>
        </p:nvSpPr>
        <p:spPr>
          <a:xfrm>
            <a:off x="2639568" y="3303270"/>
            <a:ext cx="2755392" cy="0"/>
          </a:xfrm>
          <a:prstGeom prst="line">
            <a:avLst/>
          </a:prstGeom>
          <a:noFill/>
          <a:ln w="25400">
            <a:solidFill>
              <a:srgbClr val="3C267F"/>
            </a:solidFill>
            <a:prstDash val="dash"/>
          </a:ln>
        </p:spPr>
      </p:sp>
      <p:sp>
        <p:nvSpPr>
          <p:cNvPr id="19" name="Shape 17"/>
          <p:cNvSpPr/>
          <p:nvPr/>
        </p:nvSpPr>
        <p:spPr>
          <a:xfrm>
            <a:off x="2558186" y="3221888"/>
            <a:ext cx="162763" cy="162763"/>
          </a:xfrm>
          <a:prstGeom prst="ellipse">
            <a:avLst/>
          </a:prstGeom>
          <a:solidFill>
            <a:srgbClr val="B9A7EE"/>
          </a:solidFill>
          <a:ln w="12700">
            <a:solidFill>
              <a:srgbClr val="1C1C1D"/>
            </a:solidFill>
            <a:prstDash val="solid"/>
          </a:ln>
        </p:spPr>
      </p:sp>
      <p:sp>
        <p:nvSpPr>
          <p:cNvPr id="20" name="Shape 18"/>
          <p:cNvSpPr/>
          <p:nvPr/>
        </p:nvSpPr>
        <p:spPr>
          <a:xfrm>
            <a:off x="2639568" y="3303270"/>
            <a:ext cx="0" cy="1735074"/>
          </a:xfrm>
          <a:prstGeom prst="line">
            <a:avLst/>
          </a:prstGeom>
          <a:noFill/>
          <a:ln w="12700">
            <a:solidFill>
              <a:srgbClr val="9280BD"/>
            </a:solidFill>
            <a:prstDash val="dot"/>
          </a:ln>
        </p:spPr>
      </p:sp>
      <p:sp>
        <p:nvSpPr>
          <p:cNvPr id="21" name="Shape 19"/>
          <p:cNvSpPr/>
          <p:nvPr/>
        </p:nvSpPr>
        <p:spPr>
          <a:xfrm>
            <a:off x="1261872" y="3303270"/>
            <a:ext cx="1377696" cy="0"/>
          </a:xfrm>
          <a:prstGeom prst="line">
            <a:avLst/>
          </a:prstGeom>
          <a:noFill/>
          <a:ln w="12700">
            <a:solidFill>
              <a:srgbClr val="9280BD"/>
            </a:solidFill>
            <a:prstDash val="dot"/>
          </a:ln>
        </p:spPr>
      </p:sp>
      <p:sp>
        <p:nvSpPr>
          <p:cNvPr id="22" name="Text 20"/>
          <p:cNvSpPr/>
          <p:nvPr/>
        </p:nvSpPr>
        <p:spPr>
          <a:xfrm>
            <a:off x="1078992"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0,00</a:t>
            </a:r>
            <a:endParaRPr lang="en-US" sz="1050" dirty="0"/>
          </a:p>
        </p:txBody>
      </p:sp>
      <p:sp>
        <p:nvSpPr>
          <p:cNvPr id="23" name="Text 21"/>
          <p:cNvSpPr/>
          <p:nvPr/>
        </p:nvSpPr>
        <p:spPr>
          <a:xfrm>
            <a:off x="777240" y="4919472"/>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0,00</a:t>
            </a:r>
            <a:endParaRPr lang="en-US" sz="1050" dirty="0"/>
          </a:p>
        </p:txBody>
      </p:sp>
      <p:sp>
        <p:nvSpPr>
          <p:cNvPr id="24" name="Text 22"/>
          <p:cNvSpPr/>
          <p:nvPr/>
        </p:nvSpPr>
        <p:spPr>
          <a:xfrm>
            <a:off x="2112264"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0,25</a:t>
            </a:r>
            <a:endParaRPr lang="en-US" sz="1050" dirty="0"/>
          </a:p>
        </p:txBody>
      </p:sp>
      <p:sp>
        <p:nvSpPr>
          <p:cNvPr id="25" name="Text 23"/>
          <p:cNvSpPr/>
          <p:nvPr/>
        </p:nvSpPr>
        <p:spPr>
          <a:xfrm>
            <a:off x="777240" y="4341114"/>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0,25</a:t>
            </a:r>
            <a:endParaRPr lang="en-US" sz="1050" dirty="0"/>
          </a:p>
        </p:txBody>
      </p:sp>
      <p:sp>
        <p:nvSpPr>
          <p:cNvPr id="26" name="Text 24"/>
          <p:cNvSpPr/>
          <p:nvPr/>
        </p:nvSpPr>
        <p:spPr>
          <a:xfrm>
            <a:off x="3145536"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0,50</a:t>
            </a:r>
            <a:endParaRPr lang="en-US" sz="1050" dirty="0"/>
          </a:p>
        </p:txBody>
      </p:sp>
      <p:sp>
        <p:nvSpPr>
          <p:cNvPr id="27" name="Text 25"/>
          <p:cNvSpPr/>
          <p:nvPr/>
        </p:nvSpPr>
        <p:spPr>
          <a:xfrm>
            <a:off x="777240" y="3762756"/>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0,50</a:t>
            </a:r>
            <a:endParaRPr lang="en-US" sz="1050" dirty="0"/>
          </a:p>
        </p:txBody>
      </p:sp>
      <p:sp>
        <p:nvSpPr>
          <p:cNvPr id="28" name="Text 26"/>
          <p:cNvSpPr/>
          <p:nvPr/>
        </p:nvSpPr>
        <p:spPr>
          <a:xfrm>
            <a:off x="4178808"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0,75</a:t>
            </a:r>
            <a:endParaRPr lang="en-US" sz="1050" dirty="0"/>
          </a:p>
        </p:txBody>
      </p:sp>
      <p:sp>
        <p:nvSpPr>
          <p:cNvPr id="29" name="Text 27"/>
          <p:cNvSpPr/>
          <p:nvPr/>
        </p:nvSpPr>
        <p:spPr>
          <a:xfrm>
            <a:off x="777240" y="3184398"/>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0,75</a:t>
            </a:r>
            <a:endParaRPr lang="en-US" sz="1050" dirty="0"/>
          </a:p>
        </p:txBody>
      </p:sp>
      <p:sp>
        <p:nvSpPr>
          <p:cNvPr id="30" name="Text 28"/>
          <p:cNvSpPr/>
          <p:nvPr/>
        </p:nvSpPr>
        <p:spPr>
          <a:xfrm>
            <a:off x="5212080"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1,00</a:t>
            </a:r>
            <a:endParaRPr lang="en-US" sz="1050" dirty="0"/>
          </a:p>
        </p:txBody>
      </p:sp>
      <p:sp>
        <p:nvSpPr>
          <p:cNvPr id="31" name="Text 29"/>
          <p:cNvSpPr/>
          <p:nvPr/>
        </p:nvSpPr>
        <p:spPr>
          <a:xfrm>
            <a:off x="777240" y="2606040"/>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1,00</a:t>
            </a:r>
            <a:endParaRPr lang="en-US" sz="1050" dirty="0"/>
          </a:p>
        </p:txBody>
      </p:sp>
      <p:sp>
        <p:nvSpPr>
          <p:cNvPr id="32" name="Text 30"/>
          <p:cNvSpPr/>
          <p:nvPr/>
        </p:nvSpPr>
        <p:spPr>
          <a:xfrm>
            <a:off x="1636776" y="5358384"/>
            <a:ext cx="3657600" cy="210312"/>
          </a:xfrm>
          <a:prstGeom prst="rect">
            <a:avLst/>
          </a:prstGeom>
          <a:noFill/>
          <a:ln/>
        </p:spPr>
        <p:txBody>
          <a:bodyPr wrap="square" lIns="0" tIns="0" rIns="0" bIns="0" rtlCol="0" anchor="ctr">
            <a:normAutofit/>
          </a:bodyPr>
          <a:lstStyle/>
          <a:p>
            <a:pPr marL="0" indent="0" algn="ctr">
              <a:buNone/>
            </a:pPr>
            <a:r>
              <a:rPr lang="en-US" sz="1200" dirty="0">
                <a:solidFill>
                  <a:srgbClr val="141414"/>
                </a:solidFill>
                <a:latin typeface="Inter Tight" pitchFamily="34" charset="0"/>
                <a:ea typeface="Inter Tight" pitchFamily="34" charset="-122"/>
                <a:cs typeface="Inter Tight" pitchFamily="34" charset="-120"/>
              </a:rPr>
              <a:t>FPR (tasa de falsos positivos)  →</a:t>
            </a:r>
            <a:endParaRPr lang="en-US" sz="1200" dirty="0"/>
          </a:p>
        </p:txBody>
      </p:sp>
      <p:sp>
        <p:nvSpPr>
          <p:cNvPr id="33" name="Text 31"/>
          <p:cNvSpPr/>
          <p:nvPr/>
        </p:nvSpPr>
        <p:spPr>
          <a:xfrm>
            <a:off x="658368" y="2468880"/>
            <a:ext cx="566928" cy="192024"/>
          </a:xfrm>
          <a:prstGeom prst="rect">
            <a:avLst/>
          </a:prstGeom>
          <a:noFill/>
          <a:ln/>
        </p:spPr>
        <p:txBody>
          <a:bodyPr wrap="square" lIns="0" tIns="0" rIns="0" bIns="0" rtlCol="0" anchor="ctr">
            <a:normAutofit/>
          </a:bodyPr>
          <a:lstStyle/>
          <a:p>
            <a:pPr marL="0" indent="0" algn="l">
              <a:buNone/>
            </a:pPr>
            <a:r>
              <a:rPr lang="en-US" sz="1120" dirty="0">
                <a:solidFill>
                  <a:srgbClr val="141414"/>
                </a:solidFill>
                <a:latin typeface="Fragment Mono" pitchFamily="34" charset="0"/>
                <a:ea typeface="Fragment Mono" pitchFamily="34" charset="-122"/>
                <a:cs typeface="Fragment Mono" pitchFamily="34" charset="-120"/>
              </a:rPr>
              <a:t>TPR ↑</a:t>
            </a:r>
            <a:endParaRPr lang="en-US" sz="1120" dirty="0"/>
          </a:p>
        </p:txBody>
      </p:sp>
      <p:sp>
        <p:nvSpPr>
          <p:cNvPr id="34" name="Text 32"/>
          <p:cNvSpPr/>
          <p:nvPr/>
        </p:nvSpPr>
        <p:spPr>
          <a:xfrm>
            <a:off x="749808" y="5541264"/>
            <a:ext cx="5029200" cy="283464"/>
          </a:xfrm>
          <a:prstGeom prst="rect">
            <a:avLst/>
          </a:prstGeom>
          <a:noFill/>
          <a:ln/>
        </p:spPr>
        <p:txBody>
          <a:bodyPr wrap="square" lIns="0" tIns="0" rIns="0" bIns="0" rtlCol="0" anchor="ctr">
            <a:normAutofit/>
          </a:bodyPr>
          <a:lstStyle/>
          <a:p>
            <a:pPr marL="0" indent="0" algn="ctr">
              <a:buNone/>
            </a:pPr>
            <a:r>
              <a:rPr lang="en-US" sz="1260" dirty="0">
                <a:solidFill>
                  <a:srgbClr val="3C267F"/>
                </a:solidFill>
                <a:latin typeface="Fragment Mono" pitchFamily="34" charset="0"/>
                <a:ea typeface="Fragment Mono" pitchFamily="34" charset="-122"/>
                <a:cs typeface="Fragment Mono" pitchFamily="34" charset="-120"/>
              </a:rPr>
              <a:t>FPR = 6 / 18 = 33,3 %   |   TPR = 9 / 12 = 75,0 %</a:t>
            </a:r>
            <a:endParaRPr lang="en-US" sz="1260" dirty="0"/>
          </a:p>
        </p:txBody>
      </p:sp>
      <p:sp>
        <p:nvSpPr>
          <p:cNvPr id="35" name="Shape 33"/>
          <p:cNvSpPr/>
          <p:nvPr/>
        </p:nvSpPr>
        <p:spPr>
          <a:xfrm>
            <a:off x="6208776" y="1975104"/>
            <a:ext cx="5431536" cy="4032504"/>
          </a:xfrm>
          <a:prstGeom prst="rect">
            <a:avLst/>
          </a:prstGeom>
          <a:solidFill>
            <a:srgbClr val="E9E9EC"/>
          </a:solidFill>
          <a:ln w="8890">
            <a:solidFill>
              <a:srgbClr val="1C1C1D"/>
            </a:solidFill>
            <a:prstDash val="solid"/>
          </a:ln>
        </p:spPr>
      </p:sp>
      <p:sp>
        <p:nvSpPr>
          <p:cNvPr id="36" name="Shape 34"/>
          <p:cNvSpPr/>
          <p:nvPr/>
        </p:nvSpPr>
        <p:spPr>
          <a:xfrm>
            <a:off x="6208776" y="1975104"/>
            <a:ext cx="5431536" cy="420624"/>
          </a:xfrm>
          <a:prstGeom prst="rect">
            <a:avLst/>
          </a:prstGeom>
          <a:solidFill>
            <a:srgbClr val="1C1C1D"/>
          </a:solidFill>
          <a:ln w="12700">
            <a:solidFill>
              <a:srgbClr val="1C1C1D"/>
            </a:solidFill>
            <a:prstDash val="solid"/>
          </a:ln>
        </p:spPr>
      </p:sp>
      <p:sp>
        <p:nvSpPr>
          <p:cNvPr id="37" name="Text 35"/>
          <p:cNvSpPr/>
          <p:nvPr/>
        </p:nvSpPr>
        <p:spPr>
          <a:xfrm>
            <a:off x="6364224" y="2029968"/>
            <a:ext cx="5157216" cy="310896"/>
          </a:xfrm>
          <a:prstGeom prst="rect">
            <a:avLst/>
          </a:prstGeom>
          <a:noFill/>
          <a:ln/>
        </p:spPr>
        <p:txBody>
          <a:bodyPr wrap="square" lIns="0" tIns="0" rIns="0" bIns="0" rtlCol="0" anchor="ctr">
            <a:normAutofit/>
          </a:bodyPr>
          <a:lstStyle/>
          <a:p>
            <a:pPr marL="0" indent="0">
              <a:buNone/>
            </a:pPr>
            <a:r>
              <a:rPr lang="en-US" sz="1260" dirty="0">
                <a:solidFill>
                  <a:srgbClr val="FFFFFF"/>
                </a:solidFill>
                <a:latin typeface="Fragment Mono" pitchFamily="34" charset="0"/>
                <a:ea typeface="Fragment Mono" pitchFamily="34" charset="-122"/>
                <a:cs typeface="Fragment Mono" pitchFamily="34" charset="-120"/>
              </a:rPr>
              <a:t>SANA POSITIVA  ·  TPR = 12 / 18</a:t>
            </a:r>
            <a:endParaRPr lang="en-US" sz="1260" dirty="0"/>
          </a:p>
        </p:txBody>
      </p:sp>
      <p:sp>
        <p:nvSpPr>
          <p:cNvPr id="38" name="Shape 36"/>
          <p:cNvSpPr/>
          <p:nvPr/>
        </p:nvSpPr>
        <p:spPr>
          <a:xfrm>
            <a:off x="6922008" y="2724912"/>
            <a:ext cx="4133088" cy="2313432"/>
          </a:xfrm>
          <a:prstGeom prst="rect">
            <a:avLst/>
          </a:prstGeom>
          <a:solidFill>
            <a:srgbClr val="FFFFFF"/>
          </a:solidFill>
          <a:ln w="12700">
            <a:solidFill>
              <a:srgbClr val="1C1C1D"/>
            </a:solidFill>
            <a:prstDash val="solid"/>
          </a:ln>
        </p:spPr>
      </p:sp>
      <p:sp>
        <p:nvSpPr>
          <p:cNvPr id="39" name="Shape 37"/>
          <p:cNvSpPr/>
          <p:nvPr/>
        </p:nvSpPr>
        <p:spPr>
          <a:xfrm>
            <a:off x="7955280" y="2724912"/>
            <a:ext cx="0" cy="2313432"/>
          </a:xfrm>
          <a:prstGeom prst="line">
            <a:avLst/>
          </a:prstGeom>
          <a:noFill/>
          <a:ln w="6985">
            <a:solidFill>
              <a:srgbClr val="DDDDDF"/>
            </a:solidFill>
            <a:prstDash val="solid"/>
          </a:ln>
        </p:spPr>
      </p:sp>
      <p:sp>
        <p:nvSpPr>
          <p:cNvPr id="40" name="Shape 38"/>
          <p:cNvSpPr/>
          <p:nvPr/>
        </p:nvSpPr>
        <p:spPr>
          <a:xfrm>
            <a:off x="6922008" y="3303270"/>
            <a:ext cx="4133088" cy="0"/>
          </a:xfrm>
          <a:prstGeom prst="line">
            <a:avLst/>
          </a:prstGeom>
          <a:noFill/>
          <a:ln w="6985">
            <a:solidFill>
              <a:srgbClr val="DDDDDF"/>
            </a:solidFill>
            <a:prstDash val="solid"/>
          </a:ln>
        </p:spPr>
      </p:sp>
      <p:sp>
        <p:nvSpPr>
          <p:cNvPr id="41" name="Shape 39"/>
          <p:cNvSpPr/>
          <p:nvPr/>
        </p:nvSpPr>
        <p:spPr>
          <a:xfrm>
            <a:off x="8988552" y="2724912"/>
            <a:ext cx="0" cy="2313432"/>
          </a:xfrm>
          <a:prstGeom prst="line">
            <a:avLst/>
          </a:prstGeom>
          <a:noFill/>
          <a:ln w="6985">
            <a:solidFill>
              <a:srgbClr val="DDDDDF"/>
            </a:solidFill>
            <a:prstDash val="solid"/>
          </a:ln>
        </p:spPr>
      </p:sp>
      <p:sp>
        <p:nvSpPr>
          <p:cNvPr id="42" name="Shape 40"/>
          <p:cNvSpPr/>
          <p:nvPr/>
        </p:nvSpPr>
        <p:spPr>
          <a:xfrm>
            <a:off x="6922008" y="3881628"/>
            <a:ext cx="4133088" cy="0"/>
          </a:xfrm>
          <a:prstGeom prst="line">
            <a:avLst/>
          </a:prstGeom>
          <a:noFill/>
          <a:ln w="6985">
            <a:solidFill>
              <a:srgbClr val="DDDDDF"/>
            </a:solidFill>
            <a:prstDash val="solid"/>
          </a:ln>
        </p:spPr>
      </p:sp>
      <p:sp>
        <p:nvSpPr>
          <p:cNvPr id="43" name="Shape 41"/>
          <p:cNvSpPr/>
          <p:nvPr/>
        </p:nvSpPr>
        <p:spPr>
          <a:xfrm>
            <a:off x="10021824" y="2724912"/>
            <a:ext cx="0" cy="2313432"/>
          </a:xfrm>
          <a:prstGeom prst="line">
            <a:avLst/>
          </a:prstGeom>
          <a:noFill/>
          <a:ln w="6985">
            <a:solidFill>
              <a:srgbClr val="DDDDDF"/>
            </a:solidFill>
            <a:prstDash val="solid"/>
          </a:ln>
        </p:spPr>
      </p:sp>
      <p:sp>
        <p:nvSpPr>
          <p:cNvPr id="44" name="Shape 42"/>
          <p:cNvSpPr/>
          <p:nvPr/>
        </p:nvSpPr>
        <p:spPr>
          <a:xfrm>
            <a:off x="6922008" y="4459986"/>
            <a:ext cx="4133088" cy="0"/>
          </a:xfrm>
          <a:prstGeom prst="line">
            <a:avLst/>
          </a:prstGeom>
          <a:noFill/>
          <a:ln w="6985">
            <a:solidFill>
              <a:srgbClr val="DDDDDF"/>
            </a:solidFill>
            <a:prstDash val="solid"/>
          </a:ln>
        </p:spPr>
      </p:sp>
      <p:sp>
        <p:nvSpPr>
          <p:cNvPr id="45" name="Shape 43"/>
          <p:cNvSpPr/>
          <p:nvPr/>
        </p:nvSpPr>
        <p:spPr>
          <a:xfrm>
            <a:off x="6922008" y="5038344"/>
            <a:ext cx="4133088" cy="0"/>
          </a:xfrm>
          <a:prstGeom prst="line">
            <a:avLst/>
          </a:prstGeom>
          <a:noFill/>
          <a:ln w="17145">
            <a:solidFill>
              <a:srgbClr val="96949E"/>
            </a:solidFill>
            <a:prstDash val="dash"/>
          </a:ln>
        </p:spPr>
      </p:sp>
      <p:sp>
        <p:nvSpPr>
          <p:cNvPr id="46" name="Shape 44"/>
          <p:cNvSpPr/>
          <p:nvPr/>
        </p:nvSpPr>
        <p:spPr>
          <a:xfrm>
            <a:off x="6922008" y="5038344"/>
            <a:ext cx="1033272" cy="0"/>
          </a:xfrm>
          <a:prstGeom prst="line">
            <a:avLst/>
          </a:prstGeom>
          <a:noFill/>
          <a:ln w="25400">
            <a:solidFill>
              <a:srgbClr val="3C267F"/>
            </a:solidFill>
            <a:prstDash val="dash"/>
          </a:ln>
        </p:spPr>
      </p:sp>
      <p:sp>
        <p:nvSpPr>
          <p:cNvPr id="47" name="Shape 45"/>
          <p:cNvSpPr/>
          <p:nvPr/>
        </p:nvSpPr>
        <p:spPr>
          <a:xfrm>
            <a:off x="7955280" y="3496056"/>
            <a:ext cx="3099816" cy="0"/>
          </a:xfrm>
          <a:prstGeom prst="line">
            <a:avLst/>
          </a:prstGeom>
          <a:noFill/>
          <a:ln w="25400">
            <a:solidFill>
              <a:srgbClr val="3C267F"/>
            </a:solidFill>
            <a:prstDash val="dash"/>
          </a:ln>
        </p:spPr>
      </p:sp>
      <p:sp>
        <p:nvSpPr>
          <p:cNvPr id="48" name="Shape 46"/>
          <p:cNvSpPr/>
          <p:nvPr/>
        </p:nvSpPr>
        <p:spPr>
          <a:xfrm>
            <a:off x="7873898" y="3414674"/>
            <a:ext cx="162763" cy="162763"/>
          </a:xfrm>
          <a:prstGeom prst="ellipse">
            <a:avLst/>
          </a:prstGeom>
          <a:solidFill>
            <a:srgbClr val="B9A7EE"/>
          </a:solidFill>
          <a:ln w="12700">
            <a:solidFill>
              <a:srgbClr val="1C1C1D"/>
            </a:solidFill>
            <a:prstDash val="solid"/>
          </a:ln>
        </p:spPr>
      </p:sp>
      <p:sp>
        <p:nvSpPr>
          <p:cNvPr id="49" name="Shape 47"/>
          <p:cNvSpPr/>
          <p:nvPr/>
        </p:nvSpPr>
        <p:spPr>
          <a:xfrm>
            <a:off x="7955280" y="3496056"/>
            <a:ext cx="0" cy="1542288"/>
          </a:xfrm>
          <a:prstGeom prst="line">
            <a:avLst/>
          </a:prstGeom>
          <a:noFill/>
          <a:ln w="12700">
            <a:solidFill>
              <a:srgbClr val="9280BD"/>
            </a:solidFill>
            <a:prstDash val="dot"/>
          </a:ln>
        </p:spPr>
      </p:sp>
      <p:sp>
        <p:nvSpPr>
          <p:cNvPr id="50" name="Shape 48"/>
          <p:cNvSpPr/>
          <p:nvPr/>
        </p:nvSpPr>
        <p:spPr>
          <a:xfrm>
            <a:off x="6922008" y="3496056"/>
            <a:ext cx="1033272" cy="0"/>
          </a:xfrm>
          <a:prstGeom prst="line">
            <a:avLst/>
          </a:prstGeom>
          <a:noFill/>
          <a:ln w="12700">
            <a:solidFill>
              <a:srgbClr val="9280BD"/>
            </a:solidFill>
            <a:prstDash val="dot"/>
          </a:ln>
        </p:spPr>
      </p:sp>
      <p:sp>
        <p:nvSpPr>
          <p:cNvPr id="51" name="Text 49"/>
          <p:cNvSpPr/>
          <p:nvPr/>
        </p:nvSpPr>
        <p:spPr>
          <a:xfrm>
            <a:off x="6739128"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0,00</a:t>
            </a:r>
            <a:endParaRPr lang="en-US" sz="1050" dirty="0"/>
          </a:p>
        </p:txBody>
      </p:sp>
      <p:sp>
        <p:nvSpPr>
          <p:cNvPr id="52" name="Text 50"/>
          <p:cNvSpPr/>
          <p:nvPr/>
        </p:nvSpPr>
        <p:spPr>
          <a:xfrm>
            <a:off x="6437376" y="4919472"/>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0,00</a:t>
            </a:r>
            <a:endParaRPr lang="en-US" sz="1050" dirty="0"/>
          </a:p>
        </p:txBody>
      </p:sp>
      <p:sp>
        <p:nvSpPr>
          <p:cNvPr id="53" name="Text 51"/>
          <p:cNvSpPr/>
          <p:nvPr/>
        </p:nvSpPr>
        <p:spPr>
          <a:xfrm>
            <a:off x="7772400"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0,25</a:t>
            </a:r>
            <a:endParaRPr lang="en-US" sz="1050" dirty="0"/>
          </a:p>
        </p:txBody>
      </p:sp>
      <p:sp>
        <p:nvSpPr>
          <p:cNvPr id="54" name="Text 52"/>
          <p:cNvSpPr/>
          <p:nvPr/>
        </p:nvSpPr>
        <p:spPr>
          <a:xfrm>
            <a:off x="6437376" y="4341114"/>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0,25</a:t>
            </a:r>
            <a:endParaRPr lang="en-US" sz="1050" dirty="0"/>
          </a:p>
        </p:txBody>
      </p:sp>
      <p:sp>
        <p:nvSpPr>
          <p:cNvPr id="55" name="Text 53"/>
          <p:cNvSpPr/>
          <p:nvPr/>
        </p:nvSpPr>
        <p:spPr>
          <a:xfrm>
            <a:off x="8805672"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0,50</a:t>
            </a:r>
            <a:endParaRPr lang="en-US" sz="1050" dirty="0"/>
          </a:p>
        </p:txBody>
      </p:sp>
      <p:sp>
        <p:nvSpPr>
          <p:cNvPr id="56" name="Text 54"/>
          <p:cNvSpPr/>
          <p:nvPr/>
        </p:nvSpPr>
        <p:spPr>
          <a:xfrm>
            <a:off x="6437376" y="3762756"/>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0,50</a:t>
            </a:r>
            <a:endParaRPr lang="en-US" sz="1050" dirty="0"/>
          </a:p>
        </p:txBody>
      </p:sp>
      <p:sp>
        <p:nvSpPr>
          <p:cNvPr id="57" name="Text 55"/>
          <p:cNvSpPr/>
          <p:nvPr/>
        </p:nvSpPr>
        <p:spPr>
          <a:xfrm>
            <a:off x="9838944"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0,75</a:t>
            </a:r>
            <a:endParaRPr lang="en-US" sz="1050" dirty="0"/>
          </a:p>
        </p:txBody>
      </p:sp>
      <p:sp>
        <p:nvSpPr>
          <p:cNvPr id="58" name="Text 56"/>
          <p:cNvSpPr/>
          <p:nvPr/>
        </p:nvSpPr>
        <p:spPr>
          <a:xfrm>
            <a:off x="6437376" y="3184398"/>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0,75</a:t>
            </a:r>
            <a:endParaRPr lang="en-US" sz="1050" dirty="0"/>
          </a:p>
        </p:txBody>
      </p:sp>
      <p:sp>
        <p:nvSpPr>
          <p:cNvPr id="59" name="Text 57"/>
          <p:cNvSpPr/>
          <p:nvPr/>
        </p:nvSpPr>
        <p:spPr>
          <a:xfrm>
            <a:off x="10872216" y="5129784"/>
            <a:ext cx="384048" cy="182880"/>
          </a:xfrm>
          <a:prstGeom prst="rect">
            <a:avLst/>
          </a:prstGeom>
          <a:noFill/>
          <a:ln/>
        </p:spPr>
        <p:txBody>
          <a:bodyPr wrap="square" lIns="0" tIns="0" rIns="0" bIns="0" rtlCol="0" anchor="ctr">
            <a:normAutofit/>
          </a:bodyPr>
          <a:lstStyle/>
          <a:p>
            <a:pPr marL="0" indent="0" algn="ctr">
              <a:buNone/>
            </a:pPr>
            <a:r>
              <a:rPr lang="en-US" sz="1050" dirty="0">
                <a:solidFill>
                  <a:srgbClr val="141414"/>
                </a:solidFill>
                <a:latin typeface="Inter Tight" pitchFamily="34" charset="0"/>
                <a:ea typeface="Inter Tight" pitchFamily="34" charset="-122"/>
                <a:cs typeface="Inter Tight" pitchFamily="34" charset="-120"/>
              </a:rPr>
              <a:t>1,00</a:t>
            </a:r>
            <a:endParaRPr lang="en-US" sz="1050" dirty="0"/>
          </a:p>
        </p:txBody>
      </p:sp>
      <p:sp>
        <p:nvSpPr>
          <p:cNvPr id="60" name="Text 58"/>
          <p:cNvSpPr/>
          <p:nvPr/>
        </p:nvSpPr>
        <p:spPr>
          <a:xfrm>
            <a:off x="6437376" y="2606040"/>
            <a:ext cx="384048" cy="182880"/>
          </a:xfrm>
          <a:prstGeom prst="rect">
            <a:avLst/>
          </a:prstGeom>
          <a:noFill/>
          <a:ln/>
        </p:spPr>
        <p:txBody>
          <a:bodyPr wrap="square" lIns="0" tIns="0" rIns="0" bIns="0" rtlCol="0" anchor="ctr">
            <a:normAutofit/>
          </a:bodyPr>
          <a:lstStyle/>
          <a:p>
            <a:pPr marL="0" indent="0" algn="r">
              <a:buNone/>
            </a:pPr>
            <a:r>
              <a:rPr lang="en-US" sz="1050" dirty="0">
                <a:solidFill>
                  <a:srgbClr val="141414"/>
                </a:solidFill>
                <a:latin typeface="Inter Tight" pitchFamily="34" charset="0"/>
                <a:ea typeface="Inter Tight" pitchFamily="34" charset="-122"/>
                <a:cs typeface="Inter Tight" pitchFamily="34" charset="-120"/>
              </a:rPr>
              <a:t>1,00</a:t>
            </a:r>
            <a:endParaRPr lang="en-US" sz="1050" dirty="0"/>
          </a:p>
        </p:txBody>
      </p:sp>
      <p:sp>
        <p:nvSpPr>
          <p:cNvPr id="61" name="Text 59"/>
          <p:cNvSpPr/>
          <p:nvPr/>
        </p:nvSpPr>
        <p:spPr>
          <a:xfrm>
            <a:off x="7296912" y="5358384"/>
            <a:ext cx="3657600" cy="210312"/>
          </a:xfrm>
          <a:prstGeom prst="rect">
            <a:avLst/>
          </a:prstGeom>
          <a:noFill/>
          <a:ln/>
        </p:spPr>
        <p:txBody>
          <a:bodyPr wrap="square" lIns="0" tIns="0" rIns="0" bIns="0" rtlCol="0" anchor="ctr">
            <a:normAutofit/>
          </a:bodyPr>
          <a:lstStyle/>
          <a:p>
            <a:pPr marL="0" indent="0" algn="ctr">
              <a:buNone/>
            </a:pPr>
            <a:r>
              <a:rPr lang="en-US" sz="1200" dirty="0">
                <a:solidFill>
                  <a:srgbClr val="141414"/>
                </a:solidFill>
                <a:latin typeface="Inter Tight" pitchFamily="34" charset="0"/>
                <a:ea typeface="Inter Tight" pitchFamily="34" charset="-122"/>
                <a:cs typeface="Inter Tight" pitchFamily="34" charset="-120"/>
              </a:rPr>
              <a:t>FPR (tasa de falsos positivos)  →</a:t>
            </a:r>
            <a:endParaRPr lang="en-US" sz="1200" dirty="0"/>
          </a:p>
        </p:txBody>
      </p:sp>
      <p:sp>
        <p:nvSpPr>
          <p:cNvPr id="62" name="Text 60"/>
          <p:cNvSpPr/>
          <p:nvPr/>
        </p:nvSpPr>
        <p:spPr>
          <a:xfrm>
            <a:off x="6318504" y="2468880"/>
            <a:ext cx="566928" cy="192024"/>
          </a:xfrm>
          <a:prstGeom prst="rect">
            <a:avLst/>
          </a:prstGeom>
          <a:noFill/>
          <a:ln/>
        </p:spPr>
        <p:txBody>
          <a:bodyPr wrap="square" lIns="0" tIns="0" rIns="0" bIns="0" rtlCol="0" anchor="ctr">
            <a:normAutofit/>
          </a:bodyPr>
          <a:lstStyle/>
          <a:p>
            <a:pPr marL="0" indent="0" algn="l">
              <a:buNone/>
            </a:pPr>
            <a:r>
              <a:rPr lang="en-US" sz="1120" dirty="0">
                <a:solidFill>
                  <a:srgbClr val="141414"/>
                </a:solidFill>
                <a:latin typeface="Fragment Mono" pitchFamily="34" charset="0"/>
                <a:ea typeface="Fragment Mono" pitchFamily="34" charset="-122"/>
                <a:cs typeface="Fragment Mono" pitchFamily="34" charset="-120"/>
              </a:rPr>
              <a:t>TPR ↑</a:t>
            </a:r>
            <a:endParaRPr lang="en-US" sz="1120" dirty="0"/>
          </a:p>
        </p:txBody>
      </p:sp>
      <p:sp>
        <p:nvSpPr>
          <p:cNvPr id="63" name="Text 61"/>
          <p:cNvSpPr/>
          <p:nvPr/>
        </p:nvSpPr>
        <p:spPr>
          <a:xfrm>
            <a:off x="6409944" y="5541264"/>
            <a:ext cx="5029200" cy="283464"/>
          </a:xfrm>
          <a:prstGeom prst="rect">
            <a:avLst/>
          </a:prstGeom>
          <a:noFill/>
          <a:ln/>
        </p:spPr>
        <p:txBody>
          <a:bodyPr wrap="square" lIns="0" tIns="0" rIns="0" bIns="0" rtlCol="0" anchor="ctr">
            <a:normAutofit/>
          </a:bodyPr>
          <a:lstStyle/>
          <a:p>
            <a:pPr marL="0" indent="0" algn="ctr">
              <a:buNone/>
            </a:pPr>
            <a:r>
              <a:rPr lang="en-US" sz="1260" dirty="0">
                <a:solidFill>
                  <a:srgbClr val="3C267F"/>
                </a:solidFill>
                <a:latin typeface="Fragment Mono" pitchFamily="34" charset="0"/>
                <a:ea typeface="Fragment Mono" pitchFamily="34" charset="-122"/>
                <a:cs typeface="Fragment Mono" pitchFamily="34" charset="-120"/>
              </a:rPr>
              <a:t>FPR = 3 / 12 = 25,0 %   |   TPR = 12 / 18 = 66,7 %</a:t>
            </a:r>
            <a:endParaRPr lang="en-US" sz="1260" dirty="0"/>
          </a:p>
        </p:txBody>
      </p:sp>
      <p:sp>
        <p:nvSpPr>
          <p:cNvPr id="64" name="Shape 62"/>
          <p:cNvSpPr/>
          <p:nvPr/>
        </p:nvSpPr>
        <p:spPr>
          <a:xfrm>
            <a:off x="548640" y="6135624"/>
            <a:ext cx="11091672" cy="365760"/>
          </a:xfrm>
          <a:prstGeom prst="rect">
            <a:avLst/>
          </a:prstGeom>
          <a:solidFill>
            <a:srgbClr val="1C1C1D"/>
          </a:solidFill>
          <a:ln w="12700">
            <a:solidFill>
              <a:srgbClr val="1C1C1D"/>
            </a:solidFill>
            <a:prstDash val="solid"/>
          </a:ln>
        </p:spPr>
      </p:sp>
      <p:sp>
        <p:nvSpPr>
          <p:cNvPr id="65" name="Text 63"/>
          <p:cNvSpPr/>
          <p:nvPr/>
        </p:nvSpPr>
        <p:spPr>
          <a:xfrm>
            <a:off x="722376" y="6217920"/>
            <a:ext cx="10725912" cy="173736"/>
          </a:xfrm>
          <a:prstGeom prst="rect">
            <a:avLst/>
          </a:prstGeom>
          <a:noFill/>
          <a:ln/>
        </p:spPr>
        <p:txBody>
          <a:bodyPr wrap="square" lIns="0" tIns="0" rIns="0" bIns="0" rtlCol="0" anchor="ctr">
            <a:normAutofit lnSpcReduction="10000"/>
          </a:bodyPr>
          <a:lstStyle/>
          <a:p>
            <a:pPr marL="0" indent="0" algn="ctr">
              <a:buNone/>
            </a:pPr>
            <a:r>
              <a:rPr lang="en-US" sz="1260" dirty="0">
                <a:solidFill>
                  <a:srgbClr val="FFFFFF"/>
                </a:solidFill>
                <a:latin typeface="Fragment Mono" pitchFamily="34" charset="0"/>
                <a:ea typeface="Fragment Mono" pitchFamily="34" charset="-122"/>
                <a:cs typeface="Fragment Mono" pitchFamily="34" charset="-120"/>
              </a:rPr>
              <a:t>TRAZO PUNTEADO: ILUSTRATIVO · LA MATRIZ NO PERMITE CALCULAR EL AUC REAL.</a:t>
            </a:r>
            <a:endParaRPr lang="en-US" sz="12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extLst>
              <a:ext uri="{28A0092B-C50C-407E-A947-70E740481C1C}">
                <a14:useLocalDpi xmlns:a14="http://schemas.microsoft.com/office/drawing/2010/main" val="0"/>
              </a:ext>
            </a:extLst>
          </a:blip>
          <a:srcRect l="2530" t="12143" r="24702" b="14523"/>
          <a:stretch/>
        </p:blipFill>
        <p:spPr>
          <a:xfrm>
            <a:off x="1020535" y="181197"/>
            <a:ext cx="8833757" cy="6676803"/>
          </a:xfrm>
          <a:prstGeom prst="rect">
            <a:avLst/>
          </a:prstGeom>
        </p:spPr>
      </p:pic>
    </p:spTree>
    <p:extLst>
      <p:ext uri="{BB962C8B-B14F-4D97-AF65-F5344CB8AC3E}">
        <p14:creationId xmlns:p14="http://schemas.microsoft.com/office/powerpoint/2010/main" val="384293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2201</Words>
  <Application>Microsoft Office PowerPoint</Application>
  <PresentationFormat>Panorámica</PresentationFormat>
  <Paragraphs>280</Paragraphs>
  <Slides>14</Slides>
  <Notes>13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Inter Tight Bold</vt:lpstr>
      <vt:lpstr>Fragment Mono</vt:lpstr>
      <vt:lpstr>Inter Tight SemiBold</vt:lpstr>
      <vt:lpstr>Inter Tight</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María Rojas</dc:creator>
  <cp:lastModifiedBy>María Rojas</cp:lastModifiedBy>
  <cp:revision>2</cp:revision>
  <dcterms:created xsi:type="dcterms:W3CDTF">2026-10-21T21:10:11Z</dcterms:created>
  <dcterms:modified xsi:type="dcterms:W3CDTF">2026-10-21T21:22:30Z</dcterms:modified>
</cp:coreProperties>
</file>