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ppm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9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257" r:id="rId18"/>
    <p:sldId id="258" r:id="rId19"/>
    <p:sldId id="259" r:id="rId20"/>
    <p:sldId id="26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1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9CE19-5509-5845-C418-C02B56460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9A0E32-C137-7913-87CF-C503ED941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66F1B8-F46A-8685-FFB7-4C1B523B5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8AB1DA-B89B-FDDC-098C-B3CC26B64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B42F80-B427-27A3-7B5D-A64822AB2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75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8995D-2DB8-08FF-658E-64BA49623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EC2DFA-84CE-3F52-AF45-E1618FC45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14E22D-55CE-A89E-08B5-35203DAD6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D7E387-AEEC-DF0E-A56D-8B4F2B46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43A17A-D1CA-C4E8-AFF5-1AF4F34B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07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E0C51-49B2-5264-44EE-8F273572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73BF3C-8881-3C3D-BAAF-3764E869B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84BFC6-CF0F-9D6E-BA78-48DA75029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73E351-9EB9-D4DB-EBAC-0C939B886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8E3F05-D599-1BE2-7E22-AD4BF045C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46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9971A-19AE-9F91-EA8C-69C537A8F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DBA47A-E41D-8FBB-0C79-CEBA59028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97146D-0189-8D4D-7789-21DAF7267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FD0F9E-3F6D-40D6-D7C4-8D5867ED2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A841DA-1771-9E18-69E3-0BF69DADD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32E609-6C9B-9985-D3CD-30C17C59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70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FECFB1-73FE-B109-748D-0C138B98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CC0A69-B980-597E-2B4A-01C86725F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D0B9DA-FBCB-3EA7-4409-7E9AD586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66F045-25DB-B084-EDE5-B786974343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47B66D8-F4A5-9288-B2F0-B1BE6D7DF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AA42B29-10E8-F061-85B1-63C1B7500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37B6EE-70BC-2C1C-3513-55E2D92DE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F9F05EB-5B9B-0D2D-AC54-AA093280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4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6C643-9D8B-2EE5-DE28-BCCFFD835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A091E1F-4EA8-CDAB-E875-935C5EC5D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150A8E4-C688-0EAF-4366-27BD86715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0446913-7F9B-B492-A9AD-9F47B0058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8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1C35F54-FD5E-81EC-D66D-6CD0E986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44F9944-F5C3-5D40-2DB9-16AE1BD6B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88394C-BADA-492B-0996-4B6009BE6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79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B1FAE-FAAB-B828-C03D-FDAD89832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469066-F81D-8D21-8505-F4971DAD6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85278F-650C-9116-09CC-2AC4B8077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5C62F0-5831-6686-3947-C22A0A467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F4BD1D-8619-2615-A41C-90B1E8ABA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DC326E-B5D4-1B38-A404-00F4586C6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58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5EA17B-061F-D058-7F25-FA2F581DE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533079F-7676-06B9-8252-048DB08802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ABDFA7-68BF-9D2E-8D85-FD58458B7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267D41-3896-9BAA-FBBB-EF6CE8C00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D92A93-5D41-5B92-7D1F-0DDCC3900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182278-2CE9-6294-A4B6-8C8B52070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60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43114-787E-96D2-B34E-DAF73BB4D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03F00FD-A068-4932-0284-D42A0969D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65F56E-E684-8AE6-6531-6EDDA7E02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F21D50-BAC6-BEFA-672E-E03701A9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64347B-4A50-5BE6-1B85-9E1B669CF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01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52715E-A26A-516A-67F7-8F62FEE700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677E78-C421-BCBA-39BF-29AA91783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5AE094-5CFA-6748-D1E8-BB619BFB1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123D81-9FD2-946D-7997-0CF64247D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B5896A-2F94-13D1-3200-0C1D06D2B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472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C3381B4-7A19-6AC3-6AE0-E585F249B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ABE905-436B-F6D5-4835-ECB3A6B52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8FBF88-284E-D547-BA82-BD14DEE77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89A0D-2CC5-4F67-AEF3-D9B45C0A0A7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803951-555A-9E51-5F07-0C45FBE45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00F7E4-021A-847C-0F66-613185AEA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68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pm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5097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F86505F-CC35-3A51-B26B-BBC687B7B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86" y="77397"/>
            <a:ext cx="3813945" cy="649753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D5DD5B9-A3F8-31C6-6DBD-EB13752DF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931" y="356134"/>
            <a:ext cx="7799654" cy="346589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069CAC8-7D8B-171D-16BF-A3C9752218F9}"/>
              </a:ext>
            </a:extLst>
          </p:cNvPr>
          <p:cNvSpPr txBox="1"/>
          <p:nvPr/>
        </p:nvSpPr>
        <p:spPr>
          <a:xfrm>
            <a:off x="5012356" y="4496413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/>
              <a:t>AlexNet</a:t>
            </a:r>
            <a:r>
              <a:rPr lang="es-ES" dirty="0"/>
              <a:t> es una arquitectura de </a:t>
            </a:r>
            <a:r>
              <a:rPr lang="es-ES" b="1" dirty="0"/>
              <a:t>red neuronal convolucional (CNN)</a:t>
            </a:r>
            <a:r>
              <a:rPr lang="es-ES" dirty="0"/>
              <a:t> propuesta por Alex </a:t>
            </a:r>
            <a:r>
              <a:rPr lang="es-ES" dirty="0" err="1"/>
              <a:t>Krizhevsky</a:t>
            </a:r>
            <a:r>
              <a:rPr lang="es-ES" dirty="0"/>
              <a:t>, Ilya </a:t>
            </a:r>
            <a:r>
              <a:rPr lang="es-ES" dirty="0" err="1"/>
              <a:t>Sutskever</a:t>
            </a:r>
            <a:r>
              <a:rPr lang="es-ES" dirty="0"/>
              <a:t> y Geoffrey Hinton en 2012. Fue diseñada principalmente para </a:t>
            </a:r>
            <a:r>
              <a:rPr lang="es-ES" b="1" dirty="0"/>
              <a:t>clasificación de imágenes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561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5CFD171B-54DF-C1FE-6ED5-37E78D57F404}"/>
              </a:ext>
            </a:extLst>
          </p:cNvPr>
          <p:cNvSpPr txBox="1"/>
          <p:nvPr/>
        </p:nvSpPr>
        <p:spPr>
          <a:xfrm>
            <a:off x="5127859" y="5909912"/>
            <a:ext cx="1378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yolov5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FABC496-4D9B-F8B5-D90F-CE9E7D8F7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68" y="578756"/>
            <a:ext cx="9525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08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DB6140B-5F81-7080-82DB-B1E0BDFD8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30" y="124482"/>
            <a:ext cx="5116865" cy="365924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C06453E-E088-F4B6-C350-0EA543F07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105" y="3429000"/>
            <a:ext cx="6846895" cy="342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9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132062D-EAD3-EE31-52B8-05C064729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8097"/>
            <a:ext cx="12192000" cy="426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570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051EFD1-F9AB-E549-AB05-63D992A469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99" b="7484"/>
          <a:stretch/>
        </p:blipFill>
        <p:spPr>
          <a:xfrm>
            <a:off x="0" y="0"/>
            <a:ext cx="7934325" cy="3609475"/>
          </a:xfrm>
          <a:prstGeom prst="rect">
            <a:avLst/>
          </a:prstGeom>
        </p:spPr>
      </p:pic>
      <p:sp>
        <p:nvSpPr>
          <p:cNvPr id="6" name="AutoShape 2" descr="AlexNet网络架构逐层解析与TensorFlow模型复现-开发者社区-阿里云">
            <a:extLst>
              <a:ext uri="{FF2B5EF4-FFF2-40B4-BE49-F238E27FC236}">
                <a16:creationId xmlns:a16="http://schemas.microsoft.com/office/drawing/2014/main" id="{4848C50F-4586-BD48-1FC4-FC065DF48B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 descr="AlexNet网络架构逐层解析与TensorFlow模型复现-开发者社区-阿里云">
            <a:extLst>
              <a:ext uri="{FF2B5EF4-FFF2-40B4-BE49-F238E27FC236}">
                <a16:creationId xmlns:a16="http://schemas.microsoft.com/office/drawing/2014/main" id="{94E3668C-1CD4-D3A4-AAD7-F4CFBB88C1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712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E2E0599-2BFC-6CDB-6BC1-C07AA3FB61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" t="5220" r="3114" b="7100"/>
          <a:stretch/>
        </p:blipFill>
        <p:spPr bwMode="auto">
          <a:xfrm>
            <a:off x="67377" y="-1"/>
            <a:ext cx="7469204" cy="688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587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8DCD558-2C21-75E6-17F8-481867293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49" y="0"/>
            <a:ext cx="6037944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D5953B1-F3C0-028F-6CF7-AAE61641D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125" y="0"/>
            <a:ext cx="5839326" cy="235227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0ABF415-307C-3F7F-3ABB-1BD9ED0893AD}"/>
              </a:ext>
            </a:extLst>
          </p:cNvPr>
          <p:cNvSpPr txBox="1"/>
          <p:nvPr/>
        </p:nvSpPr>
        <p:spPr>
          <a:xfrm>
            <a:off x="6456145" y="2782669"/>
            <a:ext cx="44685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st"/>
              </a:rPr>
              <a:t>Componentes clave: </a:t>
            </a:r>
          </a:p>
          <a:p>
            <a:pPr algn="l"/>
            <a:r>
              <a:rPr lang="es-E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st"/>
              </a:rPr>
              <a:t>Capas convolucionales, </a:t>
            </a:r>
          </a:p>
          <a:p>
            <a:pPr algn="l"/>
            <a:r>
              <a:rPr lang="es-ES" b="0" i="0" dirty="0">
                <a:solidFill>
                  <a:srgbClr val="FF9900"/>
                </a:solidFill>
                <a:effectLst/>
                <a:highlight>
                  <a:srgbClr val="FFFFFF"/>
                </a:highlight>
                <a:latin typeface="Jost"/>
              </a:rPr>
              <a:t>de agrupamiento (</a:t>
            </a:r>
            <a:r>
              <a:rPr lang="es-ES" b="0" i="0" dirty="0" err="1">
                <a:solidFill>
                  <a:srgbClr val="FF9900"/>
                </a:solidFill>
                <a:effectLst/>
                <a:highlight>
                  <a:srgbClr val="FFFFFF"/>
                </a:highlight>
                <a:latin typeface="Jost"/>
              </a:rPr>
              <a:t>Pooling</a:t>
            </a:r>
            <a:r>
              <a:rPr lang="es-ES" b="0" i="0" dirty="0">
                <a:solidFill>
                  <a:srgbClr val="FF9900"/>
                </a:solidFill>
                <a:effectLst/>
                <a:highlight>
                  <a:srgbClr val="FFFFFF"/>
                </a:highlight>
                <a:latin typeface="Jost"/>
              </a:rPr>
              <a:t>) </a:t>
            </a:r>
          </a:p>
          <a:p>
            <a:pPr algn="l"/>
            <a:r>
              <a:rPr lang="es-E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st"/>
              </a:rPr>
              <a:t>y totalmente conectadas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27F5AE1-5056-8DCB-3C0B-3179897A0978}"/>
              </a:ext>
            </a:extLst>
          </p:cNvPr>
          <p:cNvSpPr txBox="1"/>
          <p:nvPr/>
        </p:nvSpPr>
        <p:spPr>
          <a:xfrm>
            <a:off x="6872547" y="4740625"/>
            <a:ext cx="28699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datos con estructuras espaciales intrínsecas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54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3D44E13-B8DF-5611-5CB6-A6CB684A317C}"/>
              </a:ext>
            </a:extLst>
          </p:cNvPr>
          <p:cNvSpPr txBox="1"/>
          <p:nvPr/>
        </p:nvSpPr>
        <p:spPr>
          <a:xfrm>
            <a:off x="737755" y="629737"/>
            <a:ext cx="108703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Tendencia en la investigación de IA demuestra la importancia de diseñar arquitecturas que exploten la estructura inherente de ciertos tipos de datos</a:t>
            </a:r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317D71-4574-7989-A777-756A19923B4F}"/>
              </a:ext>
            </a:extLst>
          </p:cNvPr>
          <p:cNvSpPr txBox="1"/>
          <p:nvPr/>
        </p:nvSpPr>
        <p:spPr>
          <a:xfrm>
            <a:off x="737755" y="1922398"/>
            <a:ext cx="1102431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La era de las </a:t>
            </a:r>
            <a:r>
              <a:rPr lang="es-ES" b="1" i="0" dirty="0">
                <a:solidFill>
                  <a:srgbClr val="297F35"/>
                </a:solidFill>
                <a:effectLst/>
                <a:highlight>
                  <a:srgbClr val="FFFFFF"/>
                </a:highlight>
                <a:latin typeface="Jost"/>
              </a:rPr>
              <a:t>Redes Neuronales Convolucionales (</a:t>
            </a:r>
            <a:r>
              <a:rPr lang="es-ES" b="1" i="0" dirty="0" err="1">
                <a:solidFill>
                  <a:srgbClr val="297F35"/>
                </a:solidFill>
                <a:effectLst/>
                <a:highlight>
                  <a:srgbClr val="FFFFFF"/>
                </a:highlight>
                <a:latin typeface="Jost"/>
              </a:rPr>
              <a:t>CNNs</a:t>
            </a:r>
            <a:r>
              <a:rPr lang="es-ES" b="1" i="0" dirty="0">
                <a:solidFill>
                  <a:srgbClr val="297F35"/>
                </a:solidFill>
                <a:effectLst/>
                <a:highlight>
                  <a:srgbClr val="FFFFFF"/>
                </a:highlight>
                <a:latin typeface="Jost"/>
              </a:rPr>
              <a:t>) </a:t>
            </a:r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marcó una especialización crucial para el procesamiento de datos visuales. Arquitecturas como LeNet-5 sentaron las bases, mientras que </a:t>
            </a:r>
            <a:r>
              <a:rPr lang="es-ES" sz="2000" b="1" dirty="0" err="1">
                <a:solidFill>
                  <a:srgbClr val="00684D"/>
                </a:solidFill>
                <a:latin typeface="Eco Sans Bold" pitchFamily="2" charset="0"/>
              </a:rPr>
              <a:t>AlexNet</a:t>
            </a:r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 demostró el poder de las </a:t>
            </a:r>
            <a:r>
              <a:rPr lang="es-ES" b="0" i="0" dirty="0" err="1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CNNs</a:t>
            </a:r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 a gran escala, impulsando el uso de </a:t>
            </a:r>
            <a:r>
              <a:rPr lang="es-ES" b="0" i="0" dirty="0" err="1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GPUs</a:t>
            </a:r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 y la adopción de funciones </a:t>
            </a:r>
            <a:r>
              <a:rPr lang="es-ES" b="1" i="0" dirty="0" err="1">
                <a:effectLst/>
                <a:highlight>
                  <a:srgbClr val="FFFFFF"/>
                </a:highlight>
                <a:latin typeface="Jost"/>
              </a:rPr>
              <a:t>ReLU</a:t>
            </a:r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. </a:t>
            </a:r>
            <a:r>
              <a:rPr lang="es-ES" b="1" i="0" dirty="0" err="1">
                <a:solidFill>
                  <a:srgbClr val="0070C0"/>
                </a:solidFill>
                <a:effectLst/>
                <a:highlight>
                  <a:srgbClr val="FFFFFF"/>
                </a:highlight>
                <a:latin typeface="Jost"/>
              </a:rPr>
              <a:t>VGGNet</a:t>
            </a:r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 enfatizó la importancia de la profundidad y la uniformidad, y </a:t>
            </a:r>
            <a:r>
              <a:rPr lang="es-ES" b="1" i="0" dirty="0" err="1">
                <a:solidFill>
                  <a:srgbClr val="7030A0"/>
                </a:solidFill>
                <a:effectLst/>
                <a:highlight>
                  <a:srgbClr val="FFFFFF"/>
                </a:highlight>
                <a:latin typeface="Jost"/>
              </a:rPr>
              <a:t>ResNet</a:t>
            </a:r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 resolvió el problema de la degradación en redes </a:t>
            </a:r>
            <a:r>
              <a:rPr lang="es-ES" b="0" i="0" dirty="0" err="1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ultraprofundas</a:t>
            </a:r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 mediante sus innovadoras conexiones residuales, permitiendo el entrenamiento de modelos con cientos de capas.</a:t>
            </a:r>
            <a:endParaRPr lang="en-U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058A76A-79D8-B56A-6B06-5C8211B06B81}"/>
              </a:ext>
            </a:extLst>
          </p:cNvPr>
          <p:cNvSpPr txBox="1"/>
          <p:nvPr/>
        </p:nvSpPr>
        <p:spPr>
          <a:xfrm>
            <a:off x="593376" y="4196938"/>
            <a:ext cx="111686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En retrospectiva, la evolución de las redes neuronales es una narrativa de superación de límites: de la linealidad a la no linealidad, de la memoria a corto plazo a las dependencias a largo plazo, y de los procesos secuenciales a la paralelización masiva. Cada avance ha habilitado nuevas capacidades y aplicaciones, transformando fundamentalmente la inteligencia artificial y su impacto en la sociedad. El camino desde el Perceptrón hasta el </a:t>
            </a:r>
            <a:r>
              <a:rPr lang="es-ES" b="0" i="0" dirty="0" err="1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Transformer</a:t>
            </a:r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 no es solo una historia de algoritmos, sino de cómo la ingeniería y la ciencia computacional han permitido que una idea inspirada en la biología se convierta en una de las fuerzas tecnológicas más potentes de nuestro tiempo.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916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CE9AA140-0053-4BCD-B1F7-BEB4E7BF7D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" r="8957"/>
          <a:stretch/>
        </p:blipFill>
        <p:spPr bwMode="auto">
          <a:xfrm>
            <a:off x="127576" y="1662764"/>
            <a:ext cx="6545179" cy="359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0651899-D483-C14C-B4B8-F0FD710D5052}"/>
              </a:ext>
            </a:extLst>
          </p:cNvPr>
          <p:cNvSpPr txBox="1"/>
          <p:nvPr/>
        </p:nvSpPr>
        <p:spPr>
          <a:xfrm>
            <a:off x="0" y="61125"/>
            <a:ext cx="4430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highlight>
                  <a:srgbClr val="FFFF00"/>
                </a:highlight>
                <a:latin typeface="questrial" panose="020F0502020204030204" pitchFamily="2" charset="0"/>
              </a:rPr>
              <a:t>CNN Architecture (Conceptual Overview)</a:t>
            </a:r>
            <a:r>
              <a:rPr lang="en-US" b="1" i="0" dirty="0">
                <a:solidFill>
                  <a:srgbClr val="FFFF00"/>
                </a:solidFill>
                <a:effectLst/>
                <a:highlight>
                  <a:srgbClr val="FFFF00"/>
                </a:highlight>
                <a:latin typeface="questrial" panose="020F0502020204030204" pitchFamily="2" charset="0"/>
              </a:rPr>
              <a:t>)</a:t>
            </a:r>
            <a:endParaRPr lang="en-US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01AB1EF-28D5-C1E8-8AC4-01C15E60E7C9}"/>
              </a:ext>
            </a:extLst>
          </p:cNvPr>
          <p:cNvSpPr txBox="1"/>
          <p:nvPr/>
        </p:nvSpPr>
        <p:spPr>
          <a:xfrm>
            <a:off x="7541293" y="5380672"/>
            <a:ext cx="4639979" cy="1477328"/>
          </a:xfrm>
          <a:prstGeom prst="rect">
            <a:avLst/>
          </a:prstGeom>
          <a:solidFill>
            <a:srgbClr val="006464">
              <a:alpha val="5000"/>
            </a:srgbClr>
          </a:solidFill>
        </p:spPr>
        <p:txBody>
          <a:bodyPr wrap="square">
            <a:spAutoFit/>
          </a:bodyPr>
          <a:lstStyle/>
          <a:p>
            <a:pPr algn="just"/>
            <a:r>
              <a:rPr lang="es-ES" b="1" dirty="0" err="1">
                <a:solidFill>
                  <a:srgbClr val="006464"/>
                </a:solidFill>
                <a:latin typeface="Eco Sans Bold"/>
              </a:rPr>
              <a:t>Padding</a:t>
            </a:r>
            <a:r>
              <a:rPr lang="es-ES" b="1" dirty="0">
                <a:solidFill>
                  <a:srgbClr val="006464"/>
                </a:solidFill>
                <a:latin typeface="Eco Sans Bold"/>
              </a:rPr>
              <a:t>: </a:t>
            </a:r>
            <a:r>
              <a:rPr lang="es-ES" dirty="0">
                <a:latin typeface="Eco Sans Bold"/>
              </a:rPr>
              <a:t>agregar valores alrededor de los bordes de la imagen antes de aplicar la convolución</a:t>
            </a:r>
            <a:endParaRPr lang="es-ES" b="1" dirty="0">
              <a:latin typeface="Eco Sans Bold"/>
            </a:endParaRPr>
          </a:p>
          <a:p>
            <a:pPr algn="just"/>
            <a:r>
              <a:rPr lang="es-ES" b="1" dirty="0" err="1">
                <a:solidFill>
                  <a:srgbClr val="006464"/>
                </a:solidFill>
                <a:latin typeface="Eco Sans Bold"/>
              </a:rPr>
              <a:t>Stride</a:t>
            </a:r>
            <a:r>
              <a:rPr lang="es-ES" b="1" dirty="0">
                <a:solidFill>
                  <a:srgbClr val="006464"/>
                </a:solidFill>
                <a:latin typeface="Eco Sans Bold"/>
              </a:rPr>
              <a:t>: </a:t>
            </a:r>
            <a:r>
              <a:rPr lang="es-ES" dirty="0">
                <a:latin typeface="Eco Sans Bold"/>
              </a:rPr>
              <a:t>Número de píxeles que el filtro (</a:t>
            </a:r>
            <a:r>
              <a:rPr lang="es-ES" i="1" dirty="0" err="1">
                <a:latin typeface="Eco Sans Bold"/>
              </a:rPr>
              <a:t>kernel</a:t>
            </a:r>
            <a:r>
              <a:rPr lang="es-ES" dirty="0">
                <a:latin typeface="Eco Sans Bold"/>
              </a:rPr>
              <a:t>) avanza cada vez que realiza una convolución.</a:t>
            </a:r>
            <a:r>
              <a:rPr lang="es-ES" b="1" dirty="0">
                <a:latin typeface="Eco Sans Bold"/>
              </a:rPr>
              <a:t>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773701E-E240-68C1-5467-74662AA6B08C}"/>
              </a:ext>
            </a:extLst>
          </p:cNvPr>
          <p:cNvSpPr txBox="1"/>
          <p:nvPr/>
        </p:nvSpPr>
        <p:spPr>
          <a:xfrm>
            <a:off x="1339115" y="858871"/>
            <a:ext cx="24279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mapa de características (</a:t>
            </a:r>
            <a:r>
              <a:rPr lang="pt-BR" b="1" i="1" dirty="0"/>
              <a:t>feature </a:t>
            </a:r>
            <a:r>
              <a:rPr lang="pt-BR" b="1" i="1" dirty="0" err="1"/>
              <a:t>map</a:t>
            </a:r>
            <a:r>
              <a:rPr lang="pt-BR" b="1" dirty="0"/>
              <a:t>)</a:t>
            </a:r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76B3077-6F27-3DCB-7312-CFCACD005544}"/>
              </a:ext>
            </a:extLst>
          </p:cNvPr>
          <p:cNvSpPr txBox="1"/>
          <p:nvPr/>
        </p:nvSpPr>
        <p:spPr>
          <a:xfrm>
            <a:off x="3845292" y="858380"/>
            <a:ext cx="2338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Función de activación </a:t>
            </a:r>
            <a:r>
              <a:rPr lang="es-ES" b="1" dirty="0"/>
              <a:t>no lineal</a:t>
            </a:r>
            <a:r>
              <a:rPr lang="es-ES" dirty="0"/>
              <a:t>, </a:t>
            </a:r>
            <a:r>
              <a:rPr lang="es-ES" b="1" dirty="0" err="1"/>
              <a:t>ReLU</a:t>
            </a:r>
            <a:endParaRPr lang="en-U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2D10D80-5DBC-F932-C7E2-9DB70C021453}"/>
              </a:ext>
            </a:extLst>
          </p:cNvPr>
          <p:cNvSpPr txBox="1"/>
          <p:nvPr/>
        </p:nvSpPr>
        <p:spPr>
          <a:xfrm>
            <a:off x="2964581" y="5398706"/>
            <a:ext cx="39728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Tensor se </a:t>
            </a:r>
            <a:r>
              <a:rPr lang="es-ES" b="1" dirty="0"/>
              <a:t>aplana (</a:t>
            </a:r>
            <a:r>
              <a:rPr lang="es-ES" b="1" i="1" dirty="0" err="1"/>
              <a:t>flatten</a:t>
            </a:r>
            <a:r>
              <a:rPr lang="es-ES" b="1" dirty="0"/>
              <a:t>)</a:t>
            </a:r>
            <a:r>
              <a:rPr lang="es-ES" dirty="0"/>
              <a:t>, se transforma de una estructura tridimensional en un </a:t>
            </a:r>
            <a:r>
              <a:rPr lang="es-ES" b="1" dirty="0"/>
              <a:t>vector unidimensional (1D)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F0E8A35-C086-7016-172D-41DBE8E29CFB}"/>
              </a:ext>
            </a:extLst>
          </p:cNvPr>
          <p:cNvSpPr txBox="1"/>
          <p:nvPr/>
        </p:nvSpPr>
        <p:spPr>
          <a:xfrm>
            <a:off x="0" y="588514"/>
            <a:ext cx="80404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Componentes fundamentales de las </a:t>
            </a:r>
            <a:r>
              <a:rPr lang="es-ES" b="1" dirty="0"/>
              <a:t>redes neuronales convolucionales (CNN)</a:t>
            </a:r>
            <a:r>
              <a:rPr lang="es-ES" dirty="0"/>
              <a:t>: </a:t>
            </a:r>
          </a:p>
          <a:p>
            <a:pPr algn="just"/>
            <a:r>
              <a:rPr lang="es-ES" b="1" dirty="0"/>
              <a:t>Convolución: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EE0BC811-7BFC-361C-914E-45E123AED05D}"/>
              </a:ext>
            </a:extLst>
          </p:cNvPr>
          <p:cNvGrpSpPr/>
          <p:nvPr/>
        </p:nvGrpSpPr>
        <p:grpSpPr>
          <a:xfrm>
            <a:off x="6133740" y="876143"/>
            <a:ext cx="5135235" cy="646331"/>
            <a:chOff x="7929174" y="3247433"/>
            <a:chExt cx="5135235" cy="646331"/>
          </a:xfrm>
        </p:grpSpPr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22750F23-1F5A-4089-25E6-C637D08A9F95}"/>
                </a:ext>
              </a:extLst>
            </p:cNvPr>
            <p:cNvSpPr txBox="1"/>
            <p:nvPr/>
          </p:nvSpPr>
          <p:spPr>
            <a:xfrm>
              <a:off x="8732842" y="3247433"/>
              <a:ext cx="433156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s-ES" dirty="0"/>
                <a:t>reduce las dimensiones espaciales conservando la información más importante</a:t>
              </a:r>
              <a:endParaRPr lang="en-US" dirty="0"/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C42F3F6F-B69A-D692-235A-8DB81ACC0CD0}"/>
                </a:ext>
              </a:extLst>
            </p:cNvPr>
            <p:cNvSpPr txBox="1"/>
            <p:nvPr/>
          </p:nvSpPr>
          <p:spPr>
            <a:xfrm>
              <a:off x="7929174" y="3385933"/>
              <a:ext cx="10780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b="1" dirty="0" err="1"/>
                <a:t>Pooling</a:t>
              </a:r>
              <a:r>
                <a:rPr lang="es-ES" dirty="0"/>
                <a:t>.</a:t>
              </a:r>
              <a:endParaRPr lang="en-US" dirty="0"/>
            </a:p>
          </p:txBody>
        </p: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CD2A079-3B6E-2F6E-4CE7-A98CBEB6273C}"/>
              </a:ext>
            </a:extLst>
          </p:cNvPr>
          <p:cNvSpPr txBox="1"/>
          <p:nvPr/>
        </p:nvSpPr>
        <p:spPr>
          <a:xfrm>
            <a:off x="7029450" y="1872983"/>
            <a:ext cx="1756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Capa</a:t>
            </a:r>
            <a:r>
              <a:rPr lang="en-US" b="1" dirty="0"/>
              <a:t> de Salida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C1BB5F9-63E0-1127-BD4A-9D1944A28824}"/>
              </a:ext>
            </a:extLst>
          </p:cNvPr>
          <p:cNvSpPr txBox="1"/>
          <p:nvPr/>
        </p:nvSpPr>
        <p:spPr>
          <a:xfrm>
            <a:off x="7067962" y="2242315"/>
            <a:ext cx="4996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La función de activación y de pérdida, dependen del tipo de problema.</a:t>
            </a:r>
            <a:endParaRPr lang="en-US" dirty="0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C79A6E4A-2F2E-54CA-6196-4B7633DEC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2888646"/>
            <a:ext cx="515182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 err="1">
                <a:solidFill>
                  <a:srgbClr val="00684D"/>
                </a:solidFill>
                <a:latin typeface="Eco Sans Bold"/>
              </a:rPr>
              <a:t>Clasificación</a:t>
            </a:r>
            <a:r>
              <a:rPr lang="en-US" altLang="en-US" b="1" dirty="0">
                <a:solidFill>
                  <a:srgbClr val="00684D"/>
                </a:solidFill>
                <a:latin typeface="Eco Sans Bold"/>
              </a:rPr>
              <a:t> </a:t>
            </a:r>
            <a:r>
              <a:rPr lang="en-US" altLang="en-US" b="1" dirty="0" err="1">
                <a:solidFill>
                  <a:srgbClr val="00684D"/>
                </a:solidFill>
                <a:latin typeface="Eco Sans Bold"/>
              </a:rPr>
              <a:t>binaria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s-CO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Puede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ser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sigmoid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como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función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activación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binary cross-entropy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como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función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pérdida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Eco Sans Bold"/>
              </a:rPr>
              <a:t>Clasificación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Eco Sans Bold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Eco Sans Bold"/>
              </a:rPr>
              <a:t>multiclase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podemos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utilizar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softmax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como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función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activación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categorical cross-entropy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como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función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pérdida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85728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6D4AAC7-17A6-C23F-3DF7-EEC733012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206" y="126124"/>
            <a:ext cx="6110272" cy="311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AAF3440-C772-4EB1-9586-450431812649}"/>
              </a:ext>
            </a:extLst>
          </p:cNvPr>
          <p:cNvSpPr txBox="1"/>
          <p:nvPr/>
        </p:nvSpPr>
        <p:spPr>
          <a:xfrm>
            <a:off x="1810407" y="1008257"/>
            <a:ext cx="13426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/>
              <a:t>LeNet</a:t>
            </a:r>
            <a:endParaRPr lang="en-US" b="1" dirty="0"/>
          </a:p>
          <a:p>
            <a:pPr algn="ctr"/>
            <a:r>
              <a:rPr lang="en-US" b="1" dirty="0"/>
              <a:t>Yann LeCun</a:t>
            </a:r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993D966-EA6D-09DA-98F9-D4C768BAC356}"/>
              </a:ext>
            </a:extLst>
          </p:cNvPr>
          <p:cNvSpPr txBox="1"/>
          <p:nvPr/>
        </p:nvSpPr>
        <p:spPr>
          <a:xfrm>
            <a:off x="0" y="2490908"/>
            <a:ext cx="79142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/>
              <a:t>AlexNet</a:t>
            </a:r>
            <a:r>
              <a:rPr lang="es-ES" b="1" dirty="0"/>
              <a:t>,</a:t>
            </a:r>
            <a:r>
              <a:rPr lang="en-US" dirty="0"/>
              <a:t> → </a:t>
            </a:r>
            <a:r>
              <a:rPr lang="en-US" dirty="0" err="1"/>
              <a:t>Profundidad</a:t>
            </a:r>
            <a:endParaRPr lang="en-US" dirty="0"/>
          </a:p>
          <a:p>
            <a:r>
              <a:rPr lang="es-ES" b="1" dirty="0" err="1"/>
              <a:t>VGGNet</a:t>
            </a:r>
            <a:r>
              <a:rPr lang="es-ES" b="1" dirty="0"/>
              <a:t>, </a:t>
            </a:r>
            <a:r>
              <a:rPr lang="en-US" dirty="0"/>
              <a:t>→ </a:t>
            </a:r>
            <a:r>
              <a:rPr lang="en-US" dirty="0" err="1"/>
              <a:t>Filtros</a:t>
            </a:r>
            <a:r>
              <a:rPr lang="en-US" dirty="0"/>
              <a:t> </a:t>
            </a:r>
            <a:r>
              <a:rPr lang="en-US" dirty="0" err="1"/>
              <a:t>pequeños</a:t>
            </a:r>
            <a:endParaRPr lang="en-US" dirty="0"/>
          </a:p>
          <a:p>
            <a:r>
              <a:rPr lang="es-ES" dirty="0"/>
              <a:t>profundiza la red usando muchas convoluciones pequeñas.</a:t>
            </a:r>
            <a:endParaRPr lang="es-ES" b="1" dirty="0"/>
          </a:p>
          <a:p>
            <a:r>
              <a:rPr lang="es-ES" b="1" dirty="0" err="1"/>
              <a:t>GoogLeNet</a:t>
            </a:r>
            <a:r>
              <a:rPr lang="en-US" dirty="0"/>
              <a:t> /Inception → </a:t>
            </a:r>
            <a:r>
              <a:rPr lang="en-US" dirty="0" err="1"/>
              <a:t>Múltiples</a:t>
            </a:r>
            <a:r>
              <a:rPr lang="en-US" dirty="0"/>
              <a:t> </a:t>
            </a:r>
            <a:r>
              <a:rPr lang="en-US" dirty="0" err="1"/>
              <a:t>escalas</a:t>
            </a:r>
            <a:r>
              <a:rPr lang="en-US" dirty="0"/>
              <a:t> </a:t>
            </a:r>
          </a:p>
          <a:p>
            <a:r>
              <a:rPr lang="es-ES" dirty="0"/>
              <a:t>analiza la información con diferentes tamaños de filtros en paralelo.</a:t>
            </a:r>
            <a:endParaRPr lang="en-US" dirty="0"/>
          </a:p>
          <a:p>
            <a:r>
              <a:rPr lang="es-ES" b="1" dirty="0" err="1"/>
              <a:t>ResNet</a:t>
            </a:r>
            <a:r>
              <a:rPr lang="es-ES" b="1" dirty="0"/>
              <a:t> </a:t>
            </a:r>
            <a:r>
              <a:rPr lang="en-US" dirty="0"/>
              <a:t>→ </a:t>
            </a:r>
            <a:r>
              <a:rPr lang="en-US" dirty="0" err="1"/>
              <a:t>Conexiones</a:t>
            </a:r>
            <a:r>
              <a:rPr lang="en-US" dirty="0"/>
              <a:t> residuals</a:t>
            </a:r>
            <a:r>
              <a:rPr lang="en-US" b="1" dirty="0"/>
              <a:t> Residual Network </a:t>
            </a:r>
            <a:r>
              <a:rPr lang="en-US" dirty="0"/>
              <a:t>→ </a:t>
            </a:r>
            <a:r>
              <a:rPr lang="en-US" b="1" dirty="0" err="1">
                <a:solidFill>
                  <a:srgbClr val="004A48"/>
                </a:solidFill>
              </a:rPr>
              <a:t>ResNet</a:t>
            </a:r>
            <a:endParaRPr lang="es-ES" b="1" dirty="0">
              <a:solidFill>
                <a:srgbClr val="004A48"/>
              </a:solidFill>
            </a:endParaRPr>
          </a:p>
          <a:p>
            <a:r>
              <a:rPr lang="es-ES" dirty="0"/>
              <a:t>permite profundizar mucho la red mediante conexiones de salto.</a:t>
            </a:r>
          </a:p>
          <a:p>
            <a:endParaRPr lang="es-ES" dirty="0"/>
          </a:p>
          <a:p>
            <a:pPr algn="just"/>
            <a:r>
              <a:rPr lang="es-ES" dirty="0"/>
              <a:t>Incorporan diferentes innovaciones arquitectónicas para mejorar aspectos como la </a:t>
            </a:r>
            <a:r>
              <a:rPr lang="es-ES" b="1" dirty="0"/>
              <a:t>profundidad de la red, el rendimiento y la estabilidad durante el entrenamiento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7C26F31-E210-99FF-10E0-A71D0773D71A}"/>
              </a:ext>
            </a:extLst>
          </p:cNvPr>
          <p:cNvSpPr txBox="1"/>
          <p:nvPr/>
        </p:nvSpPr>
        <p:spPr>
          <a:xfrm>
            <a:off x="399394" y="5657671"/>
            <a:ext cx="76725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D</a:t>
            </a:r>
            <a:r>
              <a:rPr lang="es-ES" dirty="0"/>
              <a:t>iseñar propia</a:t>
            </a:r>
            <a:r>
              <a:rPr lang="es-ES" b="1" dirty="0"/>
              <a:t> CNN</a:t>
            </a:r>
            <a:r>
              <a:rPr lang="es-ES" dirty="0"/>
              <a:t>, se parte de </a:t>
            </a:r>
            <a:r>
              <a:rPr lang="es-ES" b="1" dirty="0"/>
              <a:t>estructura fundamental</a:t>
            </a:r>
            <a:r>
              <a:rPr lang="es-ES" dirty="0"/>
              <a:t> realizando variaciones: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b="1" dirty="0"/>
              <a:t>Profundidad (</a:t>
            </a:r>
            <a:r>
              <a:rPr lang="es-ES" b="1" i="1" dirty="0" err="1"/>
              <a:t>depth</a:t>
            </a:r>
            <a:r>
              <a:rPr lang="es-ES" b="1" dirty="0"/>
              <a:t>)</a:t>
            </a:r>
            <a:r>
              <a:rPr lang="es-ES" dirty="0"/>
              <a:t> → número de capas.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b="1" dirty="0"/>
              <a:t>Ancho (</a:t>
            </a:r>
            <a:r>
              <a:rPr lang="es-ES" b="1" i="1" dirty="0" err="1"/>
              <a:t>width</a:t>
            </a:r>
            <a:r>
              <a:rPr lang="es-ES" b="1" dirty="0"/>
              <a:t>)</a:t>
            </a:r>
            <a:r>
              <a:rPr lang="es-ES" dirty="0"/>
              <a:t> → número de filtros o neuronas por capa.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b="1" dirty="0"/>
              <a:t>Conectividad (</a:t>
            </a:r>
            <a:r>
              <a:rPr lang="es-ES" b="1" i="1" dirty="0" err="1"/>
              <a:t>connectivity</a:t>
            </a:r>
            <a:r>
              <a:rPr lang="es-ES" b="1" dirty="0"/>
              <a:t>)</a:t>
            </a:r>
            <a:r>
              <a:rPr lang="es-ES" dirty="0"/>
              <a:t> → cómo se conectan las diferentes capas.</a:t>
            </a:r>
          </a:p>
        </p:txBody>
      </p:sp>
    </p:spTree>
    <p:extLst>
      <p:ext uri="{BB962C8B-B14F-4D97-AF65-F5344CB8AC3E}">
        <p14:creationId xmlns:p14="http://schemas.microsoft.com/office/powerpoint/2010/main" val="2247866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BADC067-72C8-FD8F-7B25-219C8DBFCF39}"/>
              </a:ext>
            </a:extLst>
          </p:cNvPr>
          <p:cNvSpPr txBox="1"/>
          <p:nvPr/>
        </p:nvSpPr>
        <p:spPr>
          <a:xfrm>
            <a:off x="0" y="0"/>
            <a:ext cx="11351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/>
              <a:t>ResNet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4E511BC-9D85-BFF2-46EC-ABEDEC67C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54" y="369332"/>
            <a:ext cx="2819545" cy="349267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FCC18CB-451D-C62F-580A-20B122DBD015}"/>
              </a:ext>
            </a:extLst>
          </p:cNvPr>
          <p:cNvSpPr txBox="1"/>
          <p:nvPr/>
        </p:nvSpPr>
        <p:spPr>
          <a:xfrm>
            <a:off x="4290848" y="0"/>
            <a:ext cx="1552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404040"/>
                </a:solidFill>
                <a:effectLst/>
                <a:highlight>
                  <a:srgbClr val="FCFCFC"/>
                </a:highlight>
                <a:latin typeface="Roboto Slab" panose="020F0502020204030204" pitchFamily="2" charset="0"/>
              </a:rPr>
              <a:t>Inception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AE86E36-F863-0C5C-AA54-DE11C6B2F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953" y="469283"/>
            <a:ext cx="5524784" cy="272429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A818397-F65D-1103-EA3C-B58F18F06E83}"/>
              </a:ext>
            </a:extLst>
          </p:cNvPr>
          <p:cNvSpPr txBox="1"/>
          <p:nvPr/>
        </p:nvSpPr>
        <p:spPr>
          <a:xfrm>
            <a:off x="4878114" y="3429000"/>
            <a:ext cx="5168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La misma información de entrada se analiza simultáneamente con diferentes tamaños de filtros.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030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03C2BDE-B89E-6732-E4F2-666B82472D3F}"/>
              </a:ext>
            </a:extLst>
          </p:cNvPr>
          <p:cNvSpPr txBox="1"/>
          <p:nvPr/>
        </p:nvSpPr>
        <p:spPr>
          <a:xfrm>
            <a:off x="493986" y="4159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Frank Rosenblatt (1928–1971)</a:t>
            </a:r>
            <a:r>
              <a:rPr lang="es-ES" dirty="0"/>
              <a:t>, investigador estadounidense , los primeros desarrollos de las </a:t>
            </a:r>
            <a:r>
              <a:rPr lang="es-ES" b="1" dirty="0"/>
              <a:t>redes neuronales artificiales</a:t>
            </a:r>
            <a:r>
              <a:rPr lang="es-ES" dirty="0"/>
              <a:t>.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FC6164-2ECB-2DB8-121A-A4D79DEAC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441" y="0"/>
            <a:ext cx="495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74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65530CE-7664-6656-1F89-552F1FDE4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959" y="379417"/>
            <a:ext cx="4743796" cy="597964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22D9667-9430-E50E-B3C3-540CE3A1F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8" y="379417"/>
            <a:ext cx="4743796" cy="609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1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37E8B01-B4DF-1713-EDAC-1D180CCC3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981" y="661216"/>
            <a:ext cx="4981660" cy="504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16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468CC86-B721-1F43-C304-C5C1960F9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9488"/>
            <a:ext cx="12192000" cy="419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130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4844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2386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547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8952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588</Words>
  <Application>Microsoft Office PowerPoint</Application>
  <PresentationFormat>Panorámica</PresentationFormat>
  <Paragraphs>43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Eco Sans Bold</vt:lpstr>
      <vt:lpstr>Jost</vt:lpstr>
      <vt:lpstr>questrial</vt:lpstr>
      <vt:lpstr>Roboto Slab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andres Niño niño</dc:creator>
  <cp:lastModifiedBy>Carlos andres Niño niño</cp:lastModifiedBy>
  <cp:revision>2</cp:revision>
  <dcterms:created xsi:type="dcterms:W3CDTF">2026-10-04T21:37:32Z</dcterms:created>
  <dcterms:modified xsi:type="dcterms:W3CDTF">2026-10-07T13:53:22Z</dcterms:modified>
</cp:coreProperties>
</file>