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87861-345D-B154-8044-55446BFB6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34DCB0-1A70-A10B-1BE1-CAE62F89D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FA1D1F-F533-9033-9F68-95FD380F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B545D-B15B-1D8B-8B9B-24E89780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C3E08-DBB6-2BBB-30EC-A423E1DC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4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20914-9A78-9021-E104-08D65AAA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3A2FE9-515A-1557-F06A-0C1ED604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F4AB9D-F67F-9EA1-90A1-FF5B9641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DE210D-EA7D-0E0C-0C81-D46E95A4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B32E08-8803-7188-F3CD-933668EE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8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AD09F-C89E-AC4E-3A23-D02A0B7D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D4C512-26C2-CCD7-76AD-C6F8126C7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4D074-9887-2D67-7519-9F1BE2B4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54BF60-92BA-9E1A-F8EC-D579AF1B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051E27-1795-4B27-88C1-80227545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3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0E04D-DE8D-8A3E-66D1-166FE20B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BD5E4-5D12-879C-4405-D47B5830C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D1F27F-6EB2-377B-7FC7-A1E07F13B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2AEDD5-2E76-A458-EBFA-338507E6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A610CB-4658-2605-F722-CC132059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0AB3F3-4FB1-CF27-9E9F-63A7FAA6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0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DF547-09B9-493B-8341-A3554B1E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D030C3-0189-671B-59A4-EFAD35038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C4C65F-D66F-1635-E309-1A03530F9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13845-5FC5-1A85-EA17-EE9A847AC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626363-E00D-69C2-850E-87BE89252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7D4EE0F-1E9F-EAA8-7238-27D8EA58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0B17B1-CE3F-85EA-BD75-60A7CD84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ACD1BC5-39EC-7891-B56D-EAF1078F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2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D34F4-780B-E656-21FB-B6BE9C89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E965B2-5971-93B6-9581-34D36537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62FC9D-D344-5810-BA63-B8675FC6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A787E4-7917-3C97-169D-D46F72F9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7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A2BFD0-DAAA-67B0-F59E-3F9B184A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C4E58F-3535-AE82-C986-B6C208ED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285BBD-2BF8-CFB8-1591-8D6183C2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9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E6258-5C3C-7951-3D61-15E66AA3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2A7742-5B84-D000-C513-87DE70867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D4E547-C4AE-3F96-BC4C-64DBC66E2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51C2BD-3391-93D1-5E9C-A5A0509C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389E73-D751-17F1-DD8E-EA47A78D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B31B64-0382-5255-F8DA-457B3BB9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1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2CE80-8D02-597B-15A1-D0C79C7F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CDD50E-C081-7008-F53C-D7861F51C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E39554-BB6E-E786-A340-AF19FEA3F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E02460-90D1-19A8-5203-AC3BA5EA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C1483D-F947-8171-133C-C17A3572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A32B5C-41D8-05AF-F887-A90C91E6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3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BD658-BC6E-95A1-48DC-47797376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D94E41-DD3C-9F97-6C2D-491D926E1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1942C4-FF90-6C34-B60B-D68A4BFF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5EC5E-EE11-0807-9B51-54742321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9C5F0-E9BF-84F6-59E0-D77B27D3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7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0BB17F-E48E-90E6-E7EF-40B2BFECA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8A334-7CA4-5052-52AD-667909C07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FFE103-0924-A1E0-DCEC-C581A928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9C7DE-1A54-7C29-8B0B-7A25061B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86816E-7047-B0BE-181E-76EE3BFB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7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6F4666D-10A0-1309-D975-DD4D896F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E023DA-0D46-14F7-B6FA-A0F5FE96B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220D2-42AB-BE31-6189-28B54AF46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8F15E-1620-4C1A-9A8E-2054523C029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6256B8-90B2-DD16-D8DD-8A6926734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F98E83-363C-A979-2F5C-588F03F38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9B728-32B3-4136-B9FD-ABB17190CF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D9E78-2FB5-2D2F-E7EB-90FA82446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8975" y="1346661"/>
            <a:ext cx="6140335" cy="974581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s-CO" sz="6600" dirty="0">
                <a:latin typeface="+mn-lt"/>
                <a:ea typeface="+mn-ea"/>
                <a:cs typeface="+mn-cs"/>
              </a:rPr>
              <a:t>Ciencia</a:t>
            </a:r>
            <a:r>
              <a:rPr lang="en-US" sz="6600" dirty="0">
                <a:latin typeface="+mn-lt"/>
                <a:ea typeface="+mn-ea"/>
                <a:cs typeface="+mn-cs"/>
              </a:rPr>
              <a:t>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8AD840-4C5B-0E1E-BD22-5F9849B90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4323" y="2281669"/>
            <a:ext cx="5749637" cy="620827"/>
          </a:xfrm>
        </p:spPr>
        <p:txBody>
          <a:bodyPr>
            <a:normAutofit/>
          </a:bodyPr>
          <a:lstStyle/>
          <a:p>
            <a:r>
              <a:rPr lang="es-CO" sz="3200" dirty="0"/>
              <a:t>I examen: </a:t>
            </a:r>
            <a:r>
              <a:rPr lang="es-CO" sz="3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Aprendizaje</a:t>
            </a:r>
            <a:r>
              <a:rPr lang="en-US" sz="3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 Profundo</a:t>
            </a:r>
            <a:endParaRPr lang="en-US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0858A4-0523-38A0-7E1E-E5278F93F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872" y="2679524"/>
            <a:ext cx="3857706" cy="216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1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9BE1FD5E-3F15-B498-BD44-DC9C0CE468A6}"/>
              </a:ext>
            </a:extLst>
          </p:cNvPr>
          <p:cNvSpPr txBox="1"/>
          <p:nvPr/>
        </p:nvSpPr>
        <p:spPr>
          <a:xfrm>
            <a:off x="411479" y="469307"/>
            <a:ext cx="10676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1. (</a:t>
            </a:r>
            <a:r>
              <a:rPr lang="es-ES" b="1" dirty="0">
                <a:solidFill>
                  <a:srgbClr val="C00000"/>
                </a:solidFill>
              </a:rPr>
              <a:t>0.5</a:t>
            </a:r>
            <a:r>
              <a:rPr lang="es-ES" b="1" dirty="0"/>
              <a:t>) Explique el proceso de entrenamiento de una red neuronal mediante </a:t>
            </a:r>
            <a:r>
              <a:rPr lang="es-ES" b="1" dirty="0" err="1"/>
              <a:t>Gradient</a:t>
            </a:r>
            <a:r>
              <a:rPr lang="es-ES" b="1" dirty="0"/>
              <a:t> </a:t>
            </a:r>
            <a:r>
              <a:rPr lang="es-ES" b="1" dirty="0" err="1"/>
              <a:t>Descent</a:t>
            </a:r>
            <a:r>
              <a:rPr lang="es-ES" b="1" dirty="0"/>
              <a:t>, definiendo:</a:t>
            </a:r>
          </a:p>
          <a:p>
            <a:endParaRPr lang="es-ES" dirty="0"/>
          </a:p>
          <a:p>
            <a:r>
              <a:rPr lang="es-ES" b="1" dirty="0"/>
              <a:t>a.</a:t>
            </a:r>
            <a:r>
              <a:rPr lang="es-ES" dirty="0"/>
              <a:t> ¿Qué es una época (</a:t>
            </a:r>
            <a:r>
              <a:rPr lang="es-ES" i="1" dirty="0" err="1"/>
              <a:t>epoch</a:t>
            </a:r>
            <a:r>
              <a:rPr lang="es-ES" dirty="0"/>
              <a:t>)?</a:t>
            </a:r>
          </a:p>
          <a:p>
            <a:r>
              <a:rPr lang="es-ES" b="1" dirty="0"/>
              <a:t>b.</a:t>
            </a:r>
            <a:r>
              <a:rPr lang="es-ES" dirty="0"/>
              <a:t> ¿Cuál es la diferencia entre </a:t>
            </a:r>
            <a:r>
              <a:rPr lang="es-ES" i="1" dirty="0" err="1"/>
              <a:t>batch</a:t>
            </a:r>
            <a:r>
              <a:rPr lang="es-ES" dirty="0"/>
              <a:t> y </a:t>
            </a:r>
            <a:r>
              <a:rPr lang="es-ES" i="1" dirty="0" err="1"/>
              <a:t>mini-batch</a:t>
            </a:r>
            <a:r>
              <a:rPr lang="es-ES" dirty="0"/>
              <a:t> y cómo se relacionan con una época?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6FD9D0-1495-85E2-F60F-989C9C9847C0}"/>
              </a:ext>
            </a:extLst>
          </p:cNvPr>
          <p:cNvSpPr txBox="1"/>
          <p:nvPr/>
        </p:nvSpPr>
        <p:spPr>
          <a:xfrm>
            <a:off x="409951" y="2185559"/>
            <a:ext cx="1055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2. (</a:t>
            </a:r>
            <a:r>
              <a:rPr lang="es-ES" b="1" dirty="0">
                <a:solidFill>
                  <a:srgbClr val="C00000"/>
                </a:solidFill>
              </a:rPr>
              <a:t>0.5</a:t>
            </a:r>
            <a:r>
              <a:rPr lang="es-ES" b="1" dirty="0"/>
              <a:t>) Mencione y explique brevemente dos técnicas utilizadas para reducir el </a:t>
            </a:r>
            <a:r>
              <a:rPr lang="es-ES" b="1" dirty="0" err="1"/>
              <a:t>overfitting</a:t>
            </a:r>
            <a:r>
              <a:rPr lang="es-ES" b="1" dirty="0"/>
              <a:t> en redes neuronales.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2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12D4145-8B64-4876-3BE7-C437B00532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5"/>
          <a:stretch/>
        </p:blipFill>
        <p:spPr>
          <a:xfrm>
            <a:off x="4639378" y="2461067"/>
            <a:ext cx="7499685" cy="41237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E3335E6-A246-C6A1-D860-DADD4456816A}"/>
              </a:ext>
            </a:extLst>
          </p:cNvPr>
          <p:cNvSpPr txBox="1"/>
          <p:nvPr/>
        </p:nvSpPr>
        <p:spPr>
          <a:xfrm>
            <a:off x="276725" y="376800"/>
            <a:ext cx="11437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3</a:t>
            </a:r>
            <a:r>
              <a:rPr lang="es-ES" dirty="0"/>
              <a:t>. (</a:t>
            </a:r>
            <a:r>
              <a:rPr lang="es-ES" b="1" dirty="0">
                <a:solidFill>
                  <a:srgbClr val="C00000"/>
                </a:solidFill>
              </a:rPr>
              <a:t>2.0</a:t>
            </a:r>
            <a:r>
              <a:rPr lang="es-ES" dirty="0"/>
              <a:t>) Considere la red neuronal mostrada en la figura, con </a:t>
            </a:r>
            <a:r>
              <a:rPr lang="es-ES" b="1" dirty="0"/>
              <a:t>2 entradas, 3 neuronas en la capa oculta y 2 neuronas en la capa de salida</a:t>
            </a:r>
            <a:r>
              <a:rPr lang="es-ES" dirty="0"/>
              <a:t>. Todas las neuronas utilizan la función de activación escalón: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98DAFCD-D65C-3E6E-647B-8271B4992267}"/>
                  </a:ext>
                </a:extLst>
              </p:cNvPr>
              <p:cNvSpPr txBox="1"/>
              <p:nvPr/>
            </p:nvSpPr>
            <p:spPr>
              <a:xfrm>
                <a:off x="4639378" y="1046849"/>
                <a:ext cx="2387065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1,    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0,     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98DAFCD-D65C-3E6E-647B-8271B499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378" y="1046849"/>
                <a:ext cx="2387065" cy="710194"/>
              </a:xfrm>
              <a:prstGeom prst="rect">
                <a:avLst/>
              </a:prstGeom>
              <a:blipFill>
                <a:blip r:embed="rId3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0DC985BA-D1C7-9ED8-2B86-02B65948041B}"/>
              </a:ext>
            </a:extLst>
          </p:cNvPr>
          <p:cNvSpPr txBox="1"/>
          <p:nvPr/>
        </p:nvSpPr>
        <p:spPr>
          <a:xfrm>
            <a:off x="175259" y="1776381"/>
            <a:ext cx="11841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red debe implementar simultáneamente las compuertas lógicas </a:t>
            </a:r>
            <a:r>
              <a:rPr lang="es-ES" b="1" dirty="0"/>
              <a:t>XOR y XNOR</a:t>
            </a:r>
            <a:r>
              <a:rPr lang="es-ES" dirty="0"/>
              <a:t>, de acuerdo con la siguiente tabla de verdad:</a:t>
            </a:r>
            <a:endParaRPr lang="en-US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1E342FE8-8F72-B27B-7D3F-F29E422280A8}"/>
              </a:ext>
            </a:extLst>
          </p:cNvPr>
          <p:cNvGraphicFramePr>
            <a:graphicFrameLocks noGrp="1"/>
          </p:cNvGraphicFramePr>
          <p:nvPr/>
        </p:nvGraphicFramePr>
        <p:xfrm>
          <a:off x="433137" y="2356923"/>
          <a:ext cx="3917482" cy="1828800"/>
        </p:xfrm>
        <a:graphic>
          <a:graphicData uri="http://schemas.openxmlformats.org/drawingml/2006/table">
            <a:tbl>
              <a:tblPr/>
              <a:tblGrid>
                <a:gridCol w="644893">
                  <a:extLst>
                    <a:ext uri="{9D8B030D-6E8A-4147-A177-3AD203B41FA5}">
                      <a16:colId xmlns:a16="http://schemas.microsoft.com/office/drawing/2014/main" val="3538548270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1871350574"/>
                    </a:ext>
                  </a:extLst>
                </a:gridCol>
                <a:gridCol w="1078030">
                  <a:extLst>
                    <a:ext uri="{9D8B030D-6E8A-4147-A177-3AD203B41FA5}">
                      <a16:colId xmlns:a16="http://schemas.microsoft.com/office/drawing/2014/main" val="2516244659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1491978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y1 (XOR)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y2 (XNOR)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26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6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09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54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8406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20C8158B-FF75-23B2-CAAF-D24F85DEB77C}"/>
              </a:ext>
            </a:extLst>
          </p:cNvPr>
          <p:cNvSpPr txBox="1"/>
          <p:nvPr/>
        </p:nvSpPr>
        <p:spPr>
          <a:xfrm>
            <a:off x="64568" y="4396933"/>
            <a:ext cx="46277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Los </a:t>
            </a:r>
            <a:r>
              <a:rPr lang="es-ES" b="1" dirty="0" err="1"/>
              <a:t>bias</a:t>
            </a:r>
            <a:r>
              <a:rPr lang="es-ES" b="1" dirty="0"/>
              <a:t> de todas las neuronas</a:t>
            </a:r>
            <a:r>
              <a:rPr lang="es-ES" dirty="0"/>
              <a:t> se implementan mediante una </a:t>
            </a:r>
            <a:r>
              <a:rPr lang="es-ES" b="1" dirty="0"/>
              <a:t>entrada ficticia igual a 1</a:t>
            </a:r>
            <a:r>
              <a:rPr lang="es-ES" dirty="0"/>
              <a:t>, con pesos fijos, como se indica a continuación.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237F9BD-10EA-D6BA-83C8-C8171A24E1F0}"/>
                  </a:ext>
                </a:extLst>
              </p:cNvPr>
              <p:cNvSpPr txBox="1"/>
              <p:nvPr/>
            </p:nvSpPr>
            <p:spPr>
              <a:xfrm>
                <a:off x="175259" y="5531473"/>
                <a:ext cx="4206241" cy="430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dirty="0"/>
                  <a:t>Ningun peso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s-CO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CC00FF"/>
                    </a:solidFill>
                  </a:rPr>
                  <a:t> </a:t>
                </a:r>
                <a:r>
                  <a:rPr lang="es-CO" dirty="0"/>
                  <a:t>puede ser igual </a:t>
                </a:r>
                <a:r>
                  <a:rPr lang="en-US" dirty="0"/>
                  <a:t>a cero</a:t>
                </a: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237F9BD-10EA-D6BA-83C8-C8171A24E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59" y="5531473"/>
                <a:ext cx="4206241" cy="430311"/>
              </a:xfrm>
              <a:prstGeom prst="rect">
                <a:avLst/>
              </a:prstGeom>
              <a:blipFill>
                <a:blip r:embed="rId4"/>
                <a:stretch>
                  <a:fillRect l="-1304" b="-14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64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2B2FE91F-3578-B24A-C0ED-0F274C5D79FA}"/>
              </a:ext>
            </a:extLst>
          </p:cNvPr>
          <p:cNvSpPr txBox="1"/>
          <p:nvPr/>
        </p:nvSpPr>
        <p:spPr>
          <a:xfrm>
            <a:off x="353727" y="326725"/>
            <a:ext cx="904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4. (</a:t>
            </a:r>
            <a:r>
              <a:rPr lang="es-ES" b="1" dirty="0">
                <a:solidFill>
                  <a:srgbClr val="C00000"/>
                </a:solidFill>
              </a:rPr>
              <a:t>1.5</a:t>
            </a:r>
            <a:r>
              <a:rPr lang="es-ES" b="1" dirty="0"/>
              <a:t>) Considere el siguiente fragmento de código utilizado para entrenar la red neuronal</a:t>
            </a:r>
            <a:r>
              <a:rPr lang="es-ES" dirty="0"/>
              <a:t>: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DC0ED2B-38D2-DFB0-82CB-19FBB5223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27" y="866227"/>
            <a:ext cx="8103016" cy="272429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A24F20A-4347-1C37-225D-7FFA604D7CE1}"/>
              </a:ext>
            </a:extLst>
          </p:cNvPr>
          <p:cNvSpPr txBox="1"/>
          <p:nvPr/>
        </p:nvSpPr>
        <p:spPr>
          <a:xfrm>
            <a:off x="9029443" y="2220018"/>
            <a:ext cx="3303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Durante la ejecución se obtiene:</a:t>
            </a:r>
            <a:endParaRPr lang="en-U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3BAD757-2BD0-B472-B2AC-6E7D5B74F344}"/>
              </a:ext>
            </a:extLst>
          </p:cNvPr>
          <p:cNvSpPr txBox="1"/>
          <p:nvPr/>
        </p:nvSpPr>
        <p:spPr>
          <a:xfrm>
            <a:off x="9212323" y="2589350"/>
            <a:ext cx="1340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Epoch 1/20</a:t>
            </a:r>
          </a:p>
          <a:p>
            <a:r>
              <a:rPr lang="en-US" dirty="0"/>
              <a:t>300/300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DA078-FCEF-2DC1-4994-881540B2D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15" y="3945353"/>
            <a:ext cx="1004155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a. </a:t>
            </a:r>
            <a:r>
              <a:rPr lang="en-US" altLang="en-US" dirty="0" err="1"/>
              <a:t>Explique</a:t>
            </a:r>
            <a:r>
              <a:rPr lang="en-US" altLang="en-US" dirty="0"/>
              <a:t> 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representa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300.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b. </a:t>
            </a:r>
            <a:r>
              <a:rPr lang="en-US" altLang="en-US" dirty="0" err="1"/>
              <a:t>Explique</a:t>
            </a:r>
            <a:r>
              <a:rPr lang="en-US" altLang="en-US" dirty="0"/>
              <a:t> 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relación</a:t>
            </a:r>
            <a:r>
              <a:rPr lang="en-US" altLang="en-US" dirty="0"/>
              <a:t> </a:t>
            </a:r>
            <a:r>
              <a:rPr lang="en-US" altLang="en-US" dirty="0" err="1"/>
              <a:t>existe</a:t>
            </a:r>
            <a:r>
              <a:rPr lang="en-US" altLang="en-US" dirty="0"/>
              <a:t> entre </a:t>
            </a:r>
            <a:r>
              <a:rPr lang="en-US" altLang="en-US" dirty="0" err="1"/>
              <a:t>batch_size</a:t>
            </a:r>
            <a:r>
              <a:rPr lang="en-US" altLang="en-US" dirty="0"/>
              <a:t>,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</a:t>
            </a:r>
            <a:r>
              <a:rPr lang="en-US" altLang="en-US" dirty="0" err="1"/>
              <a:t>muestras</a:t>
            </a:r>
            <a:r>
              <a:rPr lang="en-US" altLang="en-US" dirty="0"/>
              <a:t> de </a:t>
            </a:r>
            <a:r>
              <a:rPr lang="en-US" altLang="en-US" dirty="0" err="1"/>
              <a:t>entrenamiento</a:t>
            </a:r>
            <a:r>
              <a:rPr lang="en-US" altLang="en-US" dirty="0"/>
              <a:t> y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steps </a:t>
            </a:r>
            <a:r>
              <a:rPr lang="en-US" altLang="en-US" dirty="0" err="1"/>
              <a:t>por</a:t>
            </a:r>
            <a:r>
              <a:rPr lang="en-US" altLang="en-US" dirty="0"/>
              <a:t> </a:t>
            </a:r>
            <a:r>
              <a:rPr lang="en-US" altLang="en-US" dirty="0" err="1"/>
              <a:t>época</a:t>
            </a:r>
            <a:r>
              <a:rPr lang="en-US" altLang="en-US" dirty="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c. </a:t>
            </a:r>
            <a:r>
              <a:rPr lang="en-US" altLang="en-US" dirty="0"/>
              <a:t>¿</a:t>
            </a:r>
            <a:r>
              <a:rPr lang="en-US" altLang="en-US" dirty="0" err="1"/>
              <a:t>Qué</a:t>
            </a:r>
            <a:r>
              <a:rPr lang="en-US" altLang="en-US" dirty="0"/>
              <a:t> valor </a:t>
            </a:r>
            <a:r>
              <a:rPr lang="en-US" altLang="en-US" dirty="0" err="1"/>
              <a:t>aparecería</a:t>
            </a:r>
            <a:r>
              <a:rPr lang="en-US" altLang="en-US" dirty="0"/>
              <a:t> </a:t>
            </a:r>
            <a:r>
              <a:rPr lang="en-US" altLang="en-US" dirty="0" err="1"/>
              <a:t>aproximadamente</a:t>
            </a:r>
            <a:r>
              <a:rPr lang="en-US" altLang="en-US" dirty="0"/>
              <a:t> </a:t>
            </a:r>
            <a:r>
              <a:rPr lang="en-US" altLang="en-US" dirty="0" err="1"/>
              <a:t>en</a:t>
            </a:r>
            <a:r>
              <a:rPr lang="en-US" altLang="en-US" dirty="0"/>
              <a:t> steps </a:t>
            </a:r>
            <a:r>
              <a:rPr lang="en-US" altLang="en-US" dirty="0" err="1"/>
              <a:t>por</a:t>
            </a:r>
            <a:r>
              <a:rPr lang="en-US" altLang="en-US" dirty="0"/>
              <a:t> </a:t>
            </a:r>
            <a:r>
              <a:rPr lang="en-US" altLang="en-US" dirty="0" err="1"/>
              <a:t>época</a:t>
            </a:r>
            <a:r>
              <a:rPr lang="en-US" altLang="en-US" dirty="0"/>
              <a:t> </a:t>
            </a:r>
            <a:r>
              <a:rPr lang="en-US" altLang="en-US" dirty="0" err="1"/>
              <a:t>si</a:t>
            </a:r>
            <a:r>
              <a:rPr lang="en-US" altLang="en-US" dirty="0"/>
              <a:t> se cambia </a:t>
            </a:r>
            <a:r>
              <a:rPr lang="en-US" altLang="en-US" dirty="0" err="1"/>
              <a:t>batch_size</a:t>
            </a:r>
            <a:r>
              <a:rPr lang="en-US" altLang="en-US" dirty="0"/>
              <a:t>=128 </a:t>
            </a:r>
            <a:r>
              <a:rPr lang="en-US" altLang="en-US" dirty="0" err="1"/>
              <a:t>por</a:t>
            </a:r>
            <a:r>
              <a:rPr lang="en-US" altLang="en-US" dirty="0"/>
              <a:t>: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batch_size</a:t>
            </a:r>
            <a:r>
              <a:rPr lang="en-US" altLang="en-US" dirty="0"/>
              <a:t>=256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batch_size</a:t>
            </a:r>
            <a:r>
              <a:rPr lang="en-US" altLang="en-US" dirty="0"/>
              <a:t>=64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d. </a:t>
            </a:r>
            <a:r>
              <a:rPr lang="en-US" altLang="en-US" dirty="0"/>
              <a:t>¿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parámetro</a:t>
            </a:r>
            <a:r>
              <a:rPr lang="en-US" altLang="en-US" dirty="0"/>
              <a:t> </a:t>
            </a:r>
            <a:r>
              <a:rPr lang="en-US" altLang="en-US" dirty="0" err="1"/>
              <a:t>debe</a:t>
            </a:r>
            <a:r>
              <a:rPr lang="en-US" altLang="en-US" dirty="0"/>
              <a:t> </a:t>
            </a:r>
            <a:r>
              <a:rPr lang="en-US" altLang="en-US" dirty="0" err="1"/>
              <a:t>modificarse</a:t>
            </a:r>
            <a:r>
              <a:rPr lang="en-US" altLang="en-US" dirty="0"/>
              <a:t> </a:t>
            </a:r>
            <a:r>
              <a:rPr lang="en-US" altLang="en-US" dirty="0" err="1"/>
              <a:t>si</a:t>
            </a:r>
            <a:r>
              <a:rPr lang="en-US" altLang="en-US" dirty="0"/>
              <a:t> se </a:t>
            </a:r>
            <a:r>
              <a:rPr lang="en-US" altLang="en-US" dirty="0" err="1"/>
              <a:t>desea</a:t>
            </a:r>
            <a:r>
              <a:rPr lang="en-US" altLang="en-US" dirty="0"/>
              <a:t> </a:t>
            </a:r>
            <a:r>
              <a:rPr lang="en-US" altLang="en-US" dirty="0" err="1"/>
              <a:t>aumentar</a:t>
            </a:r>
            <a:r>
              <a:rPr lang="en-US" altLang="en-US" dirty="0"/>
              <a:t> o </a:t>
            </a:r>
            <a:r>
              <a:rPr lang="en-US" altLang="en-US" dirty="0" err="1"/>
              <a:t>disminuir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</a:t>
            </a:r>
            <a:r>
              <a:rPr lang="en-US" altLang="en-US" dirty="0" err="1"/>
              <a:t>veces</a:t>
            </a:r>
            <a:r>
              <a:rPr lang="en-US" altLang="en-US" dirty="0"/>
              <a:t> que </a:t>
            </a:r>
            <a:r>
              <a:rPr lang="en-US" altLang="en-US" dirty="0" err="1"/>
              <a:t>todo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conjunto de </a:t>
            </a:r>
            <a:r>
              <a:rPr lang="en-US" altLang="en-US" dirty="0" err="1"/>
              <a:t>entrenamiento</a:t>
            </a:r>
            <a:r>
              <a:rPr lang="en-US" altLang="en-US" dirty="0"/>
              <a:t> es </a:t>
            </a:r>
            <a:r>
              <a:rPr lang="en-US" altLang="en-US" dirty="0" err="1"/>
              <a:t>utilizado</a:t>
            </a:r>
            <a:r>
              <a:rPr lang="en-US" altLang="en-US" dirty="0"/>
              <a:t> </a:t>
            </a:r>
            <a:r>
              <a:rPr lang="en-US" altLang="en-US" dirty="0" err="1"/>
              <a:t>durante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aprendizaje</a:t>
            </a:r>
            <a:r>
              <a:rPr lang="en-US" altLang="en-US" dirty="0"/>
              <a:t>?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AD7901-C3C4-024B-DDD5-29631E91C672}"/>
              </a:ext>
            </a:extLst>
          </p:cNvPr>
          <p:cNvSpPr txBox="1"/>
          <p:nvPr/>
        </p:nvSpPr>
        <p:spPr>
          <a:xfrm>
            <a:off x="10111957" y="434447"/>
            <a:ext cx="1870364" cy="5232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Elección 1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78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F29EE6-CB1C-AD21-CAB7-81A913404C78}"/>
                  </a:ext>
                </a:extLst>
              </p:cNvPr>
              <p:cNvSpPr txBox="1"/>
              <p:nvPr/>
            </p:nvSpPr>
            <p:spPr>
              <a:xfrm>
                <a:off x="9435205" y="6498581"/>
                <a:ext cx="2898371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𝑁𝑢𝑒𝑣𝑜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p>
                      </m:sSup>
                      <m:r>
                        <a:rPr lang="es-C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C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F29EE6-CB1C-AD21-CAB7-81A913404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205" y="6498581"/>
                <a:ext cx="2898371" cy="374270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F370DE49-885A-B48E-D075-DA704199DE53}"/>
              </a:ext>
            </a:extLst>
          </p:cNvPr>
          <p:cNvSpPr txBox="1"/>
          <p:nvPr/>
        </p:nvSpPr>
        <p:spPr>
          <a:xfrm>
            <a:off x="9516772" y="6119597"/>
            <a:ext cx="263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Gradiente descendente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63468DB-E678-BEA0-B8DC-E5196A1C7C52}"/>
                  </a:ext>
                </a:extLst>
              </p:cNvPr>
              <p:cNvSpPr txBox="1"/>
              <p:nvPr/>
            </p:nvSpPr>
            <p:spPr>
              <a:xfrm>
                <a:off x="2049577" y="3323960"/>
                <a:ext cx="2676700" cy="402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𝑁𝑢𝑒𝑣𝑜</m:t>
                          </m:r>
                        </m:sup>
                      </m:sSub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p>
                      </m:sSubSup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s-CO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63468DB-E678-BEA0-B8DC-E5196A1C7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77" y="3323960"/>
                <a:ext cx="2676700" cy="402995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4E125C5-5253-ED5E-04D9-31C38CAA4DBD}"/>
                  </a:ext>
                </a:extLst>
              </p:cNvPr>
              <p:cNvSpPr txBox="1"/>
              <p:nvPr/>
            </p:nvSpPr>
            <p:spPr>
              <a:xfrm>
                <a:off x="4808134" y="3309867"/>
                <a:ext cx="2676700" cy="402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𝑁𝑢𝑒𝑣𝑜</m:t>
                          </m:r>
                        </m:sup>
                      </m:sSub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p>
                      </m:sSubSup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s-CO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4E125C5-5253-ED5E-04D9-31C38CAA4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134" y="3309867"/>
                <a:ext cx="2676700" cy="402995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3268F30-7EE3-4B60-E197-E82860DB1A2D}"/>
                  </a:ext>
                </a:extLst>
              </p:cNvPr>
              <p:cNvSpPr txBox="1"/>
              <p:nvPr/>
            </p:nvSpPr>
            <p:spPr>
              <a:xfrm>
                <a:off x="7728265" y="3404449"/>
                <a:ext cx="23854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𝑁𝑢𝑒𝑣𝑜</m:t>
                        </m:r>
                      </m:sup>
                    </m:sSup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𝑁𝑢𝑒𝑣𝑜</m:t>
                        </m:r>
                      </m:sup>
                    </m:sSup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s-CO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3268F30-7EE3-4B60-E197-E82860DB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65" y="3404449"/>
                <a:ext cx="2385497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B5453709-8290-0A91-3D35-1EA32E2D24AA}"/>
              </a:ext>
            </a:extLst>
          </p:cNvPr>
          <p:cNvSpPr txBox="1"/>
          <p:nvPr/>
        </p:nvSpPr>
        <p:spPr>
          <a:xfrm>
            <a:off x="382813" y="22880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a.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AB0B6F5-7294-DFC0-CD36-5E43105089E0}"/>
                  </a:ext>
                </a:extLst>
              </p:cNvPr>
              <p:cNvSpPr txBox="1"/>
              <p:nvPr/>
            </p:nvSpPr>
            <p:spPr>
              <a:xfrm>
                <a:off x="1657562" y="2291290"/>
                <a:ext cx="1656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AB0B6F5-7294-DFC0-CD36-5E4310508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562" y="2291290"/>
                <a:ext cx="1656119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B9E680B4-4A6D-B21F-1C77-7CAE0849A595}"/>
              </a:ext>
            </a:extLst>
          </p:cNvPr>
          <p:cNvSpPr txBox="1"/>
          <p:nvPr/>
        </p:nvSpPr>
        <p:spPr>
          <a:xfrm>
            <a:off x="3214813" y="2326663"/>
            <a:ext cx="4051036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deduzca las expresiones del gradiente: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1D3BF4-4923-B542-E138-219B71E62EFA}"/>
                  </a:ext>
                </a:extLst>
              </p:cNvPr>
              <p:cNvSpPr txBox="1"/>
              <p:nvPr/>
            </p:nvSpPr>
            <p:spPr>
              <a:xfrm>
                <a:off x="6736067" y="2334088"/>
                <a:ext cx="20870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1D3BF4-4923-B542-E138-219B71E62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067" y="2334088"/>
                <a:ext cx="2087033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uadroTexto 46">
            <a:extLst>
              <a:ext uri="{FF2B5EF4-FFF2-40B4-BE49-F238E27FC236}">
                <a16:creationId xmlns:a16="http://schemas.microsoft.com/office/drawing/2014/main" id="{84943B83-5230-8339-8EC8-014C75D82BF1}"/>
              </a:ext>
            </a:extLst>
          </p:cNvPr>
          <p:cNvSpPr txBox="1"/>
          <p:nvPr/>
        </p:nvSpPr>
        <p:spPr>
          <a:xfrm>
            <a:off x="382813" y="2872682"/>
            <a:ext cx="761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b.</a:t>
            </a:r>
            <a:r>
              <a:rPr lang="es-ES" dirty="0"/>
              <a:t> Escriba las ecuaciones de actualización de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 para:</a:t>
            </a:r>
            <a:endParaRPr lang="en-US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3B78873-8C3B-0098-7871-1AF11D338702}"/>
              </a:ext>
            </a:extLst>
          </p:cNvPr>
          <p:cNvSpPr txBox="1"/>
          <p:nvPr/>
        </p:nvSpPr>
        <p:spPr>
          <a:xfrm>
            <a:off x="382813" y="3804711"/>
            <a:ext cx="10883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c.</a:t>
            </a:r>
            <a:r>
              <a:rPr lang="es-ES" dirty="0"/>
              <a:t> Utilizando todos los ejemplos de la tabla de verdad, realice </a:t>
            </a:r>
            <a:r>
              <a:rPr lang="es-ES" b="1" dirty="0"/>
              <a:t>tres iteraciones de </a:t>
            </a:r>
            <a:r>
              <a:rPr lang="es-ES" b="1" dirty="0" err="1"/>
              <a:t>Gradient</a:t>
            </a:r>
            <a:r>
              <a:rPr lang="es-ES" b="1" dirty="0"/>
              <a:t> </a:t>
            </a:r>
            <a:r>
              <a:rPr lang="es-ES" b="1" dirty="0" err="1"/>
              <a:t>Descent</a:t>
            </a:r>
            <a:r>
              <a:rPr lang="es-ES" dirty="0"/>
              <a:t>, partiendo de: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751B1FD8-C9B3-A409-FCE0-A2C510B75A1D}"/>
                  </a:ext>
                </a:extLst>
              </p:cNvPr>
              <p:cNvSpPr txBox="1"/>
              <p:nvPr/>
            </p:nvSpPr>
            <p:spPr>
              <a:xfrm>
                <a:off x="4661674" y="4217665"/>
                <a:ext cx="244602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751B1FD8-C9B3-A409-FCE0-A2C510B7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674" y="4217665"/>
                <a:ext cx="2446020" cy="3815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0754ACA0-1F73-7C9C-7829-2939011EB0D7}"/>
              </a:ext>
            </a:extLst>
          </p:cNvPr>
          <p:cNvSpPr txBox="1"/>
          <p:nvPr/>
        </p:nvSpPr>
        <p:spPr>
          <a:xfrm>
            <a:off x="566896" y="4574048"/>
            <a:ext cx="283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iteración</a:t>
            </a:r>
            <a:r>
              <a:rPr lang="en-US" dirty="0"/>
              <a:t> </a:t>
            </a:r>
            <a:r>
              <a:rPr lang="en-US" dirty="0" err="1"/>
              <a:t>indique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A1FC8C3A-B96E-53A1-8CCD-B54A160E0B05}"/>
                  </a:ext>
                </a:extLst>
              </p:cNvPr>
              <p:cNvSpPr txBox="1"/>
              <p:nvPr/>
            </p:nvSpPr>
            <p:spPr>
              <a:xfrm>
                <a:off x="3105020" y="4567956"/>
                <a:ext cx="185468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b="0" i="1" smtClean="0">
                              <a:solidFill>
                                <a:srgbClr val="048986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A1FC8C3A-B96E-53A1-8CCD-B54A160E0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020" y="4567956"/>
                <a:ext cx="1854686" cy="381515"/>
              </a:xfrm>
              <a:prstGeom prst="rect">
                <a:avLst/>
              </a:prstGeom>
              <a:blipFill>
                <a:blip r:embed="rId9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uadroTexto 55">
            <a:extLst>
              <a:ext uri="{FF2B5EF4-FFF2-40B4-BE49-F238E27FC236}">
                <a16:creationId xmlns:a16="http://schemas.microsoft.com/office/drawing/2014/main" id="{B97C5F2D-3D71-458B-1589-E415956F3B50}"/>
              </a:ext>
            </a:extLst>
          </p:cNvPr>
          <p:cNvSpPr txBox="1"/>
          <p:nvPr/>
        </p:nvSpPr>
        <p:spPr>
          <a:xfrm>
            <a:off x="442965" y="5032691"/>
            <a:ext cx="10883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d.</a:t>
            </a:r>
            <a:r>
              <a:rPr lang="es-ES" dirty="0"/>
              <a:t> Analice cómo evolucionan los pesos durante las tres iteraciones y explique si el proceso de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 está llevando al modelo hacia una solución para la compuerta OR.</a:t>
            </a:r>
            <a:endParaRPr lang="en-US" dirty="0"/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B05601C6-BD8C-55EE-3782-7AEA855B3742}"/>
              </a:ext>
            </a:extLst>
          </p:cNvPr>
          <p:cNvGrpSpPr/>
          <p:nvPr/>
        </p:nvGrpSpPr>
        <p:grpSpPr>
          <a:xfrm>
            <a:off x="7535185" y="129855"/>
            <a:ext cx="1145495" cy="1520736"/>
            <a:chOff x="10319207" y="218235"/>
            <a:chExt cx="1145495" cy="15207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C1D29446-F3D8-5243-4500-2E34241D73FA}"/>
                    </a:ext>
                  </a:extLst>
                </p:cNvPr>
                <p:cNvSpPr txBox="1"/>
                <p:nvPr/>
              </p:nvSpPr>
              <p:spPr>
                <a:xfrm>
                  <a:off x="10319207" y="218235"/>
                  <a:ext cx="5174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C1D29446-F3D8-5243-4500-2E34241D7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9207" y="218235"/>
                  <a:ext cx="51746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189F0670-E4D0-93B7-B4B7-7DE500F8F24A}"/>
                    </a:ext>
                  </a:extLst>
                </p:cNvPr>
                <p:cNvSpPr txBox="1"/>
                <p:nvPr/>
              </p:nvSpPr>
              <p:spPr>
                <a:xfrm>
                  <a:off x="10676391" y="218235"/>
                  <a:ext cx="3518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189F0670-E4D0-93B7-B4B7-7DE500F8F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6391" y="218235"/>
                  <a:ext cx="351853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92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B60B3289-9866-3203-BC79-2FC679E0CB0D}"/>
                    </a:ext>
                  </a:extLst>
                </p:cNvPr>
                <p:cNvSpPr txBox="1"/>
                <p:nvPr/>
              </p:nvSpPr>
              <p:spPr>
                <a:xfrm>
                  <a:off x="11068448" y="218235"/>
                  <a:ext cx="3415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B60B3289-9866-3203-BC79-2FC679E0C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8448" y="218235"/>
                  <a:ext cx="341541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91699CD1-D4AD-A634-E771-FA5E4FA33EA0}"/>
                </a:ext>
              </a:extLst>
            </p:cNvPr>
            <p:cNvGrpSpPr/>
            <p:nvPr/>
          </p:nvGrpSpPr>
          <p:grpSpPr>
            <a:xfrm>
              <a:off x="10337597" y="324196"/>
              <a:ext cx="1127105" cy="1414775"/>
              <a:chOff x="10337597" y="324196"/>
              <a:chExt cx="1127105" cy="1414775"/>
            </a:xfrm>
          </p:grpSpPr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8B7FF07A-53A1-9A29-F5A8-25127EDF0C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5847" y="324196"/>
                <a:ext cx="0" cy="134692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7330CD85-3BE9-B58C-85F0-BA116E1C5E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1127" y="324196"/>
                <a:ext cx="0" cy="134692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8A3EF54B-BFC4-DA15-F768-05B5E74BE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83636" y="324196"/>
                <a:ext cx="0" cy="134692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34AB0ED6-9CA1-C924-D8B5-93910B41C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7956" y="324196"/>
                <a:ext cx="0" cy="134692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F979FB2F-F36B-AA95-9029-DB51DF77E251}"/>
                  </a:ext>
                </a:extLst>
              </p:cNvPr>
              <p:cNvCxnSpPr/>
              <p:nvPr/>
            </p:nvCxnSpPr>
            <p:spPr>
              <a:xfrm flipV="1">
                <a:off x="10337597" y="574777"/>
                <a:ext cx="1080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E56DAB6C-AF9D-2357-2EE7-362029BF58C8}"/>
                  </a:ext>
                </a:extLst>
              </p:cNvPr>
              <p:cNvCxnSpPr/>
              <p:nvPr/>
            </p:nvCxnSpPr>
            <p:spPr>
              <a:xfrm flipV="1">
                <a:off x="10337597" y="850944"/>
                <a:ext cx="1080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6B564108-643B-FE69-5C58-B069C9953322}"/>
                  </a:ext>
                </a:extLst>
              </p:cNvPr>
              <p:cNvCxnSpPr/>
              <p:nvPr/>
            </p:nvCxnSpPr>
            <p:spPr>
              <a:xfrm flipV="1">
                <a:off x="10384702" y="1127111"/>
                <a:ext cx="1080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54AED71D-1B5F-5AC8-F351-4005D900E2BE}"/>
                  </a:ext>
                </a:extLst>
              </p:cNvPr>
              <p:cNvCxnSpPr/>
              <p:nvPr/>
            </p:nvCxnSpPr>
            <p:spPr>
              <a:xfrm flipV="1">
                <a:off x="10337597" y="1403279"/>
                <a:ext cx="1080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CuadroTexto 73">
                    <a:extLst>
                      <a:ext uri="{FF2B5EF4-FFF2-40B4-BE49-F238E27FC236}">
                        <a16:creationId xmlns:a16="http://schemas.microsoft.com/office/drawing/2014/main" id="{EF6E1D7D-28CA-68ED-5482-A37F1AAEA808}"/>
                      </a:ext>
                    </a:extLst>
                  </p:cNvPr>
                  <p:cNvSpPr txBox="1"/>
                  <p:nvPr/>
                </p:nvSpPr>
                <p:spPr>
                  <a:xfrm>
                    <a:off x="10440597" y="798417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CuadroTexto 73">
                    <a:extLst>
                      <a:ext uri="{FF2B5EF4-FFF2-40B4-BE49-F238E27FC236}">
                        <a16:creationId xmlns:a16="http://schemas.microsoft.com/office/drawing/2014/main" id="{EF6E1D7D-28CA-68ED-5482-A37F1AAEA8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40597" y="798417"/>
                    <a:ext cx="246962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CuadroTexto 74">
                    <a:extLst>
                      <a:ext uri="{FF2B5EF4-FFF2-40B4-BE49-F238E27FC236}">
                        <a16:creationId xmlns:a16="http://schemas.microsoft.com/office/drawing/2014/main" id="{4BE2A857-C746-3C9E-B0D6-35EEBB4DD820}"/>
                      </a:ext>
                    </a:extLst>
                  </p:cNvPr>
                  <p:cNvSpPr txBox="1"/>
                  <p:nvPr/>
                </p:nvSpPr>
                <p:spPr>
                  <a:xfrm>
                    <a:off x="10440597" y="516526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CuadroTexto 74">
                    <a:extLst>
                      <a:ext uri="{FF2B5EF4-FFF2-40B4-BE49-F238E27FC236}">
                        <a16:creationId xmlns:a16="http://schemas.microsoft.com/office/drawing/2014/main" id="{4BE2A857-C746-3C9E-B0D6-35EEBB4DD8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40597" y="516526"/>
                    <a:ext cx="2469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CuadroTexto 75">
                    <a:extLst>
                      <a:ext uri="{FF2B5EF4-FFF2-40B4-BE49-F238E27FC236}">
                        <a16:creationId xmlns:a16="http://schemas.microsoft.com/office/drawing/2014/main" id="{8D1C0D1D-ABEC-6376-0B44-1135698D879A}"/>
                      </a:ext>
                    </a:extLst>
                  </p:cNvPr>
                  <p:cNvSpPr txBox="1"/>
                  <p:nvPr/>
                </p:nvSpPr>
                <p:spPr>
                  <a:xfrm>
                    <a:off x="10744338" y="516526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CuadroTexto 75">
                    <a:extLst>
                      <a:ext uri="{FF2B5EF4-FFF2-40B4-BE49-F238E27FC236}">
                        <a16:creationId xmlns:a16="http://schemas.microsoft.com/office/drawing/2014/main" id="{8D1C0D1D-ABEC-6376-0B44-1135698D87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44338" y="516526"/>
                    <a:ext cx="2469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78DC0B35-D65C-F430-55B8-405C8D9327D4}"/>
                      </a:ext>
                    </a:extLst>
                  </p:cNvPr>
                  <p:cNvSpPr txBox="1"/>
                  <p:nvPr/>
                </p:nvSpPr>
                <p:spPr>
                  <a:xfrm>
                    <a:off x="11080412" y="516526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78DC0B35-D65C-F430-55B8-405C8D9327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80412" y="516526"/>
                    <a:ext cx="246962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CuadroTexto 77">
                    <a:extLst>
                      <a:ext uri="{FF2B5EF4-FFF2-40B4-BE49-F238E27FC236}">
                        <a16:creationId xmlns:a16="http://schemas.microsoft.com/office/drawing/2014/main" id="{C50F94CD-C444-6F44-EB7B-E5954F20D3B5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9130" y="805520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8" name="CuadroTexto 77">
                    <a:extLst>
                      <a:ext uri="{FF2B5EF4-FFF2-40B4-BE49-F238E27FC236}">
                        <a16:creationId xmlns:a16="http://schemas.microsoft.com/office/drawing/2014/main" id="{C50F94CD-C444-6F44-EB7B-E5954F20D3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9130" y="805520"/>
                    <a:ext cx="246962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CuadroTexto 78">
                    <a:extLst>
                      <a:ext uri="{FF2B5EF4-FFF2-40B4-BE49-F238E27FC236}">
                        <a16:creationId xmlns:a16="http://schemas.microsoft.com/office/drawing/2014/main" id="{C8AA9AAC-BD5F-0B72-983C-EEC1A2F14F40}"/>
                      </a:ext>
                    </a:extLst>
                  </p:cNvPr>
                  <p:cNvSpPr txBox="1"/>
                  <p:nvPr/>
                </p:nvSpPr>
                <p:spPr>
                  <a:xfrm>
                    <a:off x="10440597" y="1068897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CuadroTexto 78">
                    <a:extLst>
                      <a:ext uri="{FF2B5EF4-FFF2-40B4-BE49-F238E27FC236}">
                        <a16:creationId xmlns:a16="http://schemas.microsoft.com/office/drawing/2014/main" id="{C8AA9AAC-BD5F-0B72-983C-EEC1A2F14F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40597" y="1068897"/>
                    <a:ext cx="24696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CuadroTexto 79">
                    <a:extLst>
                      <a:ext uri="{FF2B5EF4-FFF2-40B4-BE49-F238E27FC236}">
                        <a16:creationId xmlns:a16="http://schemas.microsoft.com/office/drawing/2014/main" id="{22B3A90D-B19F-5BD3-9801-C85088116ACF}"/>
                      </a:ext>
                    </a:extLst>
                  </p:cNvPr>
                  <p:cNvSpPr txBox="1"/>
                  <p:nvPr/>
                </p:nvSpPr>
                <p:spPr>
                  <a:xfrm>
                    <a:off x="10760910" y="1068897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CuadroTexto 79">
                    <a:extLst>
                      <a:ext uri="{FF2B5EF4-FFF2-40B4-BE49-F238E27FC236}">
                        <a16:creationId xmlns:a16="http://schemas.microsoft.com/office/drawing/2014/main" id="{22B3A90D-B19F-5BD3-9801-C85088116A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60910" y="1068897"/>
                    <a:ext cx="246962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CuadroTexto 80">
                    <a:extLst>
                      <a:ext uri="{FF2B5EF4-FFF2-40B4-BE49-F238E27FC236}">
                        <a16:creationId xmlns:a16="http://schemas.microsoft.com/office/drawing/2014/main" id="{A11FB9B3-DC32-D729-1C5A-606F8DB59F3F}"/>
                      </a:ext>
                    </a:extLst>
                  </p:cNvPr>
                  <p:cNvSpPr txBox="1"/>
                  <p:nvPr/>
                </p:nvSpPr>
                <p:spPr>
                  <a:xfrm>
                    <a:off x="10440597" y="1369639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1" name="CuadroTexto 80">
                    <a:extLst>
                      <a:ext uri="{FF2B5EF4-FFF2-40B4-BE49-F238E27FC236}">
                        <a16:creationId xmlns:a16="http://schemas.microsoft.com/office/drawing/2014/main" id="{A11FB9B3-DC32-D729-1C5A-606F8DB59F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40597" y="1369639"/>
                    <a:ext cx="246962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CuadroTexto 81">
                    <a:extLst>
                      <a:ext uri="{FF2B5EF4-FFF2-40B4-BE49-F238E27FC236}">
                        <a16:creationId xmlns:a16="http://schemas.microsoft.com/office/drawing/2014/main" id="{0B8DB144-8946-88E9-84D2-14AC1D3A3F47}"/>
                      </a:ext>
                    </a:extLst>
                  </p:cNvPr>
                  <p:cNvSpPr txBox="1"/>
                  <p:nvPr/>
                </p:nvSpPr>
                <p:spPr>
                  <a:xfrm>
                    <a:off x="10750842" y="1369639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2" name="CuadroTexto 81">
                    <a:extLst>
                      <a:ext uri="{FF2B5EF4-FFF2-40B4-BE49-F238E27FC236}">
                        <a16:creationId xmlns:a16="http://schemas.microsoft.com/office/drawing/2014/main" id="{0B8DB144-8946-88E9-84D2-14AC1D3A3F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50842" y="1369639"/>
                    <a:ext cx="246962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CuadroTexto 82">
                    <a:extLst>
                      <a:ext uri="{FF2B5EF4-FFF2-40B4-BE49-F238E27FC236}">
                        <a16:creationId xmlns:a16="http://schemas.microsoft.com/office/drawing/2014/main" id="{216E104E-8FD9-C25E-F2D6-CAA589A41FF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80412" y="806150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CuadroTexto 82">
                    <a:extLst>
                      <a:ext uri="{FF2B5EF4-FFF2-40B4-BE49-F238E27FC236}">
                        <a16:creationId xmlns:a16="http://schemas.microsoft.com/office/drawing/2014/main" id="{216E104E-8FD9-C25E-F2D6-CAA589A41F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80412" y="806150"/>
                    <a:ext cx="246962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CuadroTexto 83">
                    <a:extLst>
                      <a:ext uri="{FF2B5EF4-FFF2-40B4-BE49-F238E27FC236}">
                        <a16:creationId xmlns:a16="http://schemas.microsoft.com/office/drawing/2014/main" id="{6ED7F8AD-BC17-4590-5CC6-2A120BA678F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80412" y="1068897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4" name="CuadroTexto 83">
                    <a:extLst>
                      <a:ext uri="{FF2B5EF4-FFF2-40B4-BE49-F238E27FC236}">
                        <a16:creationId xmlns:a16="http://schemas.microsoft.com/office/drawing/2014/main" id="{6ED7F8AD-BC17-4590-5CC6-2A120BA678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80412" y="1068897"/>
                    <a:ext cx="246962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69A5D945-59F9-6B59-76AD-FBA00FF1BA0A}"/>
                      </a:ext>
                    </a:extLst>
                  </p:cNvPr>
                  <p:cNvSpPr txBox="1"/>
                  <p:nvPr/>
                </p:nvSpPr>
                <p:spPr>
                  <a:xfrm>
                    <a:off x="11080412" y="1369639"/>
                    <a:ext cx="2469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69A5D945-59F9-6B59-76AD-FBA00FF1BA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80412" y="1369639"/>
                    <a:ext cx="246962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971D20C9-5A40-14D1-66C3-A092170A3BF5}"/>
              </a:ext>
            </a:extLst>
          </p:cNvPr>
          <p:cNvGrpSpPr/>
          <p:nvPr/>
        </p:nvGrpSpPr>
        <p:grpSpPr>
          <a:xfrm>
            <a:off x="9029811" y="14748"/>
            <a:ext cx="3185544" cy="1635843"/>
            <a:chOff x="1029010" y="4703255"/>
            <a:chExt cx="3185544" cy="1635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6F002118-9084-5632-64D8-0F406746BC13}"/>
                    </a:ext>
                  </a:extLst>
                </p:cNvPr>
                <p:cNvSpPr/>
                <p:nvPr/>
              </p:nvSpPr>
              <p:spPr>
                <a:xfrm>
                  <a:off x="1029010" y="4960726"/>
                  <a:ext cx="432262" cy="440575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6F002118-9084-5632-64D8-0F406746BC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010" y="4960726"/>
                  <a:ext cx="432262" cy="440575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Elipse 4">
                  <a:extLst>
                    <a:ext uri="{FF2B5EF4-FFF2-40B4-BE49-F238E27FC236}">
                      <a16:creationId xmlns:a16="http://schemas.microsoft.com/office/drawing/2014/main" id="{F9CE1FAF-769C-4143-546C-E06C8AAE1E18}"/>
                    </a:ext>
                  </a:extLst>
                </p:cNvPr>
                <p:cNvSpPr/>
                <p:nvPr/>
              </p:nvSpPr>
              <p:spPr>
                <a:xfrm>
                  <a:off x="1029010" y="5863688"/>
                  <a:ext cx="432262" cy="440575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Elipse 4">
                  <a:extLst>
                    <a:ext uri="{FF2B5EF4-FFF2-40B4-BE49-F238E27FC236}">
                      <a16:creationId xmlns:a16="http://schemas.microsoft.com/office/drawing/2014/main" id="{F9CE1FAF-769C-4143-546C-E06C8AAE1E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010" y="5863688"/>
                  <a:ext cx="432262" cy="440575"/>
                </a:xfrm>
                <a:prstGeom prst="ellipse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F526BAA5-AE4E-59E4-07BA-F4D0B69890E4}"/>
                </a:ext>
              </a:extLst>
            </p:cNvPr>
            <p:cNvSpPr/>
            <p:nvPr/>
          </p:nvSpPr>
          <p:spPr>
            <a:xfrm>
              <a:off x="2370130" y="5388831"/>
              <a:ext cx="432262" cy="44057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Z</a:t>
              </a:r>
              <a:endParaRPr lang="en-US" dirty="0"/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A78C792E-7983-204A-74BF-310203CF52E1}"/>
                </a:ext>
              </a:extLst>
            </p:cNvPr>
            <p:cNvCxnSpPr>
              <a:stCxn id="4" idx="6"/>
              <a:endCxn id="6" idx="1"/>
            </p:cNvCxnSpPr>
            <p:nvPr/>
          </p:nvCxnSpPr>
          <p:spPr>
            <a:xfrm>
              <a:off x="1461272" y="5181014"/>
              <a:ext cx="972161" cy="272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F4FA95A2-A285-6D17-57F7-3E548A78DFAC}"/>
                </a:ext>
              </a:extLst>
            </p:cNvPr>
            <p:cNvCxnSpPr>
              <a:stCxn id="5" idx="6"/>
              <a:endCxn id="6" idx="3"/>
            </p:cNvCxnSpPr>
            <p:nvPr/>
          </p:nvCxnSpPr>
          <p:spPr>
            <a:xfrm flipV="1">
              <a:off x="1461272" y="5764885"/>
              <a:ext cx="972161" cy="319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B0F7B015-394B-E381-0835-06F63CCD5061}"/>
                </a:ext>
              </a:extLst>
            </p:cNvPr>
            <p:cNvCxnSpPr>
              <a:stCxn id="6" idx="6"/>
            </p:cNvCxnSpPr>
            <p:nvPr/>
          </p:nvCxnSpPr>
          <p:spPr>
            <a:xfrm flipV="1">
              <a:off x="2802392" y="5609118"/>
              <a:ext cx="432000" cy="1"/>
            </a:xfrm>
            <a:prstGeom prst="straightConnector1">
              <a:avLst/>
            </a:prstGeom>
            <a:ln w="952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B10EBC23-0284-4B0F-7C48-E15765C9115E}"/>
                    </a:ext>
                  </a:extLst>
                </p:cNvPr>
                <p:cNvSpPr txBox="1"/>
                <p:nvPr/>
              </p:nvSpPr>
              <p:spPr>
                <a:xfrm>
                  <a:off x="3666654" y="5401301"/>
                  <a:ext cx="547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B10EBC23-0284-4B0F-7C48-E15765C91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654" y="5401301"/>
                  <a:ext cx="547900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79755128-DD85-BA4F-F48F-98F5401CAF09}"/>
                    </a:ext>
                  </a:extLst>
                </p:cNvPr>
                <p:cNvSpPr txBox="1"/>
                <p:nvPr/>
              </p:nvSpPr>
              <p:spPr>
                <a:xfrm>
                  <a:off x="1704348" y="4915184"/>
                  <a:ext cx="378372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CO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79755128-DD85-BA4F-F48F-98F5401CA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4348" y="4915184"/>
                  <a:ext cx="378372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435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5B9D2859-AA9F-218D-A228-989B333A7C01}"/>
                    </a:ext>
                  </a:extLst>
                </p:cNvPr>
                <p:cNvSpPr txBox="1"/>
                <p:nvPr/>
              </p:nvSpPr>
              <p:spPr>
                <a:xfrm>
                  <a:off x="1762431" y="5957583"/>
                  <a:ext cx="378372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4898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solidFill>
                                  <a:srgbClr val="048986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CO" b="0" i="1" smtClean="0">
                                <a:solidFill>
                                  <a:srgbClr val="048986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5B9D2859-AA9F-218D-A228-989B333A7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2431" y="5957583"/>
                  <a:ext cx="378372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435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B7F1E833-4FCC-FDD6-6223-D6678A978D61}"/>
                </a:ext>
              </a:extLst>
            </p:cNvPr>
            <p:cNvCxnSpPr>
              <a:endCxn id="6" idx="0"/>
            </p:cNvCxnSpPr>
            <p:nvPr/>
          </p:nvCxnSpPr>
          <p:spPr>
            <a:xfrm flipH="1">
              <a:off x="2586261" y="4726537"/>
              <a:ext cx="0" cy="662294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B95F8DE4-ACBF-1273-536F-8D9AB813D38F}"/>
                    </a:ext>
                  </a:extLst>
                </p:cNvPr>
                <p:cNvSpPr txBox="1"/>
                <p:nvPr/>
              </p:nvSpPr>
              <p:spPr>
                <a:xfrm>
                  <a:off x="2514123" y="4703255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B95F8DE4-ACBF-1273-536F-8D9AB813D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123" y="4703255"/>
                  <a:ext cx="43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D3EE6C0F-1B3C-7CD4-983F-5703E6DA45E5}"/>
                    </a:ext>
                  </a:extLst>
                </p:cNvPr>
                <p:cNvSpPr txBox="1"/>
                <p:nvPr/>
              </p:nvSpPr>
              <p:spPr>
                <a:xfrm>
                  <a:off x="3135746" y="5379861"/>
                  <a:ext cx="5479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D3EE6C0F-1B3C-7CD4-983F-5703E6DA4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746" y="5379861"/>
                  <a:ext cx="547901" cy="369332"/>
                </a:xfrm>
                <a:prstGeom prst="rect">
                  <a:avLst/>
                </a:prstGeom>
                <a:blipFill>
                  <a:blip r:embed="rId31"/>
                  <a:stretch>
                    <a:fillRect t="-6557" r="-26667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onector recto de flecha 88">
              <a:extLst>
                <a:ext uri="{FF2B5EF4-FFF2-40B4-BE49-F238E27FC236}">
                  <a16:creationId xmlns:a16="http://schemas.microsoft.com/office/drawing/2014/main" id="{144C0094-DC70-157C-FF3F-9962D32E00D1}"/>
                </a:ext>
              </a:extLst>
            </p:cNvPr>
            <p:cNvCxnSpPr/>
            <p:nvPr/>
          </p:nvCxnSpPr>
          <p:spPr>
            <a:xfrm flipV="1">
              <a:off x="3597857" y="5609118"/>
              <a:ext cx="216000" cy="1"/>
            </a:xfrm>
            <a:prstGeom prst="straightConnector1">
              <a:avLst/>
            </a:prstGeom>
            <a:ln w="952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CuadroTexto 92">
            <a:extLst>
              <a:ext uri="{FF2B5EF4-FFF2-40B4-BE49-F238E27FC236}">
                <a16:creationId xmlns:a16="http://schemas.microsoft.com/office/drawing/2014/main" id="{BCD010AA-737F-D4D2-71DC-08F8BD9B22BD}"/>
              </a:ext>
            </a:extLst>
          </p:cNvPr>
          <p:cNvSpPr txBox="1"/>
          <p:nvPr/>
        </p:nvSpPr>
        <p:spPr>
          <a:xfrm>
            <a:off x="356325" y="506586"/>
            <a:ext cx="6168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/>
              <a:t>4. (</a:t>
            </a:r>
            <a:r>
              <a:rPr lang="es-ES" b="1" dirty="0">
                <a:solidFill>
                  <a:srgbClr val="C00000"/>
                </a:solidFill>
              </a:rPr>
              <a:t>2.0</a:t>
            </a:r>
            <a:r>
              <a:rPr lang="es-ES" b="1" dirty="0"/>
              <a:t>)  Considere una neurona </a:t>
            </a:r>
            <a:r>
              <a:rPr lang="es-ES" dirty="0"/>
              <a:t>que implementa una compuerta OR. A partir de la tabla de verdad, analice cómo el algoritmo de </a:t>
            </a:r>
            <a:r>
              <a:rPr lang="es-ES" b="1" dirty="0" err="1"/>
              <a:t>Gradient</a:t>
            </a:r>
            <a:r>
              <a:rPr lang="es-ES" b="1" dirty="0"/>
              <a:t> </a:t>
            </a:r>
            <a:r>
              <a:rPr lang="es-ES" b="1" dirty="0" err="1"/>
              <a:t>Descent</a:t>
            </a:r>
            <a:r>
              <a:rPr lang="es-ES" b="1" dirty="0"/>
              <a:t> </a:t>
            </a:r>
            <a:r>
              <a:rPr lang="es-ES" dirty="0"/>
              <a:t>ajusta los pesos y el sesgo para minimizar el error de predicción.</a:t>
            </a:r>
            <a:endParaRPr lang="en-US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E798398E-7835-390A-5E24-CAF39B0CE36A}"/>
              </a:ext>
            </a:extLst>
          </p:cNvPr>
          <p:cNvSpPr txBox="1"/>
          <p:nvPr/>
        </p:nvSpPr>
        <p:spPr>
          <a:xfrm>
            <a:off x="3954168" y="6014450"/>
            <a:ext cx="1870364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FFFF00"/>
                </a:solidFill>
              </a:rPr>
              <a:t>Elección 2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7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2B2FE91F-3578-B24A-C0ED-0F274C5D79FA}"/>
              </a:ext>
            </a:extLst>
          </p:cNvPr>
          <p:cNvSpPr txBox="1"/>
          <p:nvPr/>
        </p:nvSpPr>
        <p:spPr>
          <a:xfrm>
            <a:off x="353727" y="326725"/>
            <a:ext cx="904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4. (</a:t>
            </a:r>
            <a:r>
              <a:rPr lang="es-ES" b="1" dirty="0">
                <a:solidFill>
                  <a:srgbClr val="C00000"/>
                </a:solidFill>
              </a:rPr>
              <a:t>0.5</a:t>
            </a:r>
            <a:r>
              <a:rPr lang="es-ES" b="1" dirty="0"/>
              <a:t>) Considere el siguiente fragmento de código utilizado para entrenar la red neuronal</a:t>
            </a:r>
            <a:r>
              <a:rPr lang="es-ES" dirty="0"/>
              <a:t>: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DC0ED2B-38D2-DFB0-82CB-19FBB5223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27" y="866227"/>
            <a:ext cx="8103016" cy="272429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A24F20A-4347-1C37-225D-7FFA604D7CE1}"/>
              </a:ext>
            </a:extLst>
          </p:cNvPr>
          <p:cNvSpPr txBox="1"/>
          <p:nvPr/>
        </p:nvSpPr>
        <p:spPr>
          <a:xfrm>
            <a:off x="9029443" y="2220018"/>
            <a:ext cx="3303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Durante la ejecución se obtiene:</a:t>
            </a:r>
            <a:endParaRPr lang="en-U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3BAD757-2BD0-B472-B2AC-6E7D5B74F344}"/>
              </a:ext>
            </a:extLst>
          </p:cNvPr>
          <p:cNvSpPr txBox="1"/>
          <p:nvPr/>
        </p:nvSpPr>
        <p:spPr>
          <a:xfrm>
            <a:off x="9212323" y="2589350"/>
            <a:ext cx="1340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Epoch 1/20</a:t>
            </a:r>
          </a:p>
          <a:p>
            <a:r>
              <a:rPr lang="en-US" dirty="0"/>
              <a:t>300/300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DA078-FCEF-2DC1-4994-881540B2D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15" y="3945353"/>
            <a:ext cx="1004155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a. </a:t>
            </a:r>
            <a:r>
              <a:rPr lang="en-US" altLang="en-US" dirty="0" err="1"/>
              <a:t>Explique</a:t>
            </a:r>
            <a:r>
              <a:rPr lang="en-US" altLang="en-US" dirty="0"/>
              <a:t> 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representa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300.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b. </a:t>
            </a:r>
            <a:r>
              <a:rPr lang="en-US" altLang="en-US" dirty="0" err="1"/>
              <a:t>Explique</a:t>
            </a:r>
            <a:r>
              <a:rPr lang="en-US" altLang="en-US" dirty="0"/>
              <a:t> 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relación</a:t>
            </a:r>
            <a:r>
              <a:rPr lang="en-US" altLang="en-US" dirty="0"/>
              <a:t> </a:t>
            </a:r>
            <a:r>
              <a:rPr lang="en-US" altLang="en-US" dirty="0" err="1"/>
              <a:t>existe</a:t>
            </a:r>
            <a:r>
              <a:rPr lang="en-US" altLang="en-US" dirty="0"/>
              <a:t> entre </a:t>
            </a:r>
            <a:r>
              <a:rPr lang="en-US" altLang="en-US" dirty="0" err="1"/>
              <a:t>batch_size</a:t>
            </a:r>
            <a:r>
              <a:rPr lang="en-US" altLang="en-US" dirty="0"/>
              <a:t>,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</a:t>
            </a:r>
            <a:r>
              <a:rPr lang="en-US" altLang="en-US" dirty="0" err="1"/>
              <a:t>muestras</a:t>
            </a:r>
            <a:r>
              <a:rPr lang="en-US" altLang="en-US" dirty="0"/>
              <a:t> de </a:t>
            </a:r>
            <a:r>
              <a:rPr lang="en-US" altLang="en-US" dirty="0" err="1"/>
              <a:t>entrenamiento</a:t>
            </a:r>
            <a:r>
              <a:rPr lang="en-US" altLang="en-US" dirty="0"/>
              <a:t> y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steps </a:t>
            </a:r>
            <a:r>
              <a:rPr lang="en-US" altLang="en-US" dirty="0" err="1"/>
              <a:t>por</a:t>
            </a:r>
            <a:r>
              <a:rPr lang="en-US" altLang="en-US" dirty="0"/>
              <a:t> </a:t>
            </a:r>
            <a:r>
              <a:rPr lang="en-US" altLang="en-US" dirty="0" err="1"/>
              <a:t>época</a:t>
            </a:r>
            <a:r>
              <a:rPr lang="en-US" altLang="en-US" dirty="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c. </a:t>
            </a:r>
            <a:r>
              <a:rPr lang="en-US" altLang="en-US" dirty="0"/>
              <a:t>¿</a:t>
            </a:r>
            <a:r>
              <a:rPr lang="en-US" altLang="en-US" dirty="0" err="1"/>
              <a:t>Qué</a:t>
            </a:r>
            <a:r>
              <a:rPr lang="en-US" altLang="en-US" dirty="0"/>
              <a:t> valor </a:t>
            </a:r>
            <a:r>
              <a:rPr lang="en-US" altLang="en-US" dirty="0" err="1"/>
              <a:t>aparecería</a:t>
            </a:r>
            <a:r>
              <a:rPr lang="en-US" altLang="en-US" dirty="0"/>
              <a:t> </a:t>
            </a:r>
            <a:r>
              <a:rPr lang="en-US" altLang="en-US" dirty="0" err="1"/>
              <a:t>aproximadamente</a:t>
            </a:r>
            <a:r>
              <a:rPr lang="en-US" altLang="en-US" dirty="0"/>
              <a:t> </a:t>
            </a:r>
            <a:r>
              <a:rPr lang="en-US" altLang="en-US" dirty="0" err="1"/>
              <a:t>en</a:t>
            </a:r>
            <a:r>
              <a:rPr lang="en-US" altLang="en-US" dirty="0"/>
              <a:t> steps </a:t>
            </a:r>
            <a:r>
              <a:rPr lang="en-US" altLang="en-US" dirty="0" err="1"/>
              <a:t>por</a:t>
            </a:r>
            <a:r>
              <a:rPr lang="en-US" altLang="en-US" dirty="0"/>
              <a:t> </a:t>
            </a:r>
            <a:r>
              <a:rPr lang="en-US" altLang="en-US" dirty="0" err="1"/>
              <a:t>época</a:t>
            </a:r>
            <a:r>
              <a:rPr lang="en-US" altLang="en-US" dirty="0"/>
              <a:t> </a:t>
            </a:r>
            <a:r>
              <a:rPr lang="en-US" altLang="en-US" dirty="0" err="1"/>
              <a:t>si</a:t>
            </a:r>
            <a:r>
              <a:rPr lang="en-US" altLang="en-US" dirty="0"/>
              <a:t> se cambia </a:t>
            </a:r>
            <a:r>
              <a:rPr lang="en-US" altLang="en-US" dirty="0" err="1"/>
              <a:t>batch_size</a:t>
            </a:r>
            <a:r>
              <a:rPr lang="en-US" altLang="en-US" dirty="0"/>
              <a:t>=128 </a:t>
            </a:r>
            <a:r>
              <a:rPr lang="en-US" altLang="en-US" dirty="0" err="1"/>
              <a:t>por</a:t>
            </a:r>
            <a:r>
              <a:rPr lang="en-US" altLang="en-US" dirty="0"/>
              <a:t>: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batch_size</a:t>
            </a:r>
            <a:r>
              <a:rPr lang="en-US" altLang="en-US" dirty="0"/>
              <a:t>=256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/>
              <a:t>batch_size</a:t>
            </a:r>
            <a:r>
              <a:rPr lang="en-US" altLang="en-US" dirty="0"/>
              <a:t>=64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d. </a:t>
            </a:r>
            <a:r>
              <a:rPr lang="en-US" altLang="en-US" dirty="0"/>
              <a:t>¿</a:t>
            </a:r>
            <a:r>
              <a:rPr lang="en-US" altLang="en-US" dirty="0" err="1"/>
              <a:t>Qué</a:t>
            </a:r>
            <a:r>
              <a:rPr lang="en-US" altLang="en-US" dirty="0"/>
              <a:t> </a:t>
            </a:r>
            <a:r>
              <a:rPr lang="en-US" altLang="en-US" dirty="0" err="1"/>
              <a:t>parámetro</a:t>
            </a:r>
            <a:r>
              <a:rPr lang="en-US" altLang="en-US" dirty="0"/>
              <a:t> </a:t>
            </a:r>
            <a:r>
              <a:rPr lang="en-US" altLang="en-US" dirty="0" err="1"/>
              <a:t>debe</a:t>
            </a:r>
            <a:r>
              <a:rPr lang="en-US" altLang="en-US" dirty="0"/>
              <a:t> </a:t>
            </a:r>
            <a:r>
              <a:rPr lang="en-US" altLang="en-US" dirty="0" err="1"/>
              <a:t>modificarse</a:t>
            </a:r>
            <a:r>
              <a:rPr lang="en-US" altLang="en-US" dirty="0"/>
              <a:t> </a:t>
            </a:r>
            <a:r>
              <a:rPr lang="en-US" altLang="en-US" dirty="0" err="1"/>
              <a:t>si</a:t>
            </a:r>
            <a:r>
              <a:rPr lang="en-US" altLang="en-US" dirty="0"/>
              <a:t> se </a:t>
            </a:r>
            <a:r>
              <a:rPr lang="en-US" altLang="en-US" dirty="0" err="1"/>
              <a:t>desea</a:t>
            </a:r>
            <a:r>
              <a:rPr lang="en-US" altLang="en-US" dirty="0"/>
              <a:t> </a:t>
            </a:r>
            <a:r>
              <a:rPr lang="en-US" altLang="en-US" dirty="0" err="1"/>
              <a:t>aumentar</a:t>
            </a:r>
            <a:r>
              <a:rPr lang="en-US" altLang="en-US" dirty="0"/>
              <a:t> o </a:t>
            </a:r>
            <a:r>
              <a:rPr lang="en-US" altLang="en-US" dirty="0" err="1"/>
              <a:t>disminuir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número</a:t>
            </a:r>
            <a:r>
              <a:rPr lang="en-US" altLang="en-US" dirty="0"/>
              <a:t> de </a:t>
            </a:r>
            <a:r>
              <a:rPr lang="en-US" altLang="en-US" dirty="0" err="1"/>
              <a:t>veces</a:t>
            </a:r>
            <a:r>
              <a:rPr lang="en-US" altLang="en-US" dirty="0"/>
              <a:t> que </a:t>
            </a:r>
            <a:r>
              <a:rPr lang="en-US" altLang="en-US" dirty="0" err="1"/>
              <a:t>todo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conjunto de </a:t>
            </a:r>
            <a:r>
              <a:rPr lang="en-US" altLang="en-US" dirty="0" err="1"/>
              <a:t>entrenamiento</a:t>
            </a:r>
            <a:r>
              <a:rPr lang="en-US" altLang="en-US" dirty="0"/>
              <a:t> es </a:t>
            </a:r>
            <a:r>
              <a:rPr lang="en-US" altLang="en-US" dirty="0" err="1"/>
              <a:t>utilizado</a:t>
            </a:r>
            <a:r>
              <a:rPr lang="en-US" altLang="en-US" dirty="0"/>
              <a:t> </a:t>
            </a:r>
            <a:r>
              <a:rPr lang="en-US" altLang="en-US" dirty="0" err="1"/>
              <a:t>durante</a:t>
            </a:r>
            <a:r>
              <a:rPr lang="en-US" altLang="en-US" dirty="0"/>
              <a:t> </a:t>
            </a:r>
            <a:r>
              <a:rPr lang="en-US" altLang="en-US" dirty="0" err="1"/>
              <a:t>el</a:t>
            </a:r>
            <a:r>
              <a:rPr lang="en-US" altLang="en-US" dirty="0"/>
              <a:t> </a:t>
            </a:r>
            <a:r>
              <a:rPr lang="en-US" altLang="en-US" dirty="0" err="1"/>
              <a:t>aprendizaje</a:t>
            </a:r>
            <a:r>
              <a:rPr lang="en-US" altLang="en-US" dirty="0"/>
              <a:t>?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B6AA58-1308-6658-C7E0-0294D730946D}"/>
              </a:ext>
            </a:extLst>
          </p:cNvPr>
          <p:cNvSpPr txBox="1"/>
          <p:nvPr/>
        </p:nvSpPr>
        <p:spPr>
          <a:xfrm>
            <a:off x="9526385" y="326725"/>
            <a:ext cx="2311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solidFill>
                  <a:srgbClr val="C00000"/>
                </a:solidFill>
              </a:rPr>
              <a:t>Computador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8A1872-0678-C641-A95C-B4AC1F4C5178}"/>
              </a:ext>
            </a:extLst>
          </p:cNvPr>
          <p:cNvSpPr txBox="1"/>
          <p:nvPr/>
        </p:nvSpPr>
        <p:spPr>
          <a:xfrm>
            <a:off x="9746197" y="864015"/>
            <a:ext cx="1870364" cy="5232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Elección 1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97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4117</TotalTime>
  <Words>651</Words>
  <Application>Microsoft Office PowerPoint</Application>
  <PresentationFormat>Panorámica</PresentationFormat>
  <Paragraphs>95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Tema de Office</vt:lpstr>
      <vt:lpstr>Ciencia de Datos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andres Niño niño</dc:creator>
  <cp:lastModifiedBy>Carlos andres Niño niño</cp:lastModifiedBy>
  <cp:revision>22</cp:revision>
  <dcterms:created xsi:type="dcterms:W3CDTF">2026-09-13T22:25:28Z</dcterms:created>
  <dcterms:modified xsi:type="dcterms:W3CDTF">2026-09-16T19:04:39Z</dcterms:modified>
</cp:coreProperties>
</file>