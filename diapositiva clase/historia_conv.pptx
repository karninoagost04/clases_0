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5" r:id="rId3"/>
    <p:sldId id="314" r:id="rId4"/>
    <p:sldId id="322" r:id="rId5"/>
    <p:sldId id="330" r:id="rId6"/>
    <p:sldId id="320" r:id="rId7"/>
    <p:sldId id="318" r:id="rId8"/>
    <p:sldId id="319" r:id="rId9"/>
    <p:sldId id="331" r:id="rId10"/>
    <p:sldId id="323" r:id="rId11"/>
    <p:sldId id="324" r:id="rId12"/>
    <p:sldId id="328" r:id="rId13"/>
    <p:sldId id="329" r:id="rId14"/>
    <p:sldId id="326" r:id="rId15"/>
    <p:sldId id="327" r:id="rId16"/>
    <p:sldId id="325" r:id="rId17"/>
    <p:sldId id="317" r:id="rId18"/>
    <p:sldId id="316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257" r:id="rId35"/>
    <p:sldId id="258" r:id="rId36"/>
    <p:sldId id="259" r:id="rId37"/>
    <p:sldId id="26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176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9CE19-5509-5845-C418-C02B56460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9A0E32-C137-7913-87CF-C503ED941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66F1B8-F46A-8685-FFB7-4C1B523B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8AB1DA-B89B-FDDC-098C-B3CC26B6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B42F80-B427-27A3-7B5D-A64822AB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8995D-2DB8-08FF-658E-64BA4962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EC2DFA-84CE-3F52-AF45-E1618FC45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14E22D-55CE-A89E-08B5-35203DAD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D7E387-AEEC-DF0E-A56D-8B4F2B46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43A17A-D1CA-C4E8-AFF5-1AF4F34B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0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E0C51-49B2-5264-44EE-8F273572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73BF3C-8881-3C3D-BAAF-3764E869B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84BFC6-CF0F-9D6E-BA78-48DA7502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73E351-9EB9-D4DB-EBAC-0C939B88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8E3F05-D599-1BE2-7E22-AD4BF045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4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9971A-19AE-9F91-EA8C-69C537A8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DBA47A-E41D-8FBB-0C79-CEBA59028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97146D-0189-8D4D-7789-21DAF7267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FD0F9E-3F6D-40D6-D7C4-8D5867ED2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A841DA-1771-9E18-69E3-0BF69DAD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32E609-6C9B-9985-D3CD-30C17C59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0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ECFB1-73FE-B109-748D-0C138B98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CC0A69-B980-597E-2B4A-01C86725F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D0B9DA-FBCB-3EA7-4409-7E9AD586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66F045-25DB-B084-EDE5-B78697434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47B66D8-F4A5-9288-B2F0-B1BE6D7DF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AA42B29-10E8-F061-85B1-63C1B750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7B6EE-70BC-2C1C-3513-55E2D92D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F9F05EB-5B9B-0D2D-AC54-AA093280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4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6C643-9D8B-2EE5-DE28-BCCFFD83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091E1F-4EA8-CDAB-E875-935C5EC5D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50A8E4-C688-0EAF-4366-27BD8671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446913-7F9B-B492-A9AD-9F47B005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8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C35F54-FD5E-81EC-D66D-6CD0E986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4F9944-F5C3-5D40-2DB9-16AE1BD6B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88394C-BADA-492B-0996-4B6009BE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7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B1FAE-FAAB-B828-C03D-FDAD8983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469066-F81D-8D21-8505-F4971DAD6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85278F-650C-9116-09CC-2AC4B8077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5C62F0-5831-6686-3947-C22A0A46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F4BD1D-8619-2615-A41C-90B1E8AB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DC326E-B5D4-1B38-A404-00F4586C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5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EA17B-061F-D058-7F25-FA2F581D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33079F-7676-06B9-8252-048DB0880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ABDFA7-68BF-9D2E-8D85-FD58458B7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267D41-3896-9BAA-FBBB-EF6CE8C0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D92A93-5D41-5B92-7D1F-0DDCC3900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182278-2CE9-6294-A4B6-8C8B5207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6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43114-787E-96D2-B34E-DAF73BB4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3F00FD-A068-4932-0284-D42A0969D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65F56E-E684-8AE6-6531-6EDDA7E0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F21D50-BAC6-BEFA-672E-E03701A9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64347B-4A50-5BE6-1B85-9E1B669C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0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52715E-A26A-516A-67F7-8F62FEE70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677E78-C421-BCBA-39BF-29AA91783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5AE094-5CFA-6748-D1E8-BB619BFB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123D81-9FD2-946D-7997-0CF64247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B5896A-2F94-13D1-3200-0C1D06D2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7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3381B4-7A19-6AC3-6AE0-E585F249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ABE905-436B-F6D5-4835-ECB3A6B52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8FBF88-284E-D547-BA82-BD14DEE77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89A0D-2CC5-4F67-AEF3-D9B45C0A0A7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803951-555A-9E51-5F07-0C45FBE45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0F7E4-021A-847C-0F66-613185AEA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76249-3555-44C8-804C-2EACDF3E819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6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sidual_neural_network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kgmid=%2Fg%2F11f8bqvtw4&amp;q=Andrej+Karpathy" TargetMode="External"/><Relationship Id="rId2" Type="http://schemas.openxmlformats.org/officeDocument/2006/relationships/hyperlink" Target="https://www.google.com/search?kgmid=%2Fg%2F11h8ls042_&amp;q=Olga+Russakovsk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pm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1D80CF6-EAFC-DB9B-3C35-41F8C4D3A7F7}"/>
              </a:ext>
            </a:extLst>
          </p:cNvPr>
          <p:cNvSpPr txBox="1"/>
          <p:nvPr/>
        </p:nvSpPr>
        <p:spPr>
          <a:xfrm>
            <a:off x="1924050" y="2825234"/>
            <a:ext cx="83439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solidFill>
                  <a:srgbClr val="007676"/>
                </a:solidFill>
                <a:latin typeface="Eco Sans Bold"/>
              </a:rPr>
              <a:t>Arquitecturas</a:t>
            </a:r>
            <a:r>
              <a:rPr lang="en-US" sz="2800" b="1" dirty="0">
                <a:solidFill>
                  <a:srgbClr val="007676"/>
                </a:solidFill>
                <a:latin typeface="Eco Sans Bold"/>
              </a:rPr>
              <a:t> de redes </a:t>
            </a:r>
            <a:r>
              <a:rPr lang="en-US" sz="2800" b="1" dirty="0" err="1">
                <a:solidFill>
                  <a:srgbClr val="007676"/>
                </a:solidFill>
                <a:latin typeface="Eco Sans Bold"/>
              </a:rPr>
              <a:t>neuronales</a:t>
            </a:r>
            <a:r>
              <a:rPr lang="en-US" sz="2800" b="1" dirty="0">
                <a:solidFill>
                  <a:srgbClr val="007676"/>
                </a:solidFill>
                <a:latin typeface="Eco Sans Bold"/>
              </a:rPr>
              <a:t> </a:t>
            </a:r>
            <a:r>
              <a:rPr lang="en-US" sz="2800" b="1" dirty="0" err="1">
                <a:solidFill>
                  <a:srgbClr val="007676"/>
                </a:solidFill>
                <a:latin typeface="Eco Sans Bold"/>
              </a:rPr>
              <a:t>convolucionales</a:t>
            </a:r>
            <a:r>
              <a:rPr lang="en-US" sz="2800" b="1" dirty="0">
                <a:solidFill>
                  <a:srgbClr val="007676"/>
                </a:solidFill>
                <a:latin typeface="Eco Sans Bold"/>
              </a:rPr>
              <a:t> (CNN)</a:t>
            </a:r>
          </a:p>
        </p:txBody>
      </p:sp>
    </p:spTree>
    <p:extLst>
      <p:ext uri="{BB962C8B-B14F-4D97-AF65-F5344CB8AC3E}">
        <p14:creationId xmlns:p14="http://schemas.microsoft.com/office/powerpoint/2010/main" val="4185097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6773AF4-96D8-8DB7-4FC2-C05744638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84" y="410507"/>
            <a:ext cx="8427350" cy="416964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8969790-9CB3-76BA-D2E5-E4DC8443600A}"/>
              </a:ext>
            </a:extLst>
          </p:cNvPr>
          <p:cNvSpPr txBox="1"/>
          <p:nvPr/>
        </p:nvSpPr>
        <p:spPr>
          <a:xfrm>
            <a:off x="1136765" y="4707651"/>
            <a:ext cx="86639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u="none" strike="noStrike" dirty="0">
                <a:effectLst/>
                <a:latin typeface="Eco Sans Bold"/>
              </a:rPr>
              <a:t>El </a:t>
            </a:r>
            <a:r>
              <a:rPr lang="es-ES" b="1" u="none" strike="noStrike" dirty="0" err="1">
                <a:effectLst/>
                <a:latin typeface="Eco Sans Bold"/>
              </a:rPr>
              <a:t>ImageNet</a:t>
            </a:r>
            <a:r>
              <a:rPr lang="es-ES" b="1" u="none" strike="noStrike" dirty="0">
                <a:effectLst/>
                <a:latin typeface="Eco Sans Bold"/>
              </a:rPr>
              <a:t> </a:t>
            </a:r>
            <a:r>
              <a:rPr lang="es-ES" b="1" u="none" strike="noStrike" dirty="0" err="1">
                <a:effectLst/>
                <a:latin typeface="Eco Sans Bold"/>
              </a:rPr>
              <a:t>Large</a:t>
            </a:r>
            <a:r>
              <a:rPr lang="es-ES" b="1" u="none" strike="noStrike" dirty="0">
                <a:effectLst/>
                <a:latin typeface="Eco Sans Bold"/>
              </a:rPr>
              <a:t> </a:t>
            </a:r>
            <a:r>
              <a:rPr lang="es-ES" b="1" u="none" strike="noStrike" dirty="0" err="1">
                <a:effectLst/>
                <a:latin typeface="Eco Sans Bold"/>
              </a:rPr>
              <a:t>Scale</a:t>
            </a:r>
            <a:r>
              <a:rPr lang="es-ES" b="1" u="none" strike="noStrike" dirty="0">
                <a:effectLst/>
                <a:latin typeface="Eco Sans Bold"/>
              </a:rPr>
              <a:t> Visual </a:t>
            </a:r>
            <a:r>
              <a:rPr lang="es-ES" b="1" u="none" strike="noStrike" dirty="0" err="1">
                <a:effectLst/>
                <a:latin typeface="Eco Sans Bold"/>
              </a:rPr>
              <a:t>Recognition</a:t>
            </a:r>
            <a:r>
              <a:rPr lang="es-ES" b="1" u="none" strike="noStrike" dirty="0">
                <a:effectLst/>
                <a:latin typeface="Eco Sans Bold"/>
              </a:rPr>
              <a:t> </a:t>
            </a:r>
            <a:r>
              <a:rPr lang="es-ES" b="1" u="none" strike="noStrike" dirty="0" err="1">
                <a:effectLst/>
                <a:latin typeface="Eco Sans Bold"/>
              </a:rPr>
              <a:t>Challenge</a:t>
            </a:r>
            <a:r>
              <a:rPr lang="es-ES" b="1" u="none" strike="noStrike" dirty="0">
                <a:effectLst/>
                <a:latin typeface="Eco Sans Bold"/>
              </a:rPr>
              <a:t> (ILSVRC) </a:t>
            </a:r>
            <a:r>
              <a:rPr lang="es-ES" b="0" u="none" strike="noStrike" dirty="0">
                <a:effectLst/>
                <a:latin typeface="Eco Sans Bold"/>
              </a:rPr>
              <a:t>fue una competencia anual (2010-2017) que impulsó la revolución del aprendizaje profundo en la visión por computadora</a:t>
            </a:r>
            <a:r>
              <a:rPr lang="es-ES" dirty="0">
                <a:latin typeface="Eco Sans Bold"/>
              </a:rPr>
              <a:t>, al desafiar a investigadores de todo el mundo a desarrollar algoritmos capaces de clasificar y detectar objetos con la mayor precisión posible utilizando el masivo conjunto de datos de </a:t>
            </a:r>
            <a:r>
              <a:rPr lang="es-ES" b="0" u="none" strike="noStrike" dirty="0" err="1">
                <a:effectLst/>
                <a:latin typeface="Eco Sans Bold"/>
              </a:rPr>
              <a:t>ImageNet</a:t>
            </a:r>
            <a:endParaRPr lang="en-US" dirty="0">
              <a:latin typeface="Eco Sans Bold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2BE8C5-C567-A1F4-B296-960DF4F1785A}"/>
              </a:ext>
            </a:extLst>
          </p:cNvPr>
          <p:cNvSpPr txBox="1"/>
          <p:nvPr/>
        </p:nvSpPr>
        <p:spPr>
          <a:xfrm rot="16200000">
            <a:off x="-118457" y="2692935"/>
            <a:ext cx="2055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none" strike="noStrike" dirty="0" err="1">
                <a:effectLst/>
                <a:latin typeface="Google Sans"/>
              </a:rPr>
              <a:t>tasa</a:t>
            </a:r>
            <a:r>
              <a:rPr lang="en-US" b="1" u="none" strike="noStrike" dirty="0">
                <a:effectLst/>
                <a:latin typeface="Google Sans"/>
              </a:rPr>
              <a:t> de error Top-5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099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01CA78-1704-EDD8-A7B7-06DC85A4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133253"/>
            <a:ext cx="7747257" cy="392770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FD4F4CB-5E99-6581-4E3B-6AABA5D4F8C6}"/>
              </a:ext>
            </a:extLst>
          </p:cNvPr>
          <p:cNvSpPr txBox="1"/>
          <p:nvPr/>
        </p:nvSpPr>
        <p:spPr>
          <a:xfrm>
            <a:off x="1511300" y="5093531"/>
            <a:ext cx="6146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u="none" strike="noStrike" dirty="0">
                <a:effectLst/>
                <a:latin typeface="Eco Sans Bold"/>
              </a:rPr>
              <a:t>“</a:t>
            </a:r>
            <a:r>
              <a:rPr lang="es-ES" sz="2000" b="1" u="none" strike="noStrike" dirty="0" err="1">
                <a:effectLst/>
                <a:latin typeface="Eco Sans Bold"/>
              </a:rPr>
              <a:t>Shallow</a:t>
            </a:r>
            <a:r>
              <a:rPr lang="es-ES" sz="2000" b="1" u="none" strike="noStrike" dirty="0">
                <a:effectLst/>
                <a:latin typeface="Eco Sans Bold"/>
              </a:rPr>
              <a:t>"</a:t>
            </a:r>
            <a:r>
              <a:rPr lang="es-ES" sz="2000" dirty="0">
                <a:latin typeface="Eco Sans Bold"/>
              </a:rPr>
              <a:t> (superficiales). Dependían de algoritmos matemáticos tradicionales donde los ingenieros humanos tenían que diseñar a mano las características que la máquina debía buscar (programar manualmente cómo detectar un borde, un color o una textura específica).</a:t>
            </a:r>
            <a:endParaRPr lang="en-US" sz="2000" dirty="0">
              <a:latin typeface="Eco Sans Bold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18B9444-5D04-7039-5E0E-D11991996A15}"/>
              </a:ext>
            </a:extLst>
          </p:cNvPr>
          <p:cNvSpPr txBox="1"/>
          <p:nvPr/>
        </p:nvSpPr>
        <p:spPr>
          <a:xfrm>
            <a:off x="7912100" y="1183429"/>
            <a:ext cx="431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none" strike="noStrike" dirty="0" err="1">
                <a:effectLst/>
                <a:latin typeface="Google Sans"/>
              </a:rPr>
              <a:t>AlexNet</a:t>
            </a:r>
            <a:r>
              <a:rPr lang="en-US" b="1" u="none" strike="noStrike" dirty="0">
                <a:effectLst/>
                <a:latin typeface="Google Sans"/>
              </a:rPr>
              <a:t>:</a:t>
            </a:r>
            <a:r>
              <a:rPr lang="en-US" dirty="0"/>
              <a:t> </a:t>
            </a:r>
            <a:r>
              <a:rPr lang="en-US" dirty="0" err="1"/>
              <a:t>Introdujo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u="none" strike="noStrike" dirty="0" err="1">
                <a:effectLst/>
                <a:latin typeface="Google Sans"/>
              </a:rPr>
              <a:t>arquitectura</a:t>
            </a:r>
            <a:r>
              <a:rPr lang="en-US" b="1" u="none" strike="noStrike" dirty="0">
                <a:effectLst/>
                <a:latin typeface="Google Sans"/>
              </a:rPr>
              <a:t> profunda de 8 </a:t>
            </a:r>
            <a:r>
              <a:rPr lang="en-US" b="1" u="none" strike="noStrike" dirty="0" err="1">
                <a:effectLst/>
                <a:latin typeface="Google Sans"/>
              </a:rPr>
              <a:t>capas</a:t>
            </a:r>
            <a:r>
              <a:rPr lang="en-US" dirty="0"/>
              <a:t> </a:t>
            </a:r>
            <a:r>
              <a:rPr lang="en-US" dirty="0" err="1"/>
              <a:t>basada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Redes </a:t>
            </a:r>
            <a:r>
              <a:rPr lang="en-US" dirty="0" err="1"/>
              <a:t>Neuronales</a:t>
            </a:r>
            <a:r>
              <a:rPr lang="en-US" dirty="0"/>
              <a:t> </a:t>
            </a:r>
            <a:r>
              <a:rPr lang="en-US" dirty="0" err="1"/>
              <a:t>Convolucionales</a:t>
            </a:r>
            <a:r>
              <a:rPr lang="en-US" dirty="0"/>
              <a:t> (CNN)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65BB0FF-A9B7-2CA2-1EFD-1E82CA0505B5}"/>
              </a:ext>
            </a:extLst>
          </p:cNvPr>
          <p:cNvSpPr txBox="1"/>
          <p:nvPr/>
        </p:nvSpPr>
        <p:spPr>
          <a:xfrm>
            <a:off x="7912100" y="2106759"/>
            <a:ext cx="38004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En lugar de que un humano diseñara las reglas, la red neuronal </a:t>
            </a:r>
            <a:r>
              <a:rPr lang="es-ES" b="1" u="none" strike="noStrike" dirty="0">
                <a:effectLst/>
                <a:latin typeface="Google Sans"/>
              </a:rPr>
              <a:t>aprendió por sí misma</a:t>
            </a:r>
            <a:r>
              <a:rPr lang="es-ES" dirty="0"/>
              <a:t> a extraer las características 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87B4E7-1570-97E5-FD1A-80BFAAA1CFBC}"/>
              </a:ext>
            </a:extLst>
          </p:cNvPr>
          <p:cNvSpPr txBox="1"/>
          <p:nvPr/>
        </p:nvSpPr>
        <p:spPr>
          <a:xfrm>
            <a:off x="403225" y="4060955"/>
            <a:ext cx="6115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verdadero padre de las Redes Neuronales Convolucionales (CNN) modernas es el científico francés </a:t>
            </a:r>
            <a:r>
              <a:rPr lang="es-ES" b="1" u="none" strike="noStrike" dirty="0">
                <a:effectLst/>
                <a:latin typeface="Google Sans"/>
              </a:rPr>
              <a:t>Yann </a:t>
            </a:r>
            <a:r>
              <a:rPr lang="es-ES" b="1" u="none" strike="noStrike" dirty="0" err="1">
                <a:effectLst/>
                <a:latin typeface="Google Sans"/>
              </a:rPr>
              <a:t>LeCun</a:t>
            </a:r>
            <a:r>
              <a:rPr lang="es-ES" dirty="0"/>
              <a:t>, quien en 1989 introdujo la arquitectura </a:t>
            </a:r>
            <a:r>
              <a:rPr lang="es-ES" b="1" u="none" strike="noStrike" dirty="0">
                <a:effectLst/>
                <a:latin typeface="Google Sans"/>
              </a:rPr>
              <a:t>LeNet-5</a:t>
            </a:r>
            <a:r>
              <a:rPr lang="es-ES" dirty="0"/>
              <a:t> en los laboratorios AT&amp;T Bell</a:t>
            </a:r>
            <a:endParaRPr lang="en-U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B3071FD-E0A3-B2AA-996A-1F1AB82EEDBD}"/>
              </a:ext>
            </a:extLst>
          </p:cNvPr>
          <p:cNvSpPr txBox="1"/>
          <p:nvPr/>
        </p:nvSpPr>
        <p:spPr>
          <a:xfrm>
            <a:off x="8150482" y="3550913"/>
            <a:ext cx="32162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 err="1"/>
              <a:t>AlexNet</a:t>
            </a:r>
            <a:r>
              <a:rPr lang="es-ES" dirty="0"/>
              <a:t> apiló 5 capas de convolución, algunas seguidas de Max </a:t>
            </a:r>
            <a:r>
              <a:rPr lang="es-ES" dirty="0" err="1"/>
              <a:t>Pooling</a:t>
            </a:r>
            <a:r>
              <a:rPr lang="es-ES" dirty="0"/>
              <a:t>, y finalizó con 3 capas totalmente conectadas.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24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AF15CF7-D994-3629-CD07-1906249EA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46"/>
            <a:ext cx="8427350" cy="4169648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61EF0CF-23F3-D4B8-603E-674446593003}"/>
              </a:ext>
            </a:extLst>
          </p:cNvPr>
          <p:cNvSpPr/>
          <p:nvPr/>
        </p:nvSpPr>
        <p:spPr>
          <a:xfrm>
            <a:off x="2842953" y="1795549"/>
            <a:ext cx="931025" cy="2784606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9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2D119B2-9BA6-BA3E-C519-95053B0AE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700" y="698500"/>
            <a:ext cx="79248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85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212852A-28FA-F3F6-DC9D-DA319002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42" y="41107"/>
            <a:ext cx="9199058" cy="469151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70F332-C0E9-3E3C-B264-C3C7651143C5}"/>
              </a:ext>
            </a:extLst>
          </p:cNvPr>
          <p:cNvSpPr txBox="1"/>
          <p:nvPr/>
        </p:nvSpPr>
        <p:spPr>
          <a:xfrm>
            <a:off x="205047" y="4709556"/>
            <a:ext cx="5448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Antes de 2014, redes como </a:t>
            </a:r>
            <a:r>
              <a:rPr lang="es-ES" dirty="0" err="1"/>
              <a:t>AlexNet</a:t>
            </a:r>
            <a:r>
              <a:rPr lang="es-ES" dirty="0"/>
              <a:t> utilizaban filtros convolucionales muy grandes al inicio (como de 11x11 o 7x7) para abarcar un gran trozo de la imagen de golpe. 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CB39C0-74A1-1C77-4ED4-8CAD7C3B2267}"/>
              </a:ext>
            </a:extLst>
          </p:cNvPr>
          <p:cNvSpPr txBox="1"/>
          <p:nvPr/>
        </p:nvSpPr>
        <p:spPr>
          <a:xfrm>
            <a:off x="205047" y="59346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Menos parámetros significan </a:t>
            </a:r>
            <a:r>
              <a:rPr lang="es-ES" b="1" u="none" strike="noStrike" dirty="0">
                <a:effectLst/>
                <a:latin typeface="Google Sans"/>
              </a:rPr>
              <a:t>menos memoria</a:t>
            </a:r>
            <a:r>
              <a:rPr lang="es-ES" dirty="0"/>
              <a:t>, </a:t>
            </a:r>
            <a:r>
              <a:rPr lang="es-ES" b="1" u="none" strike="noStrike" dirty="0">
                <a:effectLst/>
                <a:latin typeface="Google Sans"/>
              </a:rPr>
              <a:t>entrenamientos más rápidos</a:t>
            </a:r>
            <a:r>
              <a:rPr lang="es-ES" dirty="0"/>
              <a:t> y </a:t>
            </a:r>
            <a:r>
              <a:rPr lang="es-ES" b="1" u="none" strike="noStrike" dirty="0">
                <a:effectLst/>
                <a:latin typeface="Google Sans"/>
              </a:rPr>
              <a:t>menor riesgo de que la IA memorice de más (</a:t>
            </a:r>
            <a:r>
              <a:rPr lang="es-ES" b="1" u="none" strike="noStrike" dirty="0" err="1">
                <a:effectLst/>
                <a:latin typeface="Google Sans"/>
              </a:rPr>
              <a:t>overfitting</a:t>
            </a:r>
            <a:r>
              <a:rPr lang="es-ES" b="1" u="none" strike="noStrike" dirty="0">
                <a:effectLst/>
                <a:latin typeface="Google Sans"/>
              </a:rPr>
              <a:t>)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AC838F-C819-D893-7BEC-895C851132AE}"/>
              </a:ext>
            </a:extLst>
          </p:cNvPr>
          <p:cNvSpPr txBox="1"/>
          <p:nvPr/>
        </p:nvSpPr>
        <p:spPr>
          <a:xfrm>
            <a:off x="6301047" y="44912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https://www.youtube.com/watch?v=SF30aWo7N3Y&amp;t=164s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323185-D81B-6347-7F7B-795E5FDEE79B}"/>
              </a:ext>
            </a:extLst>
          </p:cNvPr>
          <p:cNvSpPr txBox="1"/>
          <p:nvPr/>
        </p:nvSpPr>
        <p:spPr>
          <a:xfrm>
            <a:off x="6301047" y="4881265"/>
            <a:ext cx="55099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Al tener tres capas de 3x3 en vez de una de 7x7, se pueden aplicar tres funciones de activación (como </a:t>
            </a:r>
            <a:r>
              <a:rPr lang="es-ES" b="1" u="none" strike="noStrike" dirty="0" err="1">
                <a:effectLst/>
                <a:latin typeface="Google Sans"/>
              </a:rPr>
              <a:t>ReLU</a:t>
            </a:r>
            <a:r>
              <a:rPr lang="es-ES" dirty="0"/>
              <a:t>) consecutivas en lugar de solo una. Esto hace que la red sea mucho más capaz de aprender características visuales extremadamente complejas y abstractas</a:t>
            </a:r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B4DB0E5-F0D3-916E-CC08-3E7DE578B25C}"/>
              </a:ext>
            </a:extLst>
          </p:cNvPr>
          <p:cNvSpPr txBox="1"/>
          <p:nvPr/>
        </p:nvSpPr>
        <p:spPr>
          <a:xfrm>
            <a:off x="6149570" y="6423630"/>
            <a:ext cx="619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https://www.youtube.com/watch?v=rhCiuu4AW_w&amp;t=1227s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211633C-C702-7327-E858-C5892E9E6197}"/>
              </a:ext>
            </a:extLst>
          </p:cNvPr>
          <p:cNvSpPr txBox="1"/>
          <p:nvPr/>
        </p:nvSpPr>
        <p:spPr>
          <a:xfrm>
            <a:off x="275142" y="5575876"/>
            <a:ext cx="90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latin typeface="Eco Sans Bold"/>
              </a:rPr>
              <a:t>VGG</a:t>
            </a:r>
            <a:endParaRPr lang="en-US" b="1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994832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7B14EAF-0A51-1472-2476-D12914368923}"/>
              </a:ext>
            </a:extLst>
          </p:cNvPr>
          <p:cNvSpPr txBox="1"/>
          <p:nvPr/>
        </p:nvSpPr>
        <p:spPr>
          <a:xfrm>
            <a:off x="160355" y="5376447"/>
            <a:ext cx="60973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VGG demostró que la clave para mejorar la precisión no era diseñar capas complejas con configuraciones variadas, sino </a:t>
            </a:r>
            <a:r>
              <a:rPr lang="es-ES" b="1" u="none" strike="noStrike" dirty="0">
                <a:effectLst/>
                <a:latin typeface="Google Sans"/>
              </a:rPr>
              <a:t>hacer la red mucho más profunda utilizando bloques simples y repetitivos</a:t>
            </a:r>
            <a:r>
              <a:rPr lang="es-ES" dirty="0"/>
              <a:t> (específicamente filtros muy pequeños de 3x3).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11C786-0FA8-3084-6C42-6C7312B1E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42" y="41107"/>
            <a:ext cx="10160522" cy="518186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3D3C196-09EB-8C7F-C5EE-66801B0DF3BA}"/>
              </a:ext>
            </a:extLst>
          </p:cNvPr>
          <p:cNvSpPr txBox="1"/>
          <p:nvPr/>
        </p:nvSpPr>
        <p:spPr>
          <a:xfrm>
            <a:off x="7052441" y="542601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u="none" strike="noStrike" dirty="0">
                <a:effectLst/>
                <a:latin typeface="Google Sans"/>
              </a:rPr>
              <a:t>VGG probó de manera definitiva que a mayor profundidad de capas, mayor es la capacidad de aprendizaje visual</a:t>
            </a:r>
            <a:r>
              <a:rPr lang="es-ES" b="0" u="none" strike="noStrike" dirty="0">
                <a:effectLst/>
                <a:latin typeface="Google Sans"/>
              </a:rPr>
              <a:t> de una inteligencia artificial.</a:t>
            </a:r>
          </a:p>
        </p:txBody>
      </p:sp>
    </p:spTree>
    <p:extLst>
      <p:ext uri="{BB962C8B-B14F-4D97-AF65-F5344CB8AC3E}">
        <p14:creationId xmlns:p14="http://schemas.microsoft.com/office/powerpoint/2010/main" val="285756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3F986FC-30DB-4D2A-2787-DA77526A3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3241"/>
              </p:ext>
            </p:extLst>
          </p:nvPr>
        </p:nvGraphicFramePr>
        <p:xfrm>
          <a:off x="1790700" y="1229360"/>
          <a:ext cx="9423400" cy="5120640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1656368423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41352911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13503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Característica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VGG (Simonyan &amp; Zisserman)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GoogLeNet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Szegedy</a:t>
                      </a:r>
                      <a:r>
                        <a:rPr lang="en-US" dirty="0"/>
                        <a:t> et al.)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50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Diseño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Secuencial y uniforme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Paralelo mediante módulos Inception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4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Profundidad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16–19 </a:t>
                      </a:r>
                      <a:r>
                        <a:rPr lang="en-US" dirty="0" err="1"/>
                        <a:t>capas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22 capas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398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Filtros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Solo usa filtros fijos de 3x3.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tamaños mixtos (1x1, 3x3, 5x5) al mismo tiempo en cada bloque para capturar objetos a distintas escalas.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25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Parámetros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138 millones (VGG-16)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≈ 7 millones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015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Eficiencia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Mayor consumo de memoria y cómputo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Más eficiente en número de parámetros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546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Legado e </a:t>
                      </a:r>
                      <a:r>
                        <a:rPr lang="en-US" dirty="0" err="1"/>
                        <a:t>Impacto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favorita para la investigación.</a:t>
                      </a:r>
                      <a:r>
                        <a:rPr lang="es-ES" dirty="0"/>
                        <a:t> Al ser tan ordenada y limpia, se convirtió en el estándar educativo y la base para el aprendizaje por transferencia (</a:t>
                      </a:r>
                      <a:r>
                        <a:rPr lang="es-ES" sz="18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 </a:t>
                      </a:r>
                      <a:r>
                        <a:rPr lang="es-ES" sz="1800" b="0" i="1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</a:t>
                      </a:r>
                      <a:r>
                        <a:rPr lang="es-ES" dirty="0"/>
                        <a:t>).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Innovó en la eficiencia de cómputo, sirviendo de inspiración para redes móviles posteriores.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32625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21973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F74C336-17A2-FA04-41DB-1CCABD896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738148"/>
            <a:ext cx="58400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VGG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(ILSVRC 2014).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422797-50D1-0794-8068-D7A79AADEC81}"/>
              </a:ext>
            </a:extLst>
          </p:cNvPr>
          <p:cNvSpPr txBox="1"/>
          <p:nvPr/>
        </p:nvSpPr>
        <p:spPr>
          <a:xfrm>
            <a:off x="5422900" y="5980668"/>
            <a:ext cx="6769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https://en.wikipedia.org/wiki/Inception_(deep_learning_architecture)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711BBF-E93E-5B49-0534-75EB6EA1F060}"/>
              </a:ext>
            </a:extLst>
          </p:cNvPr>
          <p:cNvSpPr txBox="1"/>
          <p:nvPr/>
        </p:nvSpPr>
        <p:spPr>
          <a:xfrm>
            <a:off x="977900" y="6284297"/>
            <a:ext cx="1266825" cy="375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none" strike="noStrike" dirty="0">
                <a:effectLst/>
                <a:latin typeface="Google Sans"/>
              </a:rPr>
              <a:t>Padding</a:t>
            </a:r>
            <a:r>
              <a:rPr lang="en-US" dirty="0"/>
              <a:t>.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627EE1-D440-E7D2-1C90-9D9FD48A6028}"/>
              </a:ext>
            </a:extLst>
          </p:cNvPr>
          <p:cNvSpPr txBox="1"/>
          <p:nvPr/>
        </p:nvSpPr>
        <p:spPr>
          <a:xfrm>
            <a:off x="5422900" y="6497280"/>
            <a:ext cx="621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https://www.youtube.com/watch?v=TNvqhI2Yut0&amp;t=1s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C03158-9F3A-C376-320D-2305712259D1}"/>
              </a:ext>
            </a:extLst>
          </p:cNvPr>
          <p:cNvSpPr txBox="1"/>
          <p:nvPr/>
        </p:nvSpPr>
        <p:spPr>
          <a:xfrm>
            <a:off x="2384425" y="6241305"/>
            <a:ext cx="2632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Global Average Pooling</a:t>
            </a:r>
          </a:p>
        </p:txBody>
      </p:sp>
    </p:spTree>
    <p:extLst>
      <p:ext uri="{BB962C8B-B14F-4D97-AF65-F5344CB8AC3E}">
        <p14:creationId xmlns:p14="http://schemas.microsoft.com/office/powerpoint/2010/main" val="4260598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F1896-2BC4-E22E-8C5C-C21B1ECE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91B532-2793-D5A5-F11D-388C2CD3F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97A42C-4507-A1AE-BD10-3E61F659E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47" y="1225437"/>
            <a:ext cx="8858705" cy="440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50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AC68B2-14B8-4264-E82B-47697C680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8" y="203067"/>
            <a:ext cx="8769612" cy="445579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576A89B-ED09-3BB2-002E-C3AB2854AA32}"/>
              </a:ext>
            </a:extLst>
          </p:cNvPr>
          <p:cNvSpPr txBox="1"/>
          <p:nvPr/>
        </p:nvSpPr>
        <p:spPr>
          <a:xfrm>
            <a:off x="3365500" y="4611231"/>
            <a:ext cx="6324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Eco Sans Bold"/>
              </a:rPr>
              <a:t>Los modelos anteriores (como VGG o </a:t>
            </a:r>
            <a:r>
              <a:rPr lang="es-ES" sz="2000" dirty="0" err="1">
                <a:latin typeface="Eco Sans Bold"/>
              </a:rPr>
              <a:t>GoogLeNet</a:t>
            </a:r>
            <a:r>
              <a:rPr lang="es-ES" sz="2000" dirty="0">
                <a:latin typeface="Eco Sans Bold"/>
              </a:rPr>
              <a:t>) no podían pasar de las 20 capas porque la información matemática se desvanecía en el camino (</a:t>
            </a:r>
            <a:r>
              <a:rPr lang="es-ES" sz="2000" b="0" i="1" u="none" strike="noStrike" dirty="0" err="1">
                <a:effectLst/>
                <a:latin typeface="Eco Sans Bold"/>
              </a:rPr>
              <a:t>vanishing</a:t>
            </a:r>
            <a:r>
              <a:rPr lang="es-ES" sz="2000" b="0" i="1" u="none" strike="noStrike" dirty="0">
                <a:effectLst/>
                <a:latin typeface="Eco Sans Bold"/>
              </a:rPr>
              <a:t> </a:t>
            </a:r>
            <a:r>
              <a:rPr lang="es-ES" sz="2000" b="0" i="1" u="none" strike="noStrike" dirty="0" err="1">
                <a:effectLst/>
                <a:latin typeface="Eco Sans Bold"/>
              </a:rPr>
              <a:t>gradient</a:t>
            </a:r>
            <a:r>
              <a:rPr lang="es-ES" sz="2000" dirty="0">
                <a:latin typeface="Eco Sans Bold"/>
              </a:rPr>
              <a:t>). Con la llegada de </a:t>
            </a:r>
            <a:r>
              <a:rPr lang="es-ES" sz="2000" b="0" u="none" strike="noStrike" dirty="0" err="1">
                <a:effectLst/>
                <a:latin typeface="Eco Sans Bold"/>
                <a:hlinkClick r:id="rId3"/>
              </a:rPr>
              <a:t>ResNet</a:t>
            </a:r>
            <a:r>
              <a:rPr lang="es-ES" sz="2000" dirty="0">
                <a:latin typeface="Eco Sans Bold"/>
              </a:rPr>
              <a:t> en 2015, se inventaron las </a:t>
            </a:r>
            <a:r>
              <a:rPr lang="es-ES" sz="2000" b="1" u="none" strike="noStrike" dirty="0">
                <a:effectLst/>
                <a:latin typeface="Eco Sans Bold"/>
              </a:rPr>
              <a:t>conexiones residuales</a:t>
            </a:r>
            <a:r>
              <a:rPr lang="es-ES" sz="2000" dirty="0">
                <a:latin typeface="Eco Sans Bold"/>
              </a:rPr>
              <a:t> (atajos que saltan capas), permitiendo saltar de golpe a </a:t>
            </a:r>
            <a:r>
              <a:rPr lang="es-ES" sz="2000" b="1" u="none" strike="noStrike" dirty="0">
                <a:effectLst/>
                <a:latin typeface="Eco Sans Bold"/>
              </a:rPr>
              <a:t>152 capas</a:t>
            </a:r>
            <a:r>
              <a:rPr lang="es-ES" sz="2000" dirty="0">
                <a:latin typeface="Eco Sans Bold"/>
              </a:rPr>
              <a:t> profundas de forma estable y reduciendo el error al </a:t>
            </a:r>
            <a:r>
              <a:rPr lang="es-ES" sz="2000" b="1" u="none" strike="noStrike" dirty="0">
                <a:effectLst/>
                <a:latin typeface="Eco Sans Bold"/>
              </a:rPr>
              <a:t>3.6%</a:t>
            </a:r>
            <a:r>
              <a:rPr lang="es-ES" sz="2000" dirty="0">
                <a:latin typeface="Eco Sans Bold"/>
              </a:rPr>
              <a:t>.</a:t>
            </a:r>
            <a:endParaRPr lang="en-US" sz="2000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823078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AC68B2-14B8-4264-E82B-47697C680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8" y="203067"/>
            <a:ext cx="8769612" cy="445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96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010CE0D-225B-0496-3556-225213B2D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461433"/>
            <a:ext cx="8902700" cy="593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22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F96B622-A20C-790D-D3B4-1592619DD5D6}"/>
              </a:ext>
            </a:extLst>
          </p:cNvPr>
          <p:cNvSpPr txBox="1"/>
          <p:nvPr/>
        </p:nvSpPr>
        <p:spPr>
          <a:xfrm>
            <a:off x="711200" y="551934"/>
            <a:ext cx="345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800" b="1" dirty="0">
                <a:solidFill>
                  <a:srgbClr val="007676"/>
                </a:solidFill>
                <a:latin typeface="Eco Sans Bold"/>
              </a:rPr>
              <a:t>Shao et al. en 2016</a:t>
            </a:r>
            <a:endParaRPr lang="en-US" sz="2800" b="1" dirty="0">
              <a:solidFill>
                <a:srgbClr val="007676"/>
              </a:solidFill>
              <a:latin typeface="Eco Sans Bold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D5876E-CF91-699E-C6B5-0C09CF853EFB}"/>
              </a:ext>
            </a:extLst>
          </p:cNvPr>
          <p:cNvSpPr txBox="1"/>
          <p:nvPr/>
        </p:nvSpPr>
        <p:spPr>
          <a:xfrm>
            <a:off x="711200" y="1214735"/>
            <a:ext cx="1038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Eco Sans Bold"/>
              </a:rPr>
              <a:t>En 2016, la mejora ya no dependía exclusivamente de aumentar el número de capas. También se obtenían mejores resultados mediante la combinación estratégica de redes y predicciones</a:t>
            </a:r>
            <a:endParaRPr lang="en-US" sz="2400" dirty="0">
              <a:latin typeface="Eco Sans Bold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CED2E7E-5440-3741-408C-0684FFA6386C}"/>
              </a:ext>
            </a:extLst>
          </p:cNvPr>
          <p:cNvSpPr txBox="1"/>
          <p:nvPr/>
        </p:nvSpPr>
        <p:spPr>
          <a:xfrm>
            <a:off x="2349500" y="2775635"/>
            <a:ext cx="9271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 err="1">
                <a:latin typeface="Eco Sans Bold"/>
              </a:rPr>
              <a:t>Trimps-Soushen</a:t>
            </a:r>
            <a:r>
              <a:rPr lang="es-ES" sz="2800" dirty="0">
                <a:latin typeface="Eco Sans Bold"/>
              </a:rPr>
              <a:t>, atribuido en la gráfica a </a:t>
            </a:r>
            <a:r>
              <a:rPr lang="es-ES" sz="2800" dirty="0" err="1">
                <a:latin typeface="Eco Sans Bold"/>
              </a:rPr>
              <a:t>Shao</a:t>
            </a:r>
            <a:r>
              <a:rPr lang="es-ES" sz="2800" dirty="0">
                <a:latin typeface="Eco Sans Bold"/>
              </a:rPr>
              <a:t> et al.</a:t>
            </a:r>
          </a:p>
          <a:p>
            <a:r>
              <a:rPr lang="es-ES" sz="2800" dirty="0">
                <a:latin typeface="Eco Sans Bold"/>
              </a:rPr>
              <a:t>Combinación de modelos y predicciones para reducir el error.</a:t>
            </a:r>
          </a:p>
        </p:txBody>
      </p:sp>
    </p:spTree>
    <p:extLst>
      <p:ext uri="{BB962C8B-B14F-4D97-AF65-F5344CB8AC3E}">
        <p14:creationId xmlns:p14="http://schemas.microsoft.com/office/powerpoint/2010/main" val="238304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005D29B-874E-29A7-6D75-266A7C4B6151}"/>
              </a:ext>
            </a:extLst>
          </p:cNvPr>
          <p:cNvSpPr txBox="1"/>
          <p:nvPr/>
        </p:nvSpPr>
        <p:spPr>
          <a:xfrm>
            <a:off x="717550" y="295344"/>
            <a:ext cx="107569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s-ES" sz="2400" b="1" dirty="0" err="1">
                <a:latin typeface="Eco Sans Bold"/>
              </a:rPr>
              <a:t>SENet</a:t>
            </a:r>
            <a:r>
              <a:rPr lang="es-ES" sz="2400" b="1" dirty="0">
                <a:latin typeface="Eco Sans Bold"/>
              </a:rPr>
              <a:t>: </a:t>
            </a:r>
            <a:r>
              <a:rPr lang="es-ES" sz="2400" b="1" dirty="0" err="1">
                <a:latin typeface="Eco Sans Bold"/>
              </a:rPr>
              <a:t>Squeeze</a:t>
            </a:r>
            <a:r>
              <a:rPr lang="es-ES" sz="2400" b="1" dirty="0">
                <a:latin typeface="Eco Sans Bold"/>
              </a:rPr>
              <a:t>-and-</a:t>
            </a:r>
            <a:r>
              <a:rPr lang="es-ES" sz="2400" b="1" dirty="0" err="1">
                <a:latin typeface="Eco Sans Bold"/>
              </a:rPr>
              <a:t>Excitation</a:t>
            </a:r>
            <a:r>
              <a:rPr lang="es-ES" sz="2400" b="1" dirty="0">
                <a:latin typeface="Eco Sans Bold"/>
              </a:rPr>
              <a:t> Networks</a:t>
            </a:r>
          </a:p>
          <a:p>
            <a:pPr rtl="0"/>
            <a:endParaRPr lang="es-ES" sz="2400" b="1" dirty="0">
              <a:latin typeface="Eco Sans Bold"/>
            </a:endParaRPr>
          </a:p>
          <a:p>
            <a:pPr rtl="0"/>
            <a:r>
              <a:rPr lang="es-ES" sz="2400" b="1" dirty="0">
                <a:latin typeface="Eco Sans Bold"/>
              </a:rPr>
              <a:t>Idea central:</a:t>
            </a:r>
            <a:r>
              <a:rPr lang="es-ES" sz="2400" dirty="0">
                <a:latin typeface="Eco Sans Bold"/>
              </a:rPr>
              <a:t> en lugar de profundizar la red con más capas, </a:t>
            </a:r>
            <a:r>
              <a:rPr lang="es-ES" sz="2400" dirty="0" err="1">
                <a:latin typeface="Eco Sans Bold"/>
              </a:rPr>
              <a:t>SENet</a:t>
            </a:r>
            <a:r>
              <a:rPr lang="es-ES" sz="2400" dirty="0">
                <a:latin typeface="Eco Sans Bold"/>
              </a:rPr>
              <a:t> recalibra la importancia de cada canal de características mediante un bloque ligero de atención por canal (</a:t>
            </a:r>
            <a:r>
              <a:rPr lang="es-ES" sz="2400" i="1" dirty="0">
                <a:latin typeface="Eco Sans Bold"/>
              </a:rPr>
              <a:t>SE Block</a:t>
            </a:r>
            <a:r>
              <a:rPr lang="es-ES" sz="2400" dirty="0">
                <a:latin typeface="Eco Sans Bold"/>
              </a:rPr>
              <a:t>).</a:t>
            </a:r>
          </a:p>
          <a:p>
            <a:pPr rtl="0"/>
            <a:endParaRPr lang="es-ES" sz="2400" dirty="0">
              <a:latin typeface="Eco Sans Bold"/>
            </a:endParaRPr>
          </a:p>
          <a:p>
            <a:pPr rtl="0"/>
            <a:r>
              <a:rPr lang="es-ES" sz="2400" b="1" dirty="0">
                <a:latin typeface="Eco Sans Bold"/>
              </a:rPr>
              <a:t>Funcionamiento del bloque SE</a:t>
            </a:r>
          </a:p>
          <a:p>
            <a:pPr rtl="0"/>
            <a:endParaRPr lang="es-ES" sz="2400" dirty="0">
              <a:latin typeface="Eco Sans Bold"/>
            </a:endParaRPr>
          </a:p>
          <a:p>
            <a:pPr rtl="0">
              <a:buFont typeface="+mj-lt"/>
              <a:buAutoNum type="arabicPeriod"/>
            </a:pPr>
            <a:r>
              <a:rPr lang="es-ES" sz="2400" b="1" dirty="0" err="1">
                <a:latin typeface="Eco Sans Bold"/>
              </a:rPr>
              <a:t>Squeeze</a:t>
            </a:r>
            <a:r>
              <a:rPr lang="es-ES" sz="2400" b="1" dirty="0">
                <a:latin typeface="Eco Sans Bold"/>
              </a:rPr>
              <a:t>:</a:t>
            </a:r>
            <a:r>
              <a:rPr lang="es-ES" sz="2400" dirty="0">
                <a:latin typeface="Eco Sans Bold"/>
              </a:rPr>
              <a:t> el </a:t>
            </a:r>
            <a:r>
              <a:rPr lang="es-ES" sz="2400" i="1" dirty="0">
                <a:latin typeface="Eco Sans Bold"/>
              </a:rPr>
              <a:t>Global </a:t>
            </a:r>
            <a:r>
              <a:rPr lang="es-ES" sz="2400" i="1" dirty="0" err="1">
                <a:latin typeface="Eco Sans Bold"/>
              </a:rPr>
              <a:t>Average</a:t>
            </a:r>
            <a:r>
              <a:rPr lang="es-ES" sz="2400" i="1" dirty="0">
                <a:latin typeface="Eco Sans Bold"/>
              </a:rPr>
              <a:t> </a:t>
            </a:r>
            <a:r>
              <a:rPr lang="es-ES" sz="2400" i="1" dirty="0" err="1">
                <a:latin typeface="Eco Sans Bold"/>
              </a:rPr>
              <a:t>Pooling</a:t>
            </a:r>
            <a:r>
              <a:rPr lang="es-ES" sz="2400" dirty="0">
                <a:latin typeface="Eco Sans Bold"/>
              </a:rPr>
              <a:t> comprime cada mapa de características en un descriptor escalar.</a:t>
            </a:r>
          </a:p>
          <a:p>
            <a:pPr rtl="0">
              <a:buFont typeface="+mj-lt"/>
              <a:buAutoNum type="arabicPeriod"/>
            </a:pPr>
            <a:r>
              <a:rPr lang="es-ES" sz="2400" b="1" dirty="0" err="1">
                <a:latin typeface="Eco Sans Bold"/>
              </a:rPr>
              <a:t>Excitation</a:t>
            </a:r>
            <a:r>
              <a:rPr lang="es-ES" sz="2400" b="1" dirty="0">
                <a:latin typeface="Eco Sans Bold"/>
              </a:rPr>
              <a:t>:</a:t>
            </a:r>
            <a:r>
              <a:rPr lang="es-ES" sz="2400" dirty="0">
                <a:latin typeface="Eco Sans Bold"/>
              </a:rPr>
              <a:t> dos capas totalmente conectadas (cuello de botella con activación sigmoide) estiman la importancia relativa de cada canal.</a:t>
            </a:r>
          </a:p>
          <a:p>
            <a:pPr rtl="0">
              <a:buFont typeface="+mj-lt"/>
              <a:buAutoNum type="arabicPeriod"/>
            </a:pPr>
            <a:r>
              <a:rPr lang="es-ES" sz="2400" b="1" dirty="0" err="1">
                <a:latin typeface="Eco Sans Bold"/>
              </a:rPr>
              <a:t>Scale</a:t>
            </a:r>
            <a:r>
              <a:rPr lang="es-ES" sz="2400" b="1" dirty="0">
                <a:latin typeface="Eco Sans Bold"/>
              </a:rPr>
              <a:t>:</a:t>
            </a:r>
            <a:r>
              <a:rPr lang="es-ES" sz="2400" dirty="0">
                <a:latin typeface="Eco Sans Bold"/>
              </a:rPr>
              <a:t> cada canal se multiplica por su peso: se amplifican los canales informativos y se atenúan los irrelevantes.</a:t>
            </a:r>
          </a:p>
        </p:txBody>
      </p:sp>
    </p:spTree>
    <p:extLst>
      <p:ext uri="{BB962C8B-B14F-4D97-AF65-F5344CB8AC3E}">
        <p14:creationId xmlns:p14="http://schemas.microsoft.com/office/powerpoint/2010/main" val="5942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B363D3D-5002-4116-3054-E5629744BB4E}"/>
              </a:ext>
            </a:extLst>
          </p:cNvPr>
          <p:cNvSpPr txBox="1"/>
          <p:nvPr/>
        </p:nvSpPr>
        <p:spPr>
          <a:xfrm>
            <a:off x="1046129" y="4155976"/>
            <a:ext cx="10375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Eco Sans Bold"/>
              </a:rPr>
              <a:t>La </a:t>
            </a:r>
            <a:r>
              <a:rPr lang="en-US" sz="2400" dirty="0" err="1">
                <a:latin typeface="Eco Sans Bold"/>
              </a:rPr>
              <a:t>arquitectura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muestra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explícitamente</a:t>
            </a:r>
            <a:r>
              <a:rPr lang="en-US" sz="2400" dirty="0">
                <a:latin typeface="Eco Sans Bold"/>
              </a:rPr>
              <a:t>:</a:t>
            </a:r>
          </a:p>
          <a:p>
            <a:endParaRPr lang="en-US" sz="2400" dirty="0">
              <a:latin typeface="Eco Sans Bold"/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latin typeface="Eco Sans Bold"/>
              </a:rPr>
              <a:t>Squeeze: resume </a:t>
            </a:r>
            <a:r>
              <a:rPr lang="en-US" sz="2400" dirty="0" err="1">
                <a:latin typeface="Eco Sans Bold"/>
              </a:rPr>
              <a:t>cada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mapa</a:t>
            </a:r>
            <a:r>
              <a:rPr lang="en-US" sz="2400" dirty="0">
                <a:latin typeface="Eco Sans Bold"/>
              </a:rPr>
              <a:t> de </a:t>
            </a:r>
            <a:r>
              <a:rPr lang="en-US" sz="2400" dirty="0" err="1">
                <a:latin typeface="Eco Sans Bold"/>
              </a:rPr>
              <a:t>características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en</a:t>
            </a:r>
            <a:r>
              <a:rPr lang="en-US" sz="2400" dirty="0">
                <a:latin typeface="Eco Sans Bold"/>
              </a:rPr>
              <a:t> un valor </a:t>
            </a:r>
            <a:r>
              <a:rPr lang="en-US" sz="2400" dirty="0" err="1">
                <a:latin typeface="Eco Sans Bold"/>
              </a:rPr>
              <a:t>por</a:t>
            </a:r>
            <a:r>
              <a:rPr lang="en-US" sz="2400" dirty="0">
                <a:latin typeface="Eco Sans Bold"/>
              </a:rPr>
              <a:t> canal.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Eco Sans Bold"/>
              </a:rPr>
              <a:t>Excitation: </a:t>
            </a:r>
            <a:r>
              <a:rPr lang="en-US" sz="2400" dirty="0" err="1">
                <a:latin typeface="Eco Sans Bold"/>
              </a:rPr>
              <a:t>calcula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los</a:t>
            </a:r>
            <a:r>
              <a:rPr lang="en-US" sz="2400" dirty="0">
                <a:latin typeface="Eco Sans Bold"/>
              </a:rPr>
              <a:t> pesos </a:t>
            </a:r>
            <a:r>
              <a:rPr lang="en-US" sz="2400" dirty="0" err="1">
                <a:latin typeface="Eco Sans Bold"/>
              </a:rPr>
              <a:t>mediante</a:t>
            </a:r>
            <a:r>
              <a:rPr lang="en-US" sz="2400" dirty="0">
                <a:latin typeface="Eco Sans Bold"/>
              </a:rPr>
              <a:t> FC → </a:t>
            </a:r>
            <a:r>
              <a:rPr lang="en-US" sz="2400" dirty="0" err="1">
                <a:latin typeface="Eco Sans Bold"/>
              </a:rPr>
              <a:t>ReLU</a:t>
            </a:r>
            <a:r>
              <a:rPr lang="en-US" sz="2400" dirty="0">
                <a:latin typeface="Eco Sans Bold"/>
              </a:rPr>
              <a:t> → FC → </a:t>
            </a:r>
            <a:r>
              <a:rPr lang="en-US" sz="2400" dirty="0" err="1">
                <a:latin typeface="Eco Sans Bold"/>
              </a:rPr>
              <a:t>sigmoide</a:t>
            </a:r>
            <a:r>
              <a:rPr lang="en-US" sz="2400" dirty="0">
                <a:latin typeface="Eco Sans Bold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Eco Sans Bold"/>
              </a:rPr>
              <a:t>Scale: </a:t>
            </a:r>
            <a:r>
              <a:rPr lang="en-US" sz="2400" dirty="0" err="1">
                <a:latin typeface="Eco Sans Bold"/>
              </a:rPr>
              <a:t>multiplica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los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mapas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originales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por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los</a:t>
            </a:r>
            <a:r>
              <a:rPr lang="en-US" sz="2400" dirty="0">
                <a:latin typeface="Eco Sans Bold"/>
              </a:rPr>
              <a:t> pesos </a:t>
            </a:r>
            <a:r>
              <a:rPr lang="en-US" sz="2400" dirty="0" err="1">
                <a:latin typeface="Eco Sans Bold"/>
              </a:rPr>
              <a:t>aprendidos</a:t>
            </a:r>
            <a:r>
              <a:rPr lang="en-US" sz="2400" dirty="0">
                <a:latin typeface="Eco Sans Bold"/>
              </a:rPr>
              <a:t> para </a:t>
            </a:r>
            <a:r>
              <a:rPr lang="en-US" sz="2400" dirty="0" err="1">
                <a:latin typeface="Eco Sans Bold"/>
              </a:rPr>
              <a:t>obtener</a:t>
            </a:r>
            <a:r>
              <a:rPr lang="en-US" sz="2400" dirty="0">
                <a:latin typeface="Eco Sans Bold"/>
              </a:rPr>
              <a:t> las </a:t>
            </a:r>
            <a:r>
              <a:rPr lang="en-US" sz="2400" dirty="0" err="1">
                <a:latin typeface="Eco Sans Bold"/>
              </a:rPr>
              <a:t>características</a:t>
            </a:r>
            <a:r>
              <a:rPr lang="en-US" sz="2400" dirty="0">
                <a:latin typeface="Eco Sans Bold"/>
              </a:rPr>
              <a:t> </a:t>
            </a:r>
            <a:r>
              <a:rPr lang="en-US" sz="2400" dirty="0" err="1">
                <a:latin typeface="Eco Sans Bold"/>
              </a:rPr>
              <a:t>recalibradas</a:t>
            </a:r>
            <a:r>
              <a:rPr lang="en-US" sz="2400" dirty="0">
                <a:latin typeface="Eco Sans Bold"/>
              </a:rPr>
              <a:t>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556BD0-5564-D982-C291-D94BF8446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519" y="-14835"/>
            <a:ext cx="7591361" cy="42724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8179587-1358-92CB-F19E-C2ECCADB3E42}"/>
              </a:ext>
            </a:extLst>
          </p:cNvPr>
          <p:cNvSpPr txBox="1"/>
          <p:nvPr/>
        </p:nvSpPr>
        <p:spPr>
          <a:xfrm>
            <a:off x="6553200" y="6457433"/>
            <a:ext cx="48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https://www.youtube.com/watch?v=ySg2z8-fZRA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9527D1-B433-F945-F34F-E4387AD6C595}"/>
              </a:ext>
            </a:extLst>
          </p:cNvPr>
          <p:cNvSpPr txBox="1"/>
          <p:nvPr/>
        </p:nvSpPr>
        <p:spPr>
          <a:xfrm>
            <a:off x="101600" y="6419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https://www.youtube.com/watch?v=3b7kMvrPZX8</a:t>
            </a:r>
          </a:p>
        </p:txBody>
      </p:sp>
    </p:spTree>
    <p:extLst>
      <p:ext uri="{BB962C8B-B14F-4D97-AF65-F5344CB8AC3E}">
        <p14:creationId xmlns:p14="http://schemas.microsoft.com/office/powerpoint/2010/main" val="334362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AC68B2-14B8-4264-E82B-47697C680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8" y="203067"/>
            <a:ext cx="8769612" cy="445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02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253CE7A-AA37-FC55-3024-8E9B162E44D5}"/>
              </a:ext>
            </a:extLst>
          </p:cNvPr>
          <p:cNvSpPr txBox="1"/>
          <p:nvPr/>
        </p:nvSpPr>
        <p:spPr>
          <a:xfrm>
            <a:off x="5877097" y="4580155"/>
            <a:ext cx="64423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b="1" u="none" strike="noStrike" dirty="0">
                <a:effectLst/>
                <a:latin typeface="Eco Sans Bold"/>
              </a:rPr>
              <a:t>En el año 2015, las máquinas superaron oficialmente la capacidad visual humana en esta base de datos.</a:t>
            </a:r>
            <a:endParaRPr lang="es-ES" b="0" u="none" strike="noStrike" dirty="0">
              <a:effectLst/>
              <a:latin typeface="Eco Sans Bold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0" u="none" strike="noStrike" dirty="0">
                <a:effectLst/>
                <a:latin typeface="Eco Sans Bold"/>
              </a:rPr>
              <a:t>A partir de la llegada de </a:t>
            </a:r>
            <a:r>
              <a:rPr lang="es-ES" b="0" u="none" strike="noStrike" dirty="0" err="1">
                <a:effectLst/>
                <a:latin typeface="Eco Sans Bold"/>
              </a:rPr>
              <a:t>ResNet</a:t>
            </a:r>
            <a:r>
              <a:rPr lang="es-ES" b="0" u="none" strike="noStrike" dirty="0">
                <a:effectLst/>
                <a:latin typeface="Eco Sans Bold"/>
              </a:rPr>
              <a:t> (3.6%), los modelos matemáticos se volvieron consistentemente más precisos y detallistas que un ojo humano entrenado para identificar estas categorías de objetos.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67503E3-9574-896D-11FA-4A2E5E431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84" y="410507"/>
            <a:ext cx="8427350" cy="416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7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E740591-0B0C-EB60-A31D-0FD262789A30}"/>
              </a:ext>
            </a:extLst>
          </p:cNvPr>
          <p:cNvSpPr txBox="1"/>
          <p:nvPr/>
        </p:nvSpPr>
        <p:spPr>
          <a:xfrm>
            <a:off x="7072053" y="5128644"/>
            <a:ext cx="50395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u="none" strike="noStrike" dirty="0">
                <a:effectLst/>
                <a:latin typeface="Eco Sans Bold"/>
              </a:rPr>
              <a:t>El estudio que estableció el 5.1% de error humano fue realizado por la investigadora </a:t>
            </a:r>
            <a:r>
              <a:rPr lang="es-ES" b="1" u="none" strike="noStrike" dirty="0">
                <a:effectLst/>
                <a:latin typeface="Eco Sans Bold"/>
                <a:hlinkClick r:id="rId2"/>
              </a:rPr>
              <a:t>Olga </a:t>
            </a:r>
            <a:r>
              <a:rPr lang="es-ES" b="1" u="none" strike="noStrike" dirty="0" err="1">
                <a:effectLst/>
                <a:latin typeface="Eco Sans Bold"/>
                <a:hlinkClick r:id="rId2"/>
              </a:rPr>
              <a:t>Russakovsky</a:t>
            </a:r>
            <a:r>
              <a:rPr lang="es-ES" b="1" u="none" strike="noStrike" dirty="0">
                <a:effectLst/>
                <a:latin typeface="Eco Sans Bold"/>
              </a:rPr>
              <a:t> y el experto </a:t>
            </a:r>
            <a:r>
              <a:rPr lang="es-ES" b="1" u="none" strike="noStrike" dirty="0" err="1">
                <a:effectLst/>
                <a:latin typeface="Eco Sans Bold"/>
                <a:hlinkClick r:id="rId3"/>
              </a:rPr>
              <a:t>Andrej</a:t>
            </a:r>
            <a:r>
              <a:rPr lang="es-ES" b="1" u="none" strike="noStrike" dirty="0">
                <a:effectLst/>
                <a:latin typeface="Eco Sans Bold"/>
                <a:hlinkClick r:id="rId3"/>
              </a:rPr>
              <a:t> </a:t>
            </a:r>
            <a:r>
              <a:rPr lang="es-ES" b="1" u="none" strike="noStrike" dirty="0" err="1">
                <a:effectLst/>
                <a:latin typeface="Eco Sans Bold"/>
                <a:hlinkClick r:id="rId3"/>
              </a:rPr>
              <a:t>Karpathy</a:t>
            </a:r>
            <a:r>
              <a:rPr lang="es-ES" b="1" u="none" strike="noStrike" dirty="0">
                <a:effectLst/>
                <a:latin typeface="Eco Sans Bold"/>
              </a:rPr>
              <a:t> en 2014.</a:t>
            </a:r>
            <a:endParaRPr lang="en-US" dirty="0">
              <a:latin typeface="Eco Sans Bold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A2DE3B-14FD-EEDF-9597-C65A52710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84" y="410507"/>
            <a:ext cx="8427350" cy="416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219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F86505F-CC35-3A51-B26B-BBC687B7B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86" y="77397"/>
            <a:ext cx="3813945" cy="649753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D5DD5B9-A3F8-31C6-6DBD-EB13752DF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931" y="356134"/>
            <a:ext cx="7799654" cy="346589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069CAC8-7D8B-171D-16BF-A3C9752218F9}"/>
              </a:ext>
            </a:extLst>
          </p:cNvPr>
          <p:cNvSpPr txBox="1"/>
          <p:nvPr/>
        </p:nvSpPr>
        <p:spPr>
          <a:xfrm>
            <a:off x="5012356" y="4496413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AlexNet</a:t>
            </a:r>
            <a:r>
              <a:rPr lang="es-ES" dirty="0"/>
              <a:t> es una arquitectura de </a:t>
            </a:r>
            <a:r>
              <a:rPr lang="es-ES" b="1" dirty="0"/>
              <a:t>red neuronal convolucional (CNN)</a:t>
            </a:r>
            <a:r>
              <a:rPr lang="es-ES" dirty="0"/>
              <a:t> propuesta por Alex </a:t>
            </a:r>
            <a:r>
              <a:rPr lang="es-ES" dirty="0" err="1"/>
              <a:t>Krizhevsky</a:t>
            </a:r>
            <a:r>
              <a:rPr lang="es-ES" dirty="0"/>
              <a:t>, Ilya </a:t>
            </a:r>
            <a:r>
              <a:rPr lang="es-ES" dirty="0" err="1"/>
              <a:t>Sutskever</a:t>
            </a:r>
            <a:r>
              <a:rPr lang="es-ES" dirty="0"/>
              <a:t> y Geoffrey Hinton en 2012. Fue diseñada principalmente para </a:t>
            </a:r>
            <a:r>
              <a:rPr lang="es-ES" b="1" dirty="0"/>
              <a:t>clasificación de imágenes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561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5CFD171B-54DF-C1FE-6ED5-37E78D57F404}"/>
              </a:ext>
            </a:extLst>
          </p:cNvPr>
          <p:cNvSpPr txBox="1"/>
          <p:nvPr/>
        </p:nvSpPr>
        <p:spPr>
          <a:xfrm>
            <a:off x="5127859" y="5909912"/>
            <a:ext cx="1378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yolov5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FABC496-4D9B-F8B5-D90F-CE9E7D8F7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68" y="578756"/>
            <a:ext cx="9525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8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DB6140B-5F81-7080-82DB-B1E0BDFD8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30" y="124482"/>
            <a:ext cx="5116865" cy="36592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06453E-E088-F4B6-C350-0EA543F07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105" y="3429000"/>
            <a:ext cx="6846895" cy="342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9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132062D-EAD3-EE31-52B8-05C06472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8097"/>
            <a:ext cx="12192000" cy="426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70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051EFD1-F9AB-E549-AB05-63D992A469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9" b="7484"/>
          <a:stretch/>
        </p:blipFill>
        <p:spPr>
          <a:xfrm>
            <a:off x="0" y="0"/>
            <a:ext cx="7934325" cy="3609475"/>
          </a:xfrm>
          <a:prstGeom prst="rect">
            <a:avLst/>
          </a:prstGeom>
        </p:spPr>
      </p:pic>
      <p:sp>
        <p:nvSpPr>
          <p:cNvPr id="6" name="AutoShape 2" descr="AlexNet网络架构逐层解析与TensorFlow模型复现-开发者社区-阿里云">
            <a:extLst>
              <a:ext uri="{FF2B5EF4-FFF2-40B4-BE49-F238E27FC236}">
                <a16:creationId xmlns:a16="http://schemas.microsoft.com/office/drawing/2014/main" id="{4848C50F-4586-BD48-1FC4-FC065DF48B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AlexNet网络架构逐层解析与TensorFlow模型复现-开发者社区-阿里云">
            <a:extLst>
              <a:ext uri="{FF2B5EF4-FFF2-40B4-BE49-F238E27FC236}">
                <a16:creationId xmlns:a16="http://schemas.microsoft.com/office/drawing/2014/main" id="{94E3668C-1CD4-D3A4-AAD7-F4CFBB88C1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12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E2E0599-2BFC-6CDB-6BC1-C07AA3FB61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 t="5220" r="3114" b="7100"/>
          <a:stretch/>
        </p:blipFill>
        <p:spPr bwMode="auto">
          <a:xfrm>
            <a:off x="67377" y="-1"/>
            <a:ext cx="7469204" cy="688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87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8DCD558-2C21-75E6-17F8-48186729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49" y="0"/>
            <a:ext cx="6037944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D5953B1-F3C0-028F-6CF7-AAE61641D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125" y="0"/>
            <a:ext cx="5839326" cy="235227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0ABF415-307C-3F7F-3ABB-1BD9ED0893AD}"/>
              </a:ext>
            </a:extLst>
          </p:cNvPr>
          <p:cNvSpPr txBox="1"/>
          <p:nvPr/>
        </p:nvSpPr>
        <p:spPr>
          <a:xfrm>
            <a:off x="6456145" y="2782669"/>
            <a:ext cx="44685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st"/>
              </a:rPr>
              <a:t>Componentes clave: </a:t>
            </a:r>
          </a:p>
          <a:p>
            <a:pPr algn="l"/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st"/>
              </a:rPr>
              <a:t>Capas convolucionales, </a:t>
            </a:r>
          </a:p>
          <a:p>
            <a:pPr algn="l"/>
            <a:r>
              <a:rPr lang="es-ES" b="0" i="0" dirty="0">
                <a:solidFill>
                  <a:srgbClr val="FF9900"/>
                </a:solidFill>
                <a:effectLst/>
                <a:highlight>
                  <a:srgbClr val="FFFFFF"/>
                </a:highlight>
                <a:latin typeface="Jost"/>
              </a:rPr>
              <a:t>de agrupamiento (</a:t>
            </a:r>
            <a:r>
              <a:rPr lang="es-ES" b="0" i="0" dirty="0" err="1">
                <a:solidFill>
                  <a:srgbClr val="FF9900"/>
                </a:solidFill>
                <a:effectLst/>
                <a:highlight>
                  <a:srgbClr val="FFFFFF"/>
                </a:highlight>
                <a:latin typeface="Jost"/>
              </a:rPr>
              <a:t>Pooling</a:t>
            </a:r>
            <a:r>
              <a:rPr lang="es-ES" b="0" i="0" dirty="0">
                <a:solidFill>
                  <a:srgbClr val="FF9900"/>
                </a:solidFill>
                <a:effectLst/>
                <a:highlight>
                  <a:srgbClr val="FFFFFF"/>
                </a:highlight>
                <a:latin typeface="Jost"/>
              </a:rPr>
              <a:t>) </a:t>
            </a:r>
          </a:p>
          <a:p>
            <a:pPr algn="l"/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Jost"/>
              </a:rPr>
              <a:t>y totalmente conectadas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27F5AE1-5056-8DCB-3C0B-3179897A0978}"/>
              </a:ext>
            </a:extLst>
          </p:cNvPr>
          <p:cNvSpPr txBox="1"/>
          <p:nvPr/>
        </p:nvSpPr>
        <p:spPr>
          <a:xfrm>
            <a:off x="6872547" y="4740625"/>
            <a:ext cx="2869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datos con estructuras espaciales intrínsecas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4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3D44E13-B8DF-5611-5CB6-A6CB684A317C}"/>
              </a:ext>
            </a:extLst>
          </p:cNvPr>
          <p:cNvSpPr txBox="1"/>
          <p:nvPr/>
        </p:nvSpPr>
        <p:spPr>
          <a:xfrm>
            <a:off x="737755" y="629737"/>
            <a:ext cx="10870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Tendencia en la investigación de IA demuestra la importancia de diseñar arquitecturas que exploten la estructura inherente de ciertos tipos de datos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317D71-4574-7989-A777-756A19923B4F}"/>
              </a:ext>
            </a:extLst>
          </p:cNvPr>
          <p:cNvSpPr txBox="1"/>
          <p:nvPr/>
        </p:nvSpPr>
        <p:spPr>
          <a:xfrm>
            <a:off x="737755" y="1922398"/>
            <a:ext cx="1102431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La era de las </a:t>
            </a:r>
            <a:r>
              <a:rPr lang="es-ES" b="1" i="0" dirty="0">
                <a:solidFill>
                  <a:srgbClr val="297F35"/>
                </a:solidFill>
                <a:effectLst/>
                <a:highlight>
                  <a:srgbClr val="FFFFFF"/>
                </a:highlight>
                <a:latin typeface="Jost"/>
              </a:rPr>
              <a:t>Redes Neuronales Convolucionales (</a:t>
            </a:r>
            <a:r>
              <a:rPr lang="es-ES" b="1" i="0" dirty="0" err="1">
                <a:solidFill>
                  <a:srgbClr val="297F35"/>
                </a:solidFill>
                <a:effectLst/>
                <a:highlight>
                  <a:srgbClr val="FFFFFF"/>
                </a:highlight>
                <a:latin typeface="Jost"/>
              </a:rPr>
              <a:t>CNNs</a:t>
            </a:r>
            <a:r>
              <a:rPr lang="es-ES" b="1" i="0" dirty="0">
                <a:solidFill>
                  <a:srgbClr val="297F35"/>
                </a:solidFill>
                <a:effectLst/>
                <a:highlight>
                  <a:srgbClr val="FFFFFF"/>
                </a:highlight>
                <a:latin typeface="Jost"/>
              </a:rPr>
              <a:t>) 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marcó una especialización crucial para el procesamiento de datos visuales. Arquitecturas como LeNet-5 sentaron las bases, mientras que </a:t>
            </a:r>
            <a:r>
              <a:rPr lang="es-ES" sz="2000" b="1" dirty="0" err="1">
                <a:solidFill>
                  <a:srgbClr val="00684D"/>
                </a:solidFill>
                <a:latin typeface="Eco Sans Bold" pitchFamily="2" charset="0"/>
              </a:rPr>
              <a:t>AlexNet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demostró el poder de las </a:t>
            </a:r>
            <a:r>
              <a:rPr lang="es-ES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CNNs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a gran escala, impulsando el uso de </a:t>
            </a:r>
            <a:r>
              <a:rPr lang="es-ES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GPUs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y la adopción de funciones </a:t>
            </a:r>
            <a:r>
              <a:rPr lang="es-ES" b="1" i="0" dirty="0" err="1">
                <a:effectLst/>
                <a:highlight>
                  <a:srgbClr val="FFFFFF"/>
                </a:highlight>
                <a:latin typeface="Jost"/>
              </a:rPr>
              <a:t>ReLU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. </a:t>
            </a:r>
            <a:r>
              <a:rPr lang="es-ES" b="1" i="0" dirty="0" err="1">
                <a:solidFill>
                  <a:srgbClr val="0070C0"/>
                </a:solidFill>
                <a:effectLst/>
                <a:highlight>
                  <a:srgbClr val="FFFFFF"/>
                </a:highlight>
                <a:latin typeface="Jost"/>
              </a:rPr>
              <a:t>VGGNet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enfatizó la importancia de la profundidad y la uniformidad, y </a:t>
            </a:r>
            <a:r>
              <a:rPr lang="es-ES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Jost"/>
              </a:rPr>
              <a:t>ResNet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resolvió el problema de la degradación en redes </a:t>
            </a:r>
            <a:r>
              <a:rPr lang="es-ES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ultraprofundas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mediante sus innovadoras conexiones residuales, permitiendo el entrenamiento de modelos con cientos de capas.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058A76A-79D8-B56A-6B06-5C8211B06B81}"/>
              </a:ext>
            </a:extLst>
          </p:cNvPr>
          <p:cNvSpPr txBox="1"/>
          <p:nvPr/>
        </p:nvSpPr>
        <p:spPr>
          <a:xfrm>
            <a:off x="593376" y="4196938"/>
            <a:ext cx="111686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En retrospectiva, la evolución de las redes neuronales es una narrativa de superación de límites: de la linealidad a la no linealidad, de la memoria a corto plazo a las dependencias a largo plazo, y de los procesos secuenciales a la paralelización masiva. Cada avance ha habilitado nuevas capacidades y aplicaciones, transformando fundamentalmente la inteligencia artificial y su impacto en la sociedad. El camino desde el Perceptrón hasta el </a:t>
            </a:r>
            <a:r>
              <a:rPr lang="es-ES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Transformer</a:t>
            </a:r>
            <a:r>
              <a:rPr lang="es-ES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Jost"/>
              </a:rPr>
              <a:t> no es solo una historia de algoritmos, sino de cómo la ingeniería y la ciencia computacional han permitido que una idea inspirada en la biología se convierta en una de las fuerzas tecnológicas más potentes de nuestro tiempo.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16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E9AA140-0053-4BCD-B1F7-BEB4E7BF7D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" r="8957"/>
          <a:stretch/>
        </p:blipFill>
        <p:spPr bwMode="auto">
          <a:xfrm>
            <a:off x="127576" y="1662764"/>
            <a:ext cx="6545179" cy="359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0651899-D483-C14C-B4B8-F0FD710D5052}"/>
              </a:ext>
            </a:extLst>
          </p:cNvPr>
          <p:cNvSpPr txBox="1"/>
          <p:nvPr/>
        </p:nvSpPr>
        <p:spPr>
          <a:xfrm>
            <a:off x="0" y="61125"/>
            <a:ext cx="4430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highlight>
                  <a:srgbClr val="FFFF00"/>
                </a:highlight>
                <a:latin typeface="questrial" panose="020F0502020204030204" pitchFamily="2" charset="0"/>
              </a:rPr>
              <a:t>CNN Architecture (Conceptual Overview)</a:t>
            </a:r>
            <a:r>
              <a:rPr lang="en-US" b="1" i="0" dirty="0">
                <a:solidFill>
                  <a:srgbClr val="FFFF00"/>
                </a:solidFill>
                <a:effectLst/>
                <a:highlight>
                  <a:srgbClr val="FFFF00"/>
                </a:highlight>
                <a:latin typeface="questrial" panose="020F0502020204030204" pitchFamily="2" charset="0"/>
              </a:rPr>
              <a:t>)</a:t>
            </a:r>
            <a:endParaRPr lang="en-US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1AB1EF-28D5-C1E8-8AC4-01C15E60E7C9}"/>
              </a:ext>
            </a:extLst>
          </p:cNvPr>
          <p:cNvSpPr txBox="1"/>
          <p:nvPr/>
        </p:nvSpPr>
        <p:spPr>
          <a:xfrm>
            <a:off x="7541293" y="5380672"/>
            <a:ext cx="4639979" cy="1477328"/>
          </a:xfrm>
          <a:prstGeom prst="rect">
            <a:avLst/>
          </a:prstGeom>
          <a:solidFill>
            <a:srgbClr val="006464">
              <a:alpha val="5000"/>
            </a:srgbClr>
          </a:solidFill>
        </p:spPr>
        <p:txBody>
          <a:bodyPr wrap="square">
            <a:spAutoFit/>
          </a:bodyPr>
          <a:lstStyle/>
          <a:p>
            <a:pPr algn="just"/>
            <a:r>
              <a:rPr lang="es-ES" b="1" dirty="0" err="1">
                <a:solidFill>
                  <a:srgbClr val="006464"/>
                </a:solidFill>
                <a:latin typeface="Eco Sans Bold"/>
              </a:rPr>
              <a:t>Padding</a:t>
            </a:r>
            <a:r>
              <a:rPr lang="es-ES" b="1" dirty="0">
                <a:solidFill>
                  <a:srgbClr val="006464"/>
                </a:solidFill>
                <a:latin typeface="Eco Sans Bold"/>
              </a:rPr>
              <a:t>: </a:t>
            </a:r>
            <a:r>
              <a:rPr lang="es-ES" dirty="0">
                <a:latin typeface="Eco Sans Bold"/>
              </a:rPr>
              <a:t>agregar valores alrededor de los bordes de la imagen antes de aplicar la convolución</a:t>
            </a:r>
            <a:endParaRPr lang="es-ES" b="1" dirty="0">
              <a:latin typeface="Eco Sans Bold"/>
            </a:endParaRPr>
          </a:p>
          <a:p>
            <a:pPr algn="just"/>
            <a:r>
              <a:rPr lang="es-ES" b="1" dirty="0" err="1">
                <a:solidFill>
                  <a:srgbClr val="006464"/>
                </a:solidFill>
                <a:latin typeface="Eco Sans Bold"/>
              </a:rPr>
              <a:t>Stride</a:t>
            </a:r>
            <a:r>
              <a:rPr lang="es-ES" b="1" dirty="0">
                <a:solidFill>
                  <a:srgbClr val="006464"/>
                </a:solidFill>
                <a:latin typeface="Eco Sans Bold"/>
              </a:rPr>
              <a:t>: </a:t>
            </a:r>
            <a:r>
              <a:rPr lang="es-ES" dirty="0">
                <a:latin typeface="Eco Sans Bold"/>
              </a:rPr>
              <a:t>Número de píxeles que el filtro (</a:t>
            </a:r>
            <a:r>
              <a:rPr lang="es-ES" i="1" dirty="0" err="1">
                <a:latin typeface="Eco Sans Bold"/>
              </a:rPr>
              <a:t>kernel</a:t>
            </a:r>
            <a:r>
              <a:rPr lang="es-ES" dirty="0">
                <a:latin typeface="Eco Sans Bold"/>
              </a:rPr>
              <a:t>) avanza cada vez que realiza una convolución.</a:t>
            </a:r>
            <a:r>
              <a:rPr lang="es-ES" b="1" dirty="0">
                <a:latin typeface="Eco Sans Bold"/>
              </a:rPr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73701E-E240-68C1-5467-74662AA6B08C}"/>
              </a:ext>
            </a:extLst>
          </p:cNvPr>
          <p:cNvSpPr txBox="1"/>
          <p:nvPr/>
        </p:nvSpPr>
        <p:spPr>
          <a:xfrm>
            <a:off x="1339115" y="858871"/>
            <a:ext cx="2427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mapa de características (</a:t>
            </a:r>
            <a:r>
              <a:rPr lang="pt-BR" b="1" i="1" dirty="0"/>
              <a:t>feature </a:t>
            </a:r>
            <a:r>
              <a:rPr lang="pt-BR" b="1" i="1" dirty="0" err="1"/>
              <a:t>map</a:t>
            </a:r>
            <a:r>
              <a:rPr lang="pt-BR" b="1" dirty="0"/>
              <a:t>)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6B3077-6F27-3DCB-7312-CFCACD005544}"/>
              </a:ext>
            </a:extLst>
          </p:cNvPr>
          <p:cNvSpPr txBox="1"/>
          <p:nvPr/>
        </p:nvSpPr>
        <p:spPr>
          <a:xfrm>
            <a:off x="3845292" y="858380"/>
            <a:ext cx="233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Función de activación </a:t>
            </a:r>
            <a:r>
              <a:rPr lang="es-ES" b="1" dirty="0"/>
              <a:t>no lineal</a:t>
            </a:r>
            <a:r>
              <a:rPr lang="es-ES" dirty="0"/>
              <a:t>, </a:t>
            </a:r>
            <a:r>
              <a:rPr lang="es-ES" b="1" dirty="0" err="1"/>
              <a:t>ReLU</a:t>
            </a:r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D10D80-5DBC-F932-C7E2-9DB70C021453}"/>
              </a:ext>
            </a:extLst>
          </p:cNvPr>
          <p:cNvSpPr txBox="1"/>
          <p:nvPr/>
        </p:nvSpPr>
        <p:spPr>
          <a:xfrm>
            <a:off x="2964581" y="5398706"/>
            <a:ext cx="39728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Tensor se </a:t>
            </a:r>
            <a:r>
              <a:rPr lang="es-ES" b="1" dirty="0"/>
              <a:t>aplana (</a:t>
            </a:r>
            <a:r>
              <a:rPr lang="es-ES" b="1" i="1" dirty="0" err="1"/>
              <a:t>flatten</a:t>
            </a:r>
            <a:r>
              <a:rPr lang="es-ES" b="1" dirty="0"/>
              <a:t>)</a:t>
            </a:r>
            <a:r>
              <a:rPr lang="es-ES" dirty="0"/>
              <a:t>, se transforma de una estructura tridimensional en un </a:t>
            </a:r>
            <a:r>
              <a:rPr lang="es-ES" b="1" dirty="0"/>
              <a:t>vector unidimensional (1D)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0E8A35-C086-7016-172D-41DBE8E29CFB}"/>
              </a:ext>
            </a:extLst>
          </p:cNvPr>
          <p:cNvSpPr txBox="1"/>
          <p:nvPr/>
        </p:nvSpPr>
        <p:spPr>
          <a:xfrm>
            <a:off x="0" y="588514"/>
            <a:ext cx="8040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Componentes fundamentales de las </a:t>
            </a:r>
            <a:r>
              <a:rPr lang="es-ES" b="1" dirty="0"/>
              <a:t>redes neuronales convolucionales (CNN)</a:t>
            </a:r>
            <a:r>
              <a:rPr lang="es-ES" dirty="0"/>
              <a:t>: </a:t>
            </a:r>
          </a:p>
          <a:p>
            <a:pPr algn="just"/>
            <a:r>
              <a:rPr lang="es-ES" b="1" dirty="0"/>
              <a:t>Convolución: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E0BC811-7BFC-361C-914E-45E123AED05D}"/>
              </a:ext>
            </a:extLst>
          </p:cNvPr>
          <p:cNvGrpSpPr/>
          <p:nvPr/>
        </p:nvGrpSpPr>
        <p:grpSpPr>
          <a:xfrm>
            <a:off x="6133740" y="876143"/>
            <a:ext cx="5135235" cy="646331"/>
            <a:chOff x="7929174" y="3247433"/>
            <a:chExt cx="5135235" cy="646331"/>
          </a:xfrm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2750F23-1F5A-4089-25E6-C637D08A9F95}"/>
                </a:ext>
              </a:extLst>
            </p:cNvPr>
            <p:cNvSpPr txBox="1"/>
            <p:nvPr/>
          </p:nvSpPr>
          <p:spPr>
            <a:xfrm>
              <a:off x="8732842" y="3247433"/>
              <a:ext cx="43315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ES" dirty="0"/>
                <a:t>reduce las dimensiones espaciales conservando la información más importante</a:t>
              </a:r>
              <a:endParaRPr lang="en-US" dirty="0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42F3F6F-B69A-D692-235A-8DB81ACC0CD0}"/>
                </a:ext>
              </a:extLst>
            </p:cNvPr>
            <p:cNvSpPr txBox="1"/>
            <p:nvPr/>
          </p:nvSpPr>
          <p:spPr>
            <a:xfrm>
              <a:off x="7929174" y="3385933"/>
              <a:ext cx="10780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b="1" dirty="0" err="1"/>
                <a:t>Pooling</a:t>
              </a:r>
              <a:r>
                <a:rPr lang="es-ES" dirty="0"/>
                <a:t>.</a:t>
              </a:r>
              <a:endParaRPr lang="en-US" dirty="0"/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CD2A079-3B6E-2F6E-4CE7-A98CBEB6273C}"/>
              </a:ext>
            </a:extLst>
          </p:cNvPr>
          <p:cNvSpPr txBox="1"/>
          <p:nvPr/>
        </p:nvSpPr>
        <p:spPr>
          <a:xfrm>
            <a:off x="7029450" y="1872983"/>
            <a:ext cx="1756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Capa</a:t>
            </a:r>
            <a:r>
              <a:rPr lang="en-US" b="1" dirty="0"/>
              <a:t> de Salida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C1BB5F9-63E0-1127-BD4A-9D1944A28824}"/>
              </a:ext>
            </a:extLst>
          </p:cNvPr>
          <p:cNvSpPr txBox="1"/>
          <p:nvPr/>
        </p:nvSpPr>
        <p:spPr>
          <a:xfrm>
            <a:off x="7067962" y="2242315"/>
            <a:ext cx="4996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función de activación y de pérdida, dependen del tipo de problema.</a:t>
            </a:r>
            <a:endParaRPr lang="en-US" dirty="0"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79A6E4A-2F2E-54CA-6196-4B7633DEC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888646"/>
            <a:ext cx="515182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err="1">
                <a:solidFill>
                  <a:srgbClr val="00684D"/>
                </a:solidFill>
                <a:latin typeface="Eco Sans Bold"/>
              </a:rPr>
              <a:t>Clasificación</a:t>
            </a:r>
            <a:r>
              <a:rPr lang="en-US" altLang="en-US" b="1" dirty="0">
                <a:solidFill>
                  <a:srgbClr val="00684D"/>
                </a:solidFill>
                <a:latin typeface="Eco Sans Bold"/>
              </a:rPr>
              <a:t> </a:t>
            </a:r>
            <a:r>
              <a:rPr lang="en-US" altLang="en-US" b="1" dirty="0" err="1">
                <a:solidFill>
                  <a:srgbClr val="00684D"/>
                </a:solidFill>
                <a:latin typeface="Eco Sans Bold"/>
              </a:rPr>
              <a:t>binaria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s-CO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Puede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ser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sigmoid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como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función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activación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binary cross-entropy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como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función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pérdida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Eco Sans Bold"/>
              </a:rPr>
              <a:t>Clasificación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Eco Sans Bold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Eco Sans Bold"/>
              </a:rPr>
              <a:t>multiclase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podemos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utilizar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softmax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como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función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activación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categorical cross-entropy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como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función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pérdida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co Sans Bold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85728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6D4AAC7-17A6-C23F-3DF7-EEC733012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206" y="126124"/>
            <a:ext cx="6110272" cy="311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AAF3440-C772-4EB1-9586-450431812649}"/>
              </a:ext>
            </a:extLst>
          </p:cNvPr>
          <p:cNvSpPr txBox="1"/>
          <p:nvPr/>
        </p:nvSpPr>
        <p:spPr>
          <a:xfrm>
            <a:off x="1810407" y="1008257"/>
            <a:ext cx="1342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LeNet</a:t>
            </a:r>
            <a:endParaRPr lang="en-US" b="1" dirty="0"/>
          </a:p>
          <a:p>
            <a:pPr algn="ctr"/>
            <a:r>
              <a:rPr lang="en-US" b="1" dirty="0"/>
              <a:t>Yann LeCun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93D966-EA6D-09DA-98F9-D4C768BAC356}"/>
              </a:ext>
            </a:extLst>
          </p:cNvPr>
          <p:cNvSpPr txBox="1"/>
          <p:nvPr/>
        </p:nvSpPr>
        <p:spPr>
          <a:xfrm>
            <a:off x="0" y="2490908"/>
            <a:ext cx="79142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AlexNet</a:t>
            </a:r>
            <a:r>
              <a:rPr lang="es-ES" b="1" dirty="0"/>
              <a:t>,</a:t>
            </a:r>
            <a:r>
              <a:rPr lang="en-US" dirty="0"/>
              <a:t> → </a:t>
            </a:r>
            <a:r>
              <a:rPr lang="en-US" dirty="0" err="1"/>
              <a:t>Profundidad</a:t>
            </a:r>
            <a:endParaRPr lang="en-US" dirty="0"/>
          </a:p>
          <a:p>
            <a:r>
              <a:rPr lang="es-ES" b="1" dirty="0" err="1"/>
              <a:t>VGGNet</a:t>
            </a:r>
            <a:r>
              <a:rPr lang="es-ES" b="1" dirty="0"/>
              <a:t>, </a:t>
            </a:r>
            <a:r>
              <a:rPr lang="en-US" dirty="0"/>
              <a:t>→ </a:t>
            </a:r>
            <a:r>
              <a:rPr lang="en-US" dirty="0" err="1"/>
              <a:t>Filtros</a:t>
            </a:r>
            <a:r>
              <a:rPr lang="en-US" dirty="0"/>
              <a:t> </a:t>
            </a:r>
            <a:r>
              <a:rPr lang="en-US" dirty="0" err="1"/>
              <a:t>pequeños</a:t>
            </a:r>
            <a:endParaRPr lang="en-US" dirty="0"/>
          </a:p>
          <a:p>
            <a:r>
              <a:rPr lang="es-ES" dirty="0"/>
              <a:t>profundiza la red usando muchas convoluciones pequeñas.</a:t>
            </a:r>
            <a:endParaRPr lang="es-ES" b="1" dirty="0"/>
          </a:p>
          <a:p>
            <a:r>
              <a:rPr lang="es-ES" b="1" dirty="0" err="1"/>
              <a:t>GoogLeNet</a:t>
            </a:r>
            <a:r>
              <a:rPr lang="en-US" dirty="0"/>
              <a:t> /Inception → </a:t>
            </a:r>
            <a:r>
              <a:rPr lang="en-US" dirty="0" err="1"/>
              <a:t>Múltiples</a:t>
            </a:r>
            <a:r>
              <a:rPr lang="en-US" dirty="0"/>
              <a:t> </a:t>
            </a:r>
            <a:r>
              <a:rPr lang="en-US" dirty="0" err="1"/>
              <a:t>escalas</a:t>
            </a:r>
            <a:r>
              <a:rPr lang="en-US" dirty="0"/>
              <a:t> </a:t>
            </a:r>
          </a:p>
          <a:p>
            <a:r>
              <a:rPr lang="es-ES" dirty="0"/>
              <a:t>analiza la información con diferentes tamaños de filtros en paralelo.</a:t>
            </a:r>
            <a:endParaRPr lang="en-US" dirty="0"/>
          </a:p>
          <a:p>
            <a:r>
              <a:rPr lang="es-ES" b="1" dirty="0" err="1"/>
              <a:t>ResNet</a:t>
            </a:r>
            <a:r>
              <a:rPr lang="es-ES" b="1" dirty="0"/>
              <a:t> </a:t>
            </a:r>
            <a:r>
              <a:rPr lang="en-US" dirty="0"/>
              <a:t>→ </a:t>
            </a:r>
            <a:r>
              <a:rPr lang="en-US" dirty="0" err="1"/>
              <a:t>Conexiones</a:t>
            </a:r>
            <a:r>
              <a:rPr lang="en-US" dirty="0"/>
              <a:t> residuals</a:t>
            </a:r>
            <a:r>
              <a:rPr lang="en-US" b="1" dirty="0"/>
              <a:t> Residual Network </a:t>
            </a:r>
            <a:r>
              <a:rPr lang="en-US" dirty="0"/>
              <a:t>→ </a:t>
            </a:r>
            <a:r>
              <a:rPr lang="en-US" b="1" dirty="0" err="1">
                <a:solidFill>
                  <a:srgbClr val="004A48"/>
                </a:solidFill>
              </a:rPr>
              <a:t>ResNet</a:t>
            </a:r>
            <a:endParaRPr lang="es-ES" b="1" dirty="0">
              <a:solidFill>
                <a:srgbClr val="004A48"/>
              </a:solidFill>
            </a:endParaRPr>
          </a:p>
          <a:p>
            <a:r>
              <a:rPr lang="es-ES" dirty="0"/>
              <a:t>permite profundizar mucho la red mediante conexiones de salto.</a:t>
            </a:r>
          </a:p>
          <a:p>
            <a:endParaRPr lang="es-ES" dirty="0"/>
          </a:p>
          <a:p>
            <a:pPr algn="just"/>
            <a:r>
              <a:rPr lang="es-ES" dirty="0"/>
              <a:t>Incorporan diferentes innovaciones arquitectónicas para mejorar aspectos como la </a:t>
            </a:r>
            <a:r>
              <a:rPr lang="es-ES" b="1" dirty="0"/>
              <a:t>profundidad de la red, el rendimiento y la estabilidad durante el entrenamiento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7C26F31-E210-99FF-10E0-A71D0773D71A}"/>
              </a:ext>
            </a:extLst>
          </p:cNvPr>
          <p:cNvSpPr txBox="1"/>
          <p:nvPr/>
        </p:nvSpPr>
        <p:spPr>
          <a:xfrm>
            <a:off x="399394" y="5657671"/>
            <a:ext cx="76725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</a:t>
            </a:r>
            <a:r>
              <a:rPr lang="es-ES" dirty="0"/>
              <a:t>iseñar propia</a:t>
            </a:r>
            <a:r>
              <a:rPr lang="es-ES" b="1" dirty="0"/>
              <a:t> CNN</a:t>
            </a:r>
            <a:r>
              <a:rPr lang="es-ES" dirty="0"/>
              <a:t>, se parte de </a:t>
            </a:r>
            <a:r>
              <a:rPr lang="es-ES" b="1" dirty="0"/>
              <a:t>estructura fundamental</a:t>
            </a:r>
            <a:r>
              <a:rPr lang="es-ES" dirty="0"/>
              <a:t> realizando variaciones: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Profundidad (</a:t>
            </a:r>
            <a:r>
              <a:rPr lang="es-ES" b="1" i="1" dirty="0" err="1"/>
              <a:t>depth</a:t>
            </a:r>
            <a:r>
              <a:rPr lang="es-ES" b="1" dirty="0"/>
              <a:t>)</a:t>
            </a:r>
            <a:r>
              <a:rPr lang="es-ES" dirty="0"/>
              <a:t> → número de capas.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Ancho (</a:t>
            </a:r>
            <a:r>
              <a:rPr lang="es-ES" b="1" i="1" dirty="0" err="1"/>
              <a:t>width</a:t>
            </a:r>
            <a:r>
              <a:rPr lang="es-ES" b="1" dirty="0"/>
              <a:t>)</a:t>
            </a:r>
            <a:r>
              <a:rPr lang="es-ES" dirty="0"/>
              <a:t> → número de filtros o neuronas por capa.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Conectividad (</a:t>
            </a:r>
            <a:r>
              <a:rPr lang="es-ES" b="1" i="1" dirty="0" err="1"/>
              <a:t>connectivity</a:t>
            </a:r>
            <a:r>
              <a:rPr lang="es-ES" b="1" dirty="0"/>
              <a:t>)</a:t>
            </a:r>
            <a:r>
              <a:rPr lang="es-ES" dirty="0"/>
              <a:t> → cómo se conectan las diferentes capas.</a:t>
            </a:r>
          </a:p>
        </p:txBody>
      </p:sp>
    </p:spTree>
    <p:extLst>
      <p:ext uri="{BB962C8B-B14F-4D97-AF65-F5344CB8AC3E}">
        <p14:creationId xmlns:p14="http://schemas.microsoft.com/office/powerpoint/2010/main" val="2247866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BADC067-72C8-FD8F-7B25-219C8DBFCF39}"/>
              </a:ext>
            </a:extLst>
          </p:cNvPr>
          <p:cNvSpPr txBox="1"/>
          <p:nvPr/>
        </p:nvSpPr>
        <p:spPr>
          <a:xfrm>
            <a:off x="0" y="0"/>
            <a:ext cx="1135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 err="1"/>
              <a:t>ResNet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E511BC-9D85-BFF2-46EC-ABEDEC67C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54" y="369332"/>
            <a:ext cx="2819545" cy="349267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FCC18CB-451D-C62F-580A-20B122DBD015}"/>
              </a:ext>
            </a:extLst>
          </p:cNvPr>
          <p:cNvSpPr txBox="1"/>
          <p:nvPr/>
        </p:nvSpPr>
        <p:spPr>
          <a:xfrm>
            <a:off x="4290848" y="0"/>
            <a:ext cx="1552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Roboto Slab" panose="020F0502020204030204" pitchFamily="2" charset="0"/>
              </a:rPr>
              <a:t>Inception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AE86E36-F863-0C5C-AA54-DE11C6B2F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953" y="469283"/>
            <a:ext cx="5524784" cy="272429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A818397-F65D-1103-EA3C-B58F18F06E83}"/>
              </a:ext>
            </a:extLst>
          </p:cNvPr>
          <p:cNvSpPr txBox="1"/>
          <p:nvPr/>
        </p:nvSpPr>
        <p:spPr>
          <a:xfrm>
            <a:off x="4878114" y="3429000"/>
            <a:ext cx="5168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misma información de entrada se analiza simultáneamente con diferentes tamaños de filtros.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030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03C2BDE-B89E-6732-E4F2-666B82472D3F}"/>
              </a:ext>
            </a:extLst>
          </p:cNvPr>
          <p:cNvSpPr txBox="1"/>
          <p:nvPr/>
        </p:nvSpPr>
        <p:spPr>
          <a:xfrm>
            <a:off x="493986" y="4159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Frank Rosenblatt (1928–1971)</a:t>
            </a:r>
            <a:r>
              <a:rPr lang="es-ES" dirty="0"/>
              <a:t>, investigador estadounidense , los primeros desarrollos de las </a:t>
            </a:r>
            <a:r>
              <a:rPr lang="es-ES" b="1" dirty="0"/>
              <a:t>redes neuronales artificiales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FC6164-2ECB-2DB8-121A-A4D79DEAC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441" y="0"/>
            <a:ext cx="495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743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65530CE-7664-6656-1F89-552F1FDE4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959" y="379417"/>
            <a:ext cx="4743796" cy="59796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22D9667-9430-E50E-B3C3-540CE3A1F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8" y="379417"/>
            <a:ext cx="4743796" cy="609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18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7E8B01-B4DF-1713-EDAC-1D180CCC3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981" y="661216"/>
            <a:ext cx="4981660" cy="504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167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468CC86-B721-1F43-C304-C5C1960F9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9488"/>
            <a:ext cx="12192000" cy="41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30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844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386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5478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8952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1545</Words>
  <Application>Microsoft Office PowerPoint</Application>
  <PresentationFormat>Panorámica</PresentationFormat>
  <Paragraphs>109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6" baseType="lpstr">
      <vt:lpstr>Arial</vt:lpstr>
      <vt:lpstr>Calibri</vt:lpstr>
      <vt:lpstr>Calibri Light</vt:lpstr>
      <vt:lpstr>Eco Sans Bold</vt:lpstr>
      <vt:lpstr>Google Sans</vt:lpstr>
      <vt:lpstr>Jost</vt:lpstr>
      <vt:lpstr>Questrial</vt:lpstr>
      <vt:lpstr>Roboto Slab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andres Niño niño</dc:creator>
  <cp:lastModifiedBy>Carlos andres Niño niño</cp:lastModifiedBy>
  <cp:revision>23</cp:revision>
  <dcterms:created xsi:type="dcterms:W3CDTF">2026-10-04T21:37:32Z</dcterms:created>
  <dcterms:modified xsi:type="dcterms:W3CDTF">2026-10-21T19:53:22Z</dcterms:modified>
</cp:coreProperties>
</file>